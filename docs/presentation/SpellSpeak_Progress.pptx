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Halo semua. Kami presentasi progress SpellSpeak: aplikasi latihan pelafalan bahasa Inggris yang jalan real-time dan sepenuhnya lokal di laptop, dikemas jadi game penyihir. Ini update progress, jadi kami tunjukkan apa yang sudah jadi, apa yang lagi dikerjakan, dan rencana evaluasinya.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presentasi kami bikin kayak game-nya sendiri. Stage 1 soal masalah dan solusi. Stage 2 soal model dan pipeline. Stage 3 soal cara evaluasi dan progress. Terakhir 'boss': diskusi, keterbatasan, dan rencana ke depan.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 Stage 1: masalah dan solusinya.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 utamanya: banyak bunyi bahasa Inggris yang nggak ada di Bahasa Indonesia. Contohnya th di 'think' jadi 't', 'very' jadi kayak 'ferry', 'bad' kedengaran kayak 'bed', dan konsonan akhir kayak di 'asked' sering hilang. Speech-to-text biasa nggak bantu, karena dia nebak katanya, bukan nilai bunyinya. Jadi kesalahan kecil ini lolos terus.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user kami adalah mahasiswa Indonesia yang belajar speaking dan latihan sendiri tanpa tutor. Masalahnya, mereka nggak tahu bunyi mana yang salah. SpellSpeak nunjukin per fonem dan kasih tips. Dipakai offline di laptop, sesinya singkat. User testing minimal 5 orang sudah direncanakan tapi belum dilakukan.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Solusinya SpellSpeak. Satu ronde: game kasih kata, misalnya 'think'. Pemain tekan Cast dan ngomong. Transkrip muncul live. Begitu selesai ngomong, sistem bandingin bunyi yang kedengaran dengan bunyi target. Kalau pas, monster kena serang. Kalau 'th'-nya jadi 't', rune-nya oranye dan muncul tips. Gamifikasi bikin latihan berulang lebih fun. Ini masih mockup, bukan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arah game-nya dari moodboard tim. Ceritanya kucing penyihir mau nyelamatin dua temannya dengan ngumpulin soul mereka. Ada 3 stage hutan: siang buat tutorial, sunset dengan boss pertama, dan malam dengan boss kedua. Pemain punya 3 heart. Kata yang diucapkan tetap kata target pelafalan, misalnya 'think' atau 'very'. Nama efek spell kayak Fireball cuma visual. Ini masih konsep, art-nya lagi dikerjakan.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bandingin beberapa pendekatan. Speech-to-text biasa dan keyword spotting cuma tahu kata apa yang diucapkan, bukan bunyi mana yang salah. Phoneme recognition dengan CTC ngasih urutan fonem, jadi bisa dibandingkan per bunyi. Itu yang kami pilih. GOP lebih detail tapi lebih kompleks, jadi stretch goal. Untuk transkrip live kami pilih Zipformer dari sherpa-onnx karena streaming dan jalan di CPU. Vosk jadi pembanding.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model dan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arsitekturnya. Audio diambil di Python pakai sounddevice dan di-stream terus. Jalur A, Zipformer, ngasih transkrip parsial ke layar. Fungsinya cuma buat tampilan. Silero VAD yang nentuin kapan user selesai ngomong. Setelah itu audio satu ucapan masuk ke Jalur B, wav2vec2, yang ngeluarin fonem tanpa tahu kata targetnya. Kata target dari game diubah jadi fonem pakai phonemizer dan espeak-ng. per.py menyejajarkan dua urutan itu dan hitung PER. Godot cuma nampilin hasil lewat WebSocket. Semuanya lokal di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utama penilai bunyi adalah wav2vec2 versi fonem. Audio masuk ke CNN yang mengubahnya jadi vektor tiap sekitar 20 milidetik. Transformer 24 layer melihat konteks seluruh ucapan. Di tiap frame ada peluang untuk tiap fonem plus simbol blank. CTC greedy decoding menggabungkan yang berulang dan membuang blank, jadi hasilnya urutan fonem. Model ini nggak pakai language model dan nggak dikasih tahu targetnya, jadi hasilnya jujur. Untuk transkrip live pakai Zipformer, dan untuk endpoint pakai Silero VAD.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 hitung skornya: fonem target dari kata 'think' adalah theta, i, ng, k. Kalau yang terdengar t, i, ng, k, ada satu substitusi dari empat fonem, jadi PER-nya 0,25. Ini cuma ilustrasi rumus. Di game, tiap fonem jadi rune berwarna, dan PER nentuin damage. Batas damage-nya akan kami kalibrasi dari rekaman sendiri, jadi sekarang belum ada angkanya.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Pertanyaan yang sering muncul: training dari nol atau nggak? Jawabannya dua-duanya, tapi perannya beda. Model utama pakai pretrained wav2vec2 secara zero-shot, karena belum ada korpus aksen Indonesia yang punya label fonem. Untuk bagian scratch, kami latih CNN kecil dari nol di Kaggle pakai Speech Commands sebagai baseline. Fine-tune wav2vec2 itu stretch goal, dan cuma dipakai kalau terbukti lebih baik di speaker yang nggak ikut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utama kami adalah rekaman sendiri dari penutur Indonesia, karena belum ada korpus publik English aksen Indonesia yang punya label fonem. Dataset publik dipakai buat validasi: L2-ARCTIC untuk cek PER terhadap label manusia, EdAcc untuk WER aksen Indonesia, Speech Commands untuk baseline scratch, MUSAN dan DEMAND untuk noise. Sampai 11 Oktober kami punya 65 clip dari 1 speaker. Targetnya minimal 5 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Flowchart satu ronde. Baris atas yang terjadi di game, baris bawah di model. Game pilih kata, model siapin fonem targetnya. Pemain tekan Cast, mic stream masuk, dan transkrip parsial dikirim ke layar. VAD ngecek terus apakah pemain sudah selesai. Kalau belum, lanjut dengar. Kalau sudah atau timeout, audio masuk ke wav2vec2, lalu per.py hitung PER dan hasilnya dikirim ke game. Hasilnya nentuin damage, heart, dan progres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evaluasi dan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Evaluasinya ada empat metric. PER untuk akurasi bunyi. WER untuk akurasi transkrip, wajib dari form. Latency, dari partial pertama dan dari endpoint sampai skor. RTF, untuk lihat kuat jalan di CPU atau nggak. Eksperimennya: baseline suara bersih, lalu noise di 20, 10, dan 5 dB, beda speaker dan aksen, int8 quantization, dan Zipformer vs Vosk. Ditambah user testing minimal 5 orang pakai SUS dan interview, plus analisis fonem yang paling sering tertukar.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Implementasinya: semua inferensi jalan di laptop, CPU saja. Backend Python pegang mic, ASR, VAD, wav2vec2, dan scoring. Godot cuma UI dan komunikasi lewat WebSocket lokal. Training dan eksperimen ada di notebook Kaggle pakai GPU T4. Protokolnya JSON sederhana: start, ready, partial, endpoint, score. Server sekarang masih mode mock dan semua pesannya ditandai mock true, jadi nggak pernah dianggap hasil.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per fase. Fondasinya udah ada: per.py dengan selftest yang lolos, mock backend, UI Godot dasar, notebook-notebook eksperimen, dan script rekam, plus 65 clip dari satu speaker. Yang lagi jalan: benchmark kecepatan di laptop paling lemah, nambah speaker, dan run notebook di Kaggle. Setelah itu kami sambungkan model asli ke server, VAD, game loop, lalu user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results memang belum ada angkanya, dan itu disengaja. Aturan kami: tiap angka harus keluar dari script yang bisa dijalankan ulang dan tersimpan di folder results. Folder itu masih kosong, jadi kami nggak klaim apa pun. Ini slot-slot yang akan diisi beserta sumbernya. Yang bisa didemo sekarang cuma alur UI dalam mode mock dan selftest per.py.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 ke boss: keterbatasan. Dari sisi teknis, laptop kami nggak punya GPU, jadi wav2vec2 Large bisa lambat. Benchmark RTF yang nentuin model akhirnya. Zipformer dilatih dari speaker native, jadi kami duga akurasinya turun buat aksen Indonesia, tapi ini masih harus diukur. Dari sisi data, korpus aksen Indonesia berlabel fonem belum ada dan rekaman kami masih satu speaker. Target fonem dari espeak juga cuma satu standar aksen. PER menghitung semua kesalahan sama rata, dan threshold-nya belum dikalibrasi.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sementara: arsitekturnya udah final, dua jalur ditambah VAD, semuanya lokal dan memenuhi definisi real-time. Skornya fokus ke bunyi, jadi kesalahan kayak th jadi t bisa kelihatan. Fondasi kodenya udah siap, dan angka hasil akan keluar dari script. Langkah berikutnya: benchmark dan notebook minggu ini, tambah speaker, bangun game sesuai moodboard, lalu eksperimen dan user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Referensi utama kami: paper wav2vec 2.0 dan zero-shot phoneme recognition untuk model Jalur B, CTC, Zipformer, GOP untuk stretch goal, plus paper-paper dataset. Kode dan dokumentasinya ada di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Sekian dari kami. Terima kasih, dan kami terbuka buat masukan soal game, data, atau evaluasinya.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3.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0.png"/><Relationship Id="rId12" Type="http://schemas.openxmlformats.org/officeDocument/2006/relationships/image" Target="../media/image-7-10.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ddrlve/SpellSpeak" TargetMode="External"/><Relationship Id="rId1" Type="http://schemas.openxmlformats.org/officeDocument/2006/relationships/image" Target="../media/Slide-23-image-1.png"/><Relationship Id="rId2" Type="http://schemas.openxmlformats.org/officeDocument/2006/relationships/image" Target="../media/image-23-2.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7" Type="http://schemas.openxmlformats.org/officeDocument/2006/relationships/hyperlink" Target="https://github.com/ddrlve/SpellSpeak" TargetMode="External"/><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dianr\AppData\Local\Temp\claude\c--SEM-5-SpellSpeak\eda6ec89-068e-4069-9b28-72e31b9a7f93\scratchpad\deck\art\px_spellspeak.png">    </p:cNvPr>
          <p:cNvPicPr>
            <a:picLocks noChangeAspect="1"/>
          </p:cNvPicPr>
          <p:nvPr/>
        </p:nvPicPr>
        <p:blipFill>
          <a:blip r:embed="rId2"/>
          <a:stretch>
            <a:fillRect/>
          </a:stretch>
        </p:blipFill>
        <p:spPr>
          <a:xfrm>
            <a:off x="640080" y="1417320"/>
            <a:ext cx="5715000" cy="1143000"/>
          </a:xfrm>
          <a:prstGeom prst="rect">
            <a:avLst/>
          </a:prstGeom>
        </p:spPr>
      </p:pic>
      <p:sp>
        <p:nvSpPr>
          <p:cNvPr id="3" name="Text 0"/>
          <p:cNvSpPr/>
          <p:nvPr/>
        </p:nvSpPr>
        <p:spPr>
          <a:xfrm>
            <a:off x="685800" y="2743200"/>
            <a:ext cx="6400800" cy="868680"/>
          </a:xfrm>
          <a:prstGeom prst="rect">
            <a:avLst/>
          </a:prstGeom>
          <a:noFill/>
          <a:ln/>
        </p:spPr>
        <p:txBody>
          <a:bodyPr wrap="square" lIns="0" tIns="0" rIns="0" bIns="0" rtlCol="0" anchor="t"/>
          <a:lstStyle/>
          <a:p>
            <a:pPr indent="0" marL="0">
              <a:buNone/>
            </a:pPr>
            <a:r>
              <a:rPr lang="en-US" sz="1900" i="1" dirty="0">
                <a:solidFill>
                  <a:srgbClr val="F1ECFF"/>
                </a:solidFill>
                <a:latin typeface="Georgia" pitchFamily="34" charset="0"/>
                <a:ea typeface="Georgia" pitchFamily="34" charset="-122"/>
                <a:cs typeface="Georgia" pitchFamily="34" charset="-120"/>
              </a:rPr>
              <a:t>Pelatih pelafalan bahasa Inggris yang real-time dan 100% lokal, dimainkan sebagai game penyihir.</a:t>
            </a:r>
            <a:endParaRPr lang="en-US" sz="1900" dirty="0"/>
          </a:p>
        </p:txBody>
      </p:sp>
      <p:sp>
        <p:nvSpPr>
          <p:cNvPr id="4" name="Text 1"/>
          <p:cNvSpPr/>
          <p:nvPr/>
        </p:nvSpPr>
        <p:spPr>
          <a:xfrm>
            <a:off x="685800" y="4069080"/>
            <a:ext cx="6949440" cy="1005840"/>
          </a:xfrm>
          <a:prstGeom prst="rect">
            <a:avLst/>
          </a:prstGeom>
          <a:noFill/>
          <a:ln/>
        </p:spPr>
        <p:txBody>
          <a:bodyPr wrap="square" lIns="0" tIns="0" rIns="0" bIns="0" rtlCol="0" anchor="t"/>
          <a:lstStyle/>
          <a:p>
            <a:pPr indent="0" marL="0">
              <a:spcAft>
                <a:spcPts val="400"/>
              </a:spcAft>
              <a:buNone/>
            </a:pPr>
            <a:r>
              <a:rPr lang="en-US" sz="1400" b="1" dirty="0">
                <a:solidFill>
                  <a:srgbClr val="FFD34D"/>
                </a:solidFill>
                <a:latin typeface="Calibri" pitchFamily="34" charset="0"/>
                <a:ea typeface="Calibri" pitchFamily="34" charset="-122"/>
                <a:cs typeface="Calibri" pitchFamily="34" charset="-120"/>
              </a:rPr>
              <a:t>Progress Update</a:t>
            </a:r>
            <a:endParaRPr lang="en-US" sz="1400" dirty="0"/>
          </a:p>
          <a:p>
            <a:pPr indent="0" marL="0">
              <a:spcAft>
                <a:spcPts val="400"/>
              </a:spcAft>
              <a:buNone/>
            </a:pPr>
            <a:r>
              <a:rPr lang="en-US" sz="1400" dirty="0">
                <a:solidFill>
                  <a:srgbClr val="CFC8F5"/>
                </a:solidFill>
                <a:latin typeface="Calibri" pitchFamily="34" charset="0"/>
                <a:ea typeface="Calibri" pitchFamily="34" charset="-122"/>
                <a:cs typeface="Calibri" pitchFamily="34" charset="-120"/>
              </a:rPr>
              <a:t>COMP6822001 Speech Recognition · BINUS University · 14 Oktober 2026</a:t>
            </a:r>
            <a:endParaRPr lang="en-US" sz="1400" dirty="0"/>
          </a:p>
          <a:p>
            <a:pPr indent="0" marL="0">
              <a:spcAft>
                <a:spcPts val="400"/>
              </a:spcAft>
              <a:buNone/>
            </a:pPr>
            <a:r>
              <a:rPr lang="en-US" sz="1400" dirty="0">
                <a:solidFill>
                  <a:srgbClr val="CFC8F5"/>
                </a:solidFill>
                <a:latin typeface="Calibri" pitchFamily="34" charset="0"/>
                <a:ea typeface="Calibri" pitchFamily="34" charset="-122"/>
                <a:cs typeface="Calibri" pitchFamily="34" charset="-120"/>
              </a:rPr>
              <a:t>Tim: [isi nama anggota]</a:t>
            </a:r>
            <a:endParaRPr lang="en-US" sz="1400" dirty="0"/>
          </a:p>
        </p:txBody>
      </p:sp>
      <p:pic>
        <p:nvPicPr>
          <p:cNvPr id="5" name="Image 1" descr="C:\Users\dianr\AppData\Local\Temp\claude\c--SEM-5-SpellSpeak\eda6ec89-068e-4069-9b28-72e31b9a7f93\scratchpad\deck\art\cat_cast.png">    </p:cNvPr>
          <p:cNvPicPr>
            <a:picLocks noChangeAspect="1"/>
          </p:cNvPicPr>
          <p:nvPr/>
        </p:nvPicPr>
        <p:blipFill>
          <a:blip r:embed="rId3"/>
          <a:stretch>
            <a:fillRect/>
          </a:stretch>
        </p:blipFill>
        <p:spPr>
          <a:xfrm>
            <a:off x="7406640" y="2331720"/>
            <a:ext cx="3749040" cy="3749040"/>
          </a:xfrm>
          <a:prstGeom prst="rect">
            <a:avLst/>
          </a:prstGeom>
        </p:spPr>
      </p:pic>
      <p:pic>
        <p:nvPicPr>
          <p:cNvPr id="6" name="Image 2" descr="C:\Users\dianr\AppData\Local\Temp\claude\c--SEM-5-SpellSpeak\eda6ec89-068e-4069-9b28-72e31b9a7f93\scratchpad\deck\art\ghoul0.png">    </p:cNvPr>
          <p:cNvPicPr>
            <a:picLocks noChangeAspect="1"/>
          </p:cNvPicPr>
          <p:nvPr/>
        </p:nvPicPr>
        <p:blipFill>
          <a:blip r:embed="rId4"/>
          <a:stretch>
            <a:fillRect/>
          </a:stretch>
        </p:blipFill>
        <p:spPr>
          <a:xfrm>
            <a:off x="10561320" y="4160520"/>
            <a:ext cx="1104900" cy="1325880"/>
          </a:xfrm>
          <a:prstGeom prst="rect">
            <a:avLst/>
          </a:prstGeom>
        </p:spPr>
      </p:pic>
      <p:pic>
        <p:nvPicPr>
          <p:cNvPr id="7" name="Image 3" descr="C:\Users\dianr\AppData\Local\Temp\claude\c--SEM-5-SpellSpeak\eda6ec89-068e-4069-9b28-72e31b9a7f93\scratchpad\deck\art\ghoul2.png">    </p:cNvPr>
          <p:cNvPicPr>
            <a:picLocks noChangeAspect="1"/>
          </p:cNvPicPr>
          <p:nvPr/>
        </p:nvPicPr>
        <p:blipFill>
          <a:blip r:embed="rId5"/>
          <a:stretch>
            <a:fillRect/>
          </a:stretch>
        </p:blipFill>
        <p:spPr>
          <a:xfrm>
            <a:off x="9784080" y="4800600"/>
            <a:ext cx="800100" cy="96012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655064" cy="292608"/>
          </a:xfrm>
          <a:prstGeom prst="roundRect">
            <a:avLst>
              <a:gd name="adj" fmla="val 50000"/>
            </a:avLst>
          </a:prstGeom>
          <a:solidFill>
            <a:srgbClr val="4C3FB8"/>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PETA PETUALANGAN</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1E1A3C"/>
                </a:solidFill>
                <a:latin typeface="Georgia" pitchFamily="34" charset="0"/>
                <a:ea typeface="Georgia" pitchFamily="34" charset="-122"/>
                <a:cs typeface="Georgia" pitchFamily="34" charset="-120"/>
              </a:rPr>
              <a:t>Hari ini kita lewat 3 stage + 1 boss</a:t>
            </a:r>
            <a:endParaRPr lang="en-US" sz="30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1737360" y="3063240"/>
            <a:ext cx="8778240" cy="0"/>
          </a:xfrm>
          <a:prstGeom prst="line">
            <a:avLst/>
          </a:prstGeom>
          <a:noFill/>
          <a:ln w="50800">
            <a:solidFill>
              <a:srgbClr val="DCD3FF"/>
            </a:solidFill>
            <a:prstDash val="dash"/>
          </a:ln>
        </p:spPr>
      </p:sp>
      <p:sp>
        <p:nvSpPr>
          <p:cNvPr id="7" name="Shape 5"/>
          <p:cNvSpPr/>
          <p:nvPr/>
        </p:nvSpPr>
        <p:spPr>
          <a:xfrm>
            <a:off x="777240" y="2103120"/>
            <a:ext cx="1920240" cy="1920240"/>
          </a:xfrm>
          <a:prstGeom prst="ellipse">
            <a:avLst/>
          </a:prstGeom>
          <a:solidFill>
            <a:srgbClr val="FFFFFF"/>
          </a:solidFill>
          <a:ln w="50800">
            <a:solidFill>
              <a:srgbClr val="2E9E62"/>
            </a:solidFill>
            <a:prstDash val="solid"/>
          </a:ln>
          <a:effectLst>
            <a:outerShdw sx="100000" sy="100000" kx="0" ky="0" algn="bl" rotWithShape="0" blurRad="127000" dist="38100" dir="5400000">
              <a:srgbClr val="2A2050">
                <a:alpha val="18000"/>
              </a:srgbClr>
            </a:outerShdw>
          </a:effectLst>
        </p:spPr>
      </p:sp>
      <p:pic>
        <p:nvPicPr>
          <p:cNvPr id="8" name="Image 0" descr="C:\Users\dianr\AppData\Local\Temp\claude\c--SEM-5-SpellSpeak\eda6ec89-068e-4069-9b28-72e31b9a7f93\scratchpad\deck\art\bg_day.png">    </p:cNvPr>
          <p:cNvPicPr>
            <a:picLocks noChangeAspect="1"/>
          </p:cNvPicPr>
          <p:nvPr/>
        </p:nvPicPr>
        <p:blipFill>
          <a:blip r:embed="rId2"/>
          <a:srcRect l="0" r="0" t="0" b="0"/>
          <a:stretch/>
        </p:blipFill>
        <p:spPr>
          <a:xfrm>
            <a:off x="868680" y="2194560"/>
            <a:ext cx="1737360" cy="1737360"/>
          </a:xfrm>
          <a:prstGeom prst="ellipse">
            <a:avLst/>
          </a:prstGeom>
        </p:spPr>
      </p:pic>
      <p:sp>
        <p:nvSpPr>
          <p:cNvPr id="9" name="Text 6"/>
          <p:cNvSpPr/>
          <p:nvPr/>
        </p:nvSpPr>
        <p:spPr>
          <a:xfrm>
            <a:off x="457200" y="4206240"/>
            <a:ext cx="2560320" cy="411480"/>
          </a:xfrm>
          <a:prstGeom prst="rect">
            <a:avLst/>
          </a:prstGeom>
          <a:noFill/>
          <a:ln/>
        </p:spPr>
        <p:txBody>
          <a:bodyPr wrap="square" lIns="0" tIns="0" rIns="0" bIns="0" rtlCol="0" anchor="ctr"/>
          <a:lstStyle/>
          <a:p>
            <a:pPr algn="ctr" indent="0" marL="0">
              <a:buNone/>
            </a:pPr>
            <a:r>
              <a:rPr lang="en-US" sz="2000" b="1" dirty="0">
                <a:solidFill>
                  <a:srgbClr val="2E9E62"/>
                </a:solidFill>
                <a:latin typeface="Georgia" pitchFamily="34" charset="0"/>
                <a:ea typeface="Georgia" pitchFamily="34" charset="-122"/>
                <a:cs typeface="Georgia" pitchFamily="34" charset="-120"/>
              </a:rPr>
              <a:t>Stage I</a:t>
            </a:r>
            <a:endParaRPr lang="en-US" sz="2000" dirty="0"/>
          </a:p>
        </p:txBody>
      </p:sp>
      <p:sp>
        <p:nvSpPr>
          <p:cNvPr id="10" name="Text 7"/>
          <p:cNvSpPr/>
          <p:nvPr/>
        </p:nvSpPr>
        <p:spPr>
          <a:xfrm>
            <a:off x="457200" y="4617720"/>
            <a:ext cx="2560320" cy="640080"/>
          </a:xfrm>
          <a:prstGeom prst="rect">
            <a:avLst/>
          </a:prstGeom>
          <a:noFill/>
          <a:ln/>
        </p:spPr>
        <p:txBody>
          <a:bodyPr wrap="square" lIns="0" tIns="0" rIns="0" bIns="0" rtlCol="0" anchor="ctr"/>
          <a:lstStyle/>
          <a:p>
            <a:pPr algn="ctr" indent="0" marL="0">
              <a:buNone/>
            </a:pPr>
            <a:r>
              <a:rPr lang="en-US" sz="1300" dirty="0">
                <a:solidFill>
                  <a:srgbClr val="5E5A7E"/>
                </a:solidFill>
                <a:latin typeface="Calibri" pitchFamily="34" charset="0"/>
                <a:ea typeface="Calibri" pitchFamily="34" charset="-122"/>
                <a:cs typeface="Calibri" pitchFamily="34" charset="-120"/>
              </a:rPr>
              <a:t>Problem, target user,</a:t>
            </a:r>
            <a:endParaRPr lang="en-US" sz="1300" dirty="0"/>
          </a:p>
          <a:p>
            <a:pPr algn="ctr" indent="0" marL="0">
              <a:buNone/>
            </a:pPr>
            <a:r>
              <a:rPr lang="en-US" sz="1300" dirty="0">
                <a:solidFill>
                  <a:srgbClr val="5E5A7E"/>
                </a:solidFill>
                <a:latin typeface="Calibri" pitchFamily="34" charset="0"/>
                <a:ea typeface="Calibri" pitchFamily="34" charset="-122"/>
                <a:cs typeface="Calibri" pitchFamily="34" charset="-120"/>
              </a:rPr>
              <a:t>solusi &amp; riset</a:t>
            </a:r>
            <a:endParaRPr lang="en-US" sz="1300" dirty="0"/>
          </a:p>
        </p:txBody>
      </p:sp>
      <p:sp>
        <p:nvSpPr>
          <p:cNvPr id="11" name="Shape 8"/>
          <p:cNvSpPr/>
          <p:nvPr/>
        </p:nvSpPr>
        <p:spPr>
          <a:xfrm>
            <a:off x="3703320" y="2103120"/>
            <a:ext cx="1920240" cy="1920240"/>
          </a:xfrm>
          <a:prstGeom prst="ellipse">
            <a:avLst/>
          </a:prstGeom>
          <a:solidFill>
            <a:srgbClr val="FFFFFF"/>
          </a:solidFill>
          <a:ln w="50800">
            <a:solidFill>
              <a:srgbClr val="E07A2E"/>
            </a:solidFill>
            <a:prstDash val="solid"/>
          </a:ln>
          <a:effectLst>
            <a:outerShdw sx="100000" sy="100000" kx="0" ky="0" algn="bl" rotWithShape="0" blurRad="127000" dist="38100" dir="5400000">
              <a:srgbClr val="2A2050">
                <a:alpha val="18000"/>
              </a:srgbClr>
            </a:outerShdw>
          </a:effectLst>
        </p:spPr>
      </p:sp>
      <p:pic>
        <p:nvPicPr>
          <p:cNvPr id="12" name="Image 1" descr="C:\Users\dianr\AppData\Local\Temp\claude\c--SEM-5-SpellSpeak\eda6ec89-068e-4069-9b28-72e31b9a7f93\scratchpad\deck\art\bg_sunset.png">    </p:cNvPr>
          <p:cNvPicPr>
            <a:picLocks noChangeAspect="1"/>
          </p:cNvPicPr>
          <p:nvPr/>
        </p:nvPicPr>
        <p:blipFill>
          <a:blip r:embed="rId3"/>
          <a:srcRect l="0" r="0" t="0" b="0"/>
          <a:stretch/>
        </p:blipFill>
        <p:spPr>
          <a:xfrm>
            <a:off x="3794760" y="2194560"/>
            <a:ext cx="1737360" cy="1737360"/>
          </a:xfrm>
          <a:prstGeom prst="ellipse">
            <a:avLst/>
          </a:prstGeom>
        </p:spPr>
      </p:pic>
      <p:sp>
        <p:nvSpPr>
          <p:cNvPr id="13" name="Text 9"/>
          <p:cNvSpPr/>
          <p:nvPr/>
        </p:nvSpPr>
        <p:spPr>
          <a:xfrm>
            <a:off x="3383280" y="4206240"/>
            <a:ext cx="2560320" cy="411480"/>
          </a:xfrm>
          <a:prstGeom prst="rect">
            <a:avLst/>
          </a:prstGeom>
          <a:noFill/>
          <a:ln/>
        </p:spPr>
        <p:txBody>
          <a:bodyPr wrap="square" lIns="0" tIns="0" rIns="0" bIns="0" rtlCol="0" anchor="ctr"/>
          <a:lstStyle/>
          <a:p>
            <a:pPr algn="ctr" indent="0" marL="0">
              <a:buNone/>
            </a:pPr>
            <a:r>
              <a:rPr lang="en-US" sz="2000" b="1" dirty="0">
                <a:solidFill>
                  <a:srgbClr val="E07A2E"/>
                </a:solidFill>
                <a:latin typeface="Georgia" pitchFamily="34" charset="0"/>
                <a:ea typeface="Georgia" pitchFamily="34" charset="-122"/>
                <a:cs typeface="Georgia" pitchFamily="34" charset="-120"/>
              </a:rPr>
              <a:t>Stage II</a:t>
            </a:r>
            <a:endParaRPr lang="en-US" sz="2000" dirty="0"/>
          </a:p>
        </p:txBody>
      </p:sp>
      <p:sp>
        <p:nvSpPr>
          <p:cNvPr id="14" name="Text 10"/>
          <p:cNvSpPr/>
          <p:nvPr/>
        </p:nvSpPr>
        <p:spPr>
          <a:xfrm>
            <a:off x="3383280" y="4617720"/>
            <a:ext cx="2560320" cy="640080"/>
          </a:xfrm>
          <a:prstGeom prst="rect">
            <a:avLst/>
          </a:prstGeom>
          <a:noFill/>
          <a:ln/>
        </p:spPr>
        <p:txBody>
          <a:bodyPr wrap="square" lIns="0" tIns="0" rIns="0" bIns="0" rtlCol="0" anchor="ctr"/>
          <a:lstStyle/>
          <a:p>
            <a:pPr algn="ctr" indent="0" marL="0">
              <a:buNone/>
            </a:pPr>
            <a:r>
              <a:rPr lang="en-US" sz="1300" dirty="0">
                <a:solidFill>
                  <a:srgbClr val="5E5A7E"/>
                </a:solidFill>
                <a:latin typeface="Calibri" pitchFamily="34" charset="0"/>
                <a:ea typeface="Calibri" pitchFamily="34" charset="-122"/>
                <a:cs typeface="Calibri" pitchFamily="34" charset="-120"/>
              </a:rPr>
              <a:t>Model, dataset,</a:t>
            </a:r>
            <a:endParaRPr lang="en-US" sz="1300" dirty="0"/>
          </a:p>
          <a:p>
            <a:pPr algn="ctr" indent="0" marL="0">
              <a:buNone/>
            </a:pPr>
            <a:r>
              <a:rPr lang="en-US" sz="1300" dirty="0">
                <a:solidFill>
                  <a:srgbClr val="5E5A7E"/>
                </a:solidFill>
                <a:latin typeface="Calibri" pitchFamily="34" charset="0"/>
                <a:ea typeface="Calibri" pitchFamily="34" charset="-122"/>
                <a:cs typeface="Calibri" pitchFamily="34" charset="-120"/>
              </a:rPr>
              <a:t>pipeline &amp; flowchart</a:t>
            </a:r>
            <a:endParaRPr lang="en-US" sz="1300" dirty="0"/>
          </a:p>
        </p:txBody>
      </p:sp>
      <p:sp>
        <p:nvSpPr>
          <p:cNvPr id="15" name="Shape 11"/>
          <p:cNvSpPr/>
          <p:nvPr/>
        </p:nvSpPr>
        <p:spPr>
          <a:xfrm>
            <a:off x="6629400" y="2103120"/>
            <a:ext cx="1920240" cy="1920240"/>
          </a:xfrm>
          <a:prstGeom prst="ellipse">
            <a:avLst/>
          </a:prstGeom>
          <a:solidFill>
            <a:srgbClr val="FFFFFF"/>
          </a:solidFill>
          <a:ln w="50800">
            <a:solidFill>
              <a:srgbClr val="1F8F94"/>
            </a:solidFill>
            <a:prstDash val="solid"/>
          </a:ln>
          <a:effectLst>
            <a:outerShdw sx="100000" sy="100000" kx="0" ky="0" algn="bl" rotWithShape="0" blurRad="127000" dist="38100" dir="5400000">
              <a:srgbClr val="2A2050">
                <a:alpha val="18000"/>
              </a:srgbClr>
            </a:outerShdw>
          </a:effectLst>
        </p:spPr>
      </p:sp>
      <p:pic>
        <p:nvPicPr>
          <p:cNvPr id="16" name="Image 2" descr="C:\Users\dianr\AppData\Local\Temp\claude\c--SEM-5-SpellSpeak\eda6ec89-068e-4069-9b28-72e31b9a7f93\scratchpad\deck\art\bg_night.png">    </p:cNvPr>
          <p:cNvPicPr>
            <a:picLocks noChangeAspect="1"/>
          </p:cNvPicPr>
          <p:nvPr/>
        </p:nvPicPr>
        <p:blipFill>
          <a:blip r:embed="rId4"/>
          <a:srcRect l="0" r="0" t="0" b="0"/>
          <a:stretch/>
        </p:blipFill>
        <p:spPr>
          <a:xfrm>
            <a:off x="6720840" y="2194560"/>
            <a:ext cx="1737360" cy="1737360"/>
          </a:xfrm>
          <a:prstGeom prst="ellipse">
            <a:avLst/>
          </a:prstGeom>
        </p:spPr>
      </p:pic>
      <p:sp>
        <p:nvSpPr>
          <p:cNvPr id="17" name="Text 12"/>
          <p:cNvSpPr/>
          <p:nvPr/>
        </p:nvSpPr>
        <p:spPr>
          <a:xfrm>
            <a:off x="6309360" y="4206240"/>
            <a:ext cx="2560320" cy="411480"/>
          </a:xfrm>
          <a:prstGeom prst="rect">
            <a:avLst/>
          </a:prstGeom>
          <a:noFill/>
          <a:ln/>
        </p:spPr>
        <p:txBody>
          <a:bodyPr wrap="square" lIns="0" tIns="0" rIns="0" bIns="0" rtlCol="0" anchor="ctr"/>
          <a:lstStyle/>
          <a:p>
            <a:pPr algn="ctr" indent="0" marL="0">
              <a:buNone/>
            </a:pPr>
            <a:r>
              <a:rPr lang="en-US" sz="2000" b="1" dirty="0">
                <a:solidFill>
                  <a:srgbClr val="1F8F94"/>
                </a:solidFill>
                <a:latin typeface="Georgia" pitchFamily="34" charset="0"/>
                <a:ea typeface="Georgia" pitchFamily="34" charset="-122"/>
                <a:cs typeface="Georgia" pitchFamily="34" charset="-120"/>
              </a:rPr>
              <a:t>Stage III</a:t>
            </a:r>
            <a:endParaRPr lang="en-US" sz="2000" dirty="0"/>
          </a:p>
        </p:txBody>
      </p:sp>
      <p:sp>
        <p:nvSpPr>
          <p:cNvPr id="18" name="Text 13"/>
          <p:cNvSpPr/>
          <p:nvPr/>
        </p:nvSpPr>
        <p:spPr>
          <a:xfrm>
            <a:off x="6309360" y="4617720"/>
            <a:ext cx="2560320" cy="640080"/>
          </a:xfrm>
          <a:prstGeom prst="rect">
            <a:avLst/>
          </a:prstGeom>
          <a:noFill/>
          <a:ln/>
        </p:spPr>
        <p:txBody>
          <a:bodyPr wrap="square" lIns="0" tIns="0" rIns="0" bIns="0" rtlCol="0" anchor="ctr"/>
          <a:lstStyle/>
          <a:p>
            <a:pPr algn="ctr" indent="0" marL="0">
              <a:buNone/>
            </a:pPr>
            <a:r>
              <a:rPr lang="en-US" sz="1300" dirty="0">
                <a:solidFill>
                  <a:srgbClr val="5E5A7E"/>
                </a:solidFill>
                <a:latin typeface="Calibri" pitchFamily="34" charset="0"/>
                <a:ea typeface="Calibri" pitchFamily="34" charset="-122"/>
                <a:cs typeface="Calibri" pitchFamily="34" charset="-120"/>
              </a:rPr>
              <a:t>Metrics, implementasi,</a:t>
            </a:r>
            <a:endParaRPr lang="en-US" sz="1300" dirty="0"/>
          </a:p>
          <a:p>
            <a:pPr algn="ctr" indent="0" marL="0">
              <a:buNone/>
            </a:pPr>
            <a:r>
              <a:rPr lang="en-US" sz="1300" dirty="0">
                <a:solidFill>
                  <a:srgbClr val="5E5A7E"/>
                </a:solidFill>
                <a:latin typeface="Calibri" pitchFamily="34" charset="0"/>
                <a:ea typeface="Calibri" pitchFamily="34" charset="-122"/>
                <a:cs typeface="Calibri" pitchFamily="34" charset="-120"/>
              </a:rPr>
              <a:t>progress &amp; results</a:t>
            </a:r>
            <a:endParaRPr lang="en-US" sz="1300" dirty="0"/>
          </a:p>
        </p:txBody>
      </p:sp>
      <p:sp>
        <p:nvSpPr>
          <p:cNvPr id="19" name="Shape 14"/>
          <p:cNvSpPr/>
          <p:nvPr/>
        </p:nvSpPr>
        <p:spPr>
          <a:xfrm>
            <a:off x="9555480" y="2103120"/>
            <a:ext cx="1920240" cy="1920240"/>
          </a:xfrm>
          <a:prstGeom prst="ellipse">
            <a:avLst/>
          </a:prstGeom>
          <a:solidFill>
            <a:srgbClr val="FFFFFF"/>
          </a:solidFill>
          <a:ln w="50800">
            <a:solidFill>
              <a:srgbClr val="4C3FB8"/>
            </a:solidFill>
            <a:prstDash val="solid"/>
          </a:ln>
          <a:effectLst>
            <a:outerShdw sx="100000" sy="100000" kx="0" ky="0" algn="bl" rotWithShape="0" blurRad="127000" dist="38100" dir="5400000">
              <a:srgbClr val="2A2050">
                <a:alpha val="18000"/>
              </a:srgbClr>
            </a:outerShdw>
          </a:effectLst>
        </p:spPr>
      </p:sp>
      <p:pic>
        <p:nvPicPr>
          <p:cNvPr id="20" name="Image 3" descr="C:\Users\dianr\AppData\Local\Temp\claude\c--SEM-5-SpellSpeak\eda6ec89-068e-4069-9b28-72e31b9a7f93\scratchpad\deck\art\bg_boss.png">    </p:cNvPr>
          <p:cNvPicPr>
            <a:picLocks noChangeAspect="1"/>
          </p:cNvPicPr>
          <p:nvPr/>
        </p:nvPicPr>
        <p:blipFill>
          <a:blip r:embed="rId5"/>
          <a:srcRect l="0" r="0" t="0" b="0"/>
          <a:stretch/>
        </p:blipFill>
        <p:spPr>
          <a:xfrm>
            <a:off x="9646920" y="2194560"/>
            <a:ext cx="1737360" cy="1737360"/>
          </a:xfrm>
          <a:prstGeom prst="ellipse">
            <a:avLst/>
          </a:prstGeom>
        </p:spPr>
      </p:pic>
      <p:sp>
        <p:nvSpPr>
          <p:cNvPr id="21" name="Text 15"/>
          <p:cNvSpPr/>
          <p:nvPr/>
        </p:nvSpPr>
        <p:spPr>
          <a:xfrm>
            <a:off x="9235440" y="4206240"/>
            <a:ext cx="2560320" cy="411480"/>
          </a:xfrm>
          <a:prstGeom prst="rect">
            <a:avLst/>
          </a:prstGeom>
          <a:noFill/>
          <a:ln/>
        </p:spPr>
        <p:txBody>
          <a:bodyPr wrap="square" lIns="0" tIns="0" rIns="0" bIns="0" rtlCol="0" anchor="ctr"/>
          <a:lstStyle/>
          <a:p>
            <a:pPr algn="ctr" indent="0" marL="0">
              <a:buNone/>
            </a:pPr>
            <a:r>
              <a:rPr lang="en-US" sz="2000" b="1" dirty="0">
                <a:solidFill>
                  <a:srgbClr val="4C3FB8"/>
                </a:solidFill>
                <a:latin typeface="Georgia" pitchFamily="34" charset="0"/>
                <a:ea typeface="Georgia" pitchFamily="34" charset="-122"/>
                <a:cs typeface="Georgia" pitchFamily="34" charset="-120"/>
              </a:rPr>
              <a:t>Boss</a:t>
            </a:r>
            <a:endParaRPr lang="en-US" sz="2000" dirty="0"/>
          </a:p>
        </p:txBody>
      </p:sp>
      <p:sp>
        <p:nvSpPr>
          <p:cNvPr id="22" name="Text 16"/>
          <p:cNvSpPr/>
          <p:nvPr/>
        </p:nvSpPr>
        <p:spPr>
          <a:xfrm>
            <a:off x="9235440" y="4617720"/>
            <a:ext cx="2560320" cy="640080"/>
          </a:xfrm>
          <a:prstGeom prst="rect">
            <a:avLst/>
          </a:prstGeom>
          <a:noFill/>
          <a:ln/>
        </p:spPr>
        <p:txBody>
          <a:bodyPr wrap="square" lIns="0" tIns="0" rIns="0" bIns="0" rtlCol="0" anchor="ctr"/>
          <a:lstStyle/>
          <a:p>
            <a:pPr algn="ctr" indent="0" marL="0">
              <a:buNone/>
            </a:pPr>
            <a:r>
              <a:rPr lang="en-US" sz="1300" dirty="0">
                <a:solidFill>
                  <a:srgbClr val="5E5A7E"/>
                </a:solidFill>
                <a:latin typeface="Calibri" pitchFamily="34" charset="0"/>
                <a:ea typeface="Calibri" pitchFamily="34" charset="-122"/>
                <a:cs typeface="Calibri" pitchFamily="34" charset="-120"/>
              </a:rPr>
              <a:t>Discussion, conclusion</a:t>
            </a:r>
            <a:endParaRPr lang="en-US" sz="1300" dirty="0"/>
          </a:p>
          <a:p>
            <a:pPr algn="ctr" indent="0" marL="0">
              <a:buNone/>
            </a:pPr>
            <a:r>
              <a:rPr lang="en-US" sz="1300" dirty="0">
                <a:solidFill>
                  <a:srgbClr val="5E5A7E"/>
                </a:solidFill>
                <a:latin typeface="Calibri" pitchFamily="34" charset="0"/>
                <a:ea typeface="Calibri" pitchFamily="34" charset="-122"/>
                <a:cs typeface="Calibri" pitchFamily="34" charset="-120"/>
              </a:rPr>
              <a:t>&amp; future work</a:t>
            </a:r>
            <a:endParaRPr lang="en-US" sz="1300" dirty="0"/>
          </a:p>
        </p:txBody>
      </p:sp>
      <p:pic>
        <p:nvPicPr>
          <p:cNvPr id="23" name="Image 4" descr="C:\Users\dianr\AppData\Local\Temp\claude\c--SEM-5-SpellSpeak\eda6ec89-068e-4069-9b28-72e31b9a7f93\scratchpad\deck\art\cat_idle.png">    </p:cNvPr>
          <p:cNvPicPr>
            <a:picLocks noChangeAspect="1"/>
          </p:cNvPicPr>
          <p:nvPr/>
        </p:nvPicPr>
        <p:blipFill>
          <a:blip r:embed="rId6"/>
          <a:stretch>
            <a:fillRect/>
          </a:stretch>
        </p:blipFill>
        <p:spPr>
          <a:xfrm>
            <a:off x="228600" y="1371600"/>
            <a:ext cx="960120" cy="960120"/>
          </a:xfrm>
          <a:prstGeom prst="rect">
            <a:avLst/>
          </a:prstGeom>
        </p:spPr>
      </p:pic>
      <p:pic>
        <p:nvPicPr>
          <p:cNvPr id="24" name="Image 5" descr="C:\Users\dianr\AppData\Local\Temp\claude\c--SEM-5-SpellSpeak\eda6ec89-068e-4069-9b28-72e31b9a7f93\scratchpad\deck\art\boss_panda.png">    </p:cNvPr>
          <p:cNvPicPr>
            <a:picLocks noChangeAspect="1"/>
          </p:cNvPicPr>
          <p:nvPr/>
        </p:nvPicPr>
        <p:blipFill>
          <a:blip r:embed="rId7"/>
          <a:stretch>
            <a:fillRect/>
          </a:stretch>
        </p:blipFill>
        <p:spPr>
          <a:xfrm>
            <a:off x="11018520" y="1325880"/>
            <a:ext cx="706582" cy="777240"/>
          </a:xfrm>
          <a:prstGeom prst="rect">
            <a:avLst/>
          </a:prstGeom>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822960"/>
            <a:ext cx="7498080" cy="3246120"/>
          </a:xfrm>
          <a:prstGeom prst="roundRect">
            <a:avLst>
              <a:gd name="adj" fmla="val 5070"/>
            </a:avLst>
          </a:prstGeom>
          <a:solidFill>
            <a:srgbClr val="FFFFFF">
              <a:alpha val="75000"/>
            </a:srgbClr>
          </a:solidFill>
          <a:ln w="12700">
            <a:solidFill>
              <a:srgbClr val="FFFFFF">
                <a:alpha val="40000"/>
              </a:srgbClr>
            </a:solidFill>
            <a:prstDash val="solid"/>
          </a:ln>
        </p:spPr>
      </p:sp>
      <p:pic>
        <p:nvPicPr>
          <p:cNvPr id="3" name="Image 0" descr="C:\Users\dianr\AppData\Local\Temp\claude\c--SEM-5-SpellSpeak\eda6ec89-068e-4069-9b28-72e31b9a7f93\scratchpad\deck\art\px_stagei.png">    </p:cNvPr>
          <p:cNvPicPr>
            <a:picLocks noChangeAspect="1"/>
          </p:cNvPicPr>
          <p:nvPr/>
        </p:nvPicPr>
        <p:blipFill>
          <a:blip r:embed="rId2"/>
          <a:stretch>
            <a:fillRect/>
          </a:stretch>
        </p:blipFill>
        <p:spPr>
          <a:xfrm>
            <a:off x="685800" y="1097280"/>
            <a:ext cx="3006969" cy="868680"/>
          </a:xfrm>
          <a:prstGeom prst="rect">
            <a:avLst/>
          </a:prstGeom>
        </p:spPr>
      </p:pic>
      <p:sp>
        <p:nvSpPr>
          <p:cNvPr id="4" name="Text 1"/>
          <p:cNvSpPr/>
          <p:nvPr/>
        </p:nvSpPr>
        <p:spPr>
          <a:xfrm>
            <a:off x="685800" y="2148840"/>
            <a:ext cx="7772400" cy="914400"/>
          </a:xfrm>
          <a:prstGeom prst="rect">
            <a:avLst/>
          </a:prstGeom>
          <a:noFill/>
          <a:ln/>
        </p:spPr>
        <p:txBody>
          <a:bodyPr wrap="square" lIns="0" tIns="0" rIns="0" bIns="0" rtlCol="0" anchor="ctr"/>
          <a:lstStyle/>
          <a:p>
            <a:pPr indent="0" marL="0">
              <a:buNone/>
            </a:pPr>
            <a:r>
              <a:rPr lang="en-US" sz="4400" b="1" dirty="0">
                <a:solidFill>
                  <a:srgbClr val="15402B"/>
                </a:solidFill>
                <a:latin typeface="Georgia" pitchFamily="34" charset="0"/>
                <a:ea typeface="Georgia" pitchFamily="34" charset="-122"/>
                <a:cs typeface="Georgia" pitchFamily="34" charset="-120"/>
              </a:rPr>
              <a:t>Problem &amp; Solution</a:t>
            </a:r>
            <a:endParaRPr lang="en-US" sz="4400" dirty="0"/>
          </a:p>
        </p:txBody>
      </p:sp>
      <p:sp>
        <p:nvSpPr>
          <p:cNvPr id="5" name="Text 2"/>
          <p:cNvSpPr/>
          <p:nvPr/>
        </p:nvSpPr>
        <p:spPr>
          <a:xfrm>
            <a:off x="685800" y="3063240"/>
            <a:ext cx="6858000" cy="822960"/>
          </a:xfrm>
          <a:prstGeom prst="rect">
            <a:avLst/>
          </a:prstGeom>
          <a:noFill/>
          <a:ln/>
        </p:spPr>
        <p:txBody>
          <a:bodyPr wrap="square" lIns="0" tIns="0" rIns="0" bIns="0" rtlCol="0" anchor="t"/>
          <a:lstStyle/>
          <a:p>
            <a:pPr indent="0" marL="0">
              <a:buNone/>
            </a:pPr>
            <a:r>
              <a:rPr lang="en-US" sz="1800" dirty="0">
                <a:solidFill>
                  <a:srgbClr val="1D5A3E"/>
                </a:solidFill>
                <a:latin typeface="Calibri" pitchFamily="34" charset="0"/>
                <a:ea typeface="Calibri" pitchFamily="34" charset="-122"/>
                <a:cs typeface="Calibri" pitchFamily="34" charset="-120"/>
              </a:rPr>
              <a:t>Kenapa SpellSpeak perlu ada, buat siapa, dan kenapa bentuknya game.</a:t>
            </a:r>
            <a:endParaRPr lang="en-US" sz="1800" dirty="0"/>
          </a:p>
        </p:txBody>
      </p:sp>
      <p:pic>
        <p:nvPicPr>
          <p:cNvPr id="6" name="Image 1" descr="C:\Users\dianr\AppData\Local\Temp\claude\c--SEM-5-SpellSpeak\eda6ec89-068e-4069-9b28-72e31b9a7f93\scratchpad\deck\art\cat_idle.png">    </p:cNvPr>
          <p:cNvPicPr>
            <a:picLocks noChangeAspect="1"/>
          </p:cNvPicPr>
          <p:nvPr/>
        </p:nvPicPr>
        <p:blipFill>
          <a:blip r:embed="rId3"/>
          <a:stretch>
            <a:fillRect/>
          </a:stretch>
        </p:blipFill>
        <p:spPr>
          <a:xfrm>
            <a:off x="914400" y="4160520"/>
            <a:ext cx="2194560" cy="2194560"/>
          </a:xfrm>
          <a:prstGeom prst="rect">
            <a:avLst/>
          </a:prstGeom>
        </p:spPr>
      </p:pic>
      <p:pic>
        <p:nvPicPr>
          <p:cNvPr id="7" name="Image 2" descr="C:\Users\dianr\AppData\Local\Temp\claude\c--SEM-5-SpellSpeak\eda6ec89-068e-4069-9b28-72e31b9a7f93\scratchpad\deck\art\ghoul1.png">    </p:cNvPr>
          <p:cNvPicPr>
            <a:picLocks noChangeAspect="1"/>
          </p:cNvPicPr>
          <p:nvPr/>
        </p:nvPicPr>
        <p:blipFill>
          <a:blip r:embed="rId4"/>
          <a:stretch>
            <a:fillRect/>
          </a:stretch>
        </p:blipFill>
        <p:spPr>
          <a:xfrm>
            <a:off x="8595360" y="4297680"/>
            <a:ext cx="1219200" cy="1463040"/>
          </a:xfrm>
          <a:prstGeom prst="rect">
            <a:avLst/>
          </a:prstGeom>
        </p:spPr>
      </p:pic>
      <p:pic>
        <p:nvPicPr>
          <p:cNvPr id="8" name="Image 3" descr="C:\Users\dianr\AppData\Local\Temp\claude\c--SEM-5-SpellSpeak\eda6ec89-068e-4069-9b28-72e31b9a7f93\scratchpad\deck\art\ghoul0.png">    </p:cNvPr>
          <p:cNvPicPr>
            <a:picLocks noChangeAspect="1"/>
          </p:cNvPicPr>
          <p:nvPr/>
        </p:nvPicPr>
        <p:blipFill>
          <a:blip r:embed="rId5"/>
          <a:stretch>
            <a:fillRect/>
          </a:stretch>
        </p:blipFill>
        <p:spPr>
          <a:xfrm>
            <a:off x="9966960" y="3977640"/>
            <a:ext cx="1524000" cy="1828800"/>
          </a:xfrm>
          <a:prstGeom prst="rect">
            <a:avLst/>
          </a:prstGeom>
        </p:spPr>
      </p:pic>
      <p:sp>
        <p:nvSpPr>
          <p:cNvPr id="9" name="Text 3"/>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CFC8F5"/>
                </a:solidFill>
                <a:latin typeface="Calibri" pitchFamily="34" charset="0"/>
                <a:ea typeface="Calibri" pitchFamily="34" charset="-122"/>
                <a:cs typeface="Calibri" pitchFamily="34" charset="-120"/>
              </a:rPr>
              <a:t>SpellSpeak · progress update</a:t>
            </a:r>
            <a:endParaRPr lang="en-US" sz="900" dirty="0"/>
          </a:p>
        </p:txBody>
      </p:sp>
      <p:sp>
        <p:nvSpPr>
          <p:cNvPr id="10" name="Text 4"/>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CFC8F5"/>
                </a:solidFill>
                <a:latin typeface="Calibri" pitchFamily="34" charset="0"/>
                <a:ea typeface="Calibri" pitchFamily="34" charset="-122"/>
                <a:cs typeface="Calibri" pitchFamily="34" charset="-120"/>
              </a:rPr>
              <a:t>3</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732788" cy="292608"/>
          </a:xfrm>
          <a:prstGeom prst="roundRect">
            <a:avLst>
              <a:gd name="adj" fmla="val 50000"/>
            </a:avLst>
          </a:prstGeom>
          <a:solidFill>
            <a:srgbClr val="2E9E62"/>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 · PROBLEM</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2700" b="1" dirty="0">
                <a:solidFill>
                  <a:srgbClr val="1E1A3C"/>
                </a:solidFill>
                <a:latin typeface="Georgia" pitchFamily="34" charset="0"/>
                <a:ea typeface="Georgia" pitchFamily="34" charset="-122"/>
                <a:cs typeface="Georgia" pitchFamily="34" charset="-120"/>
              </a:rPr>
              <a:t>Ada bunyi yang “hilang” waktu kita ngomong English</a:t>
            </a:r>
            <a:endParaRPr lang="en-US" sz="27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645920"/>
            <a:ext cx="5577840" cy="4526280"/>
          </a:xfrm>
          <a:prstGeom prst="roundRect">
            <a:avLst>
              <a:gd name="adj" fmla="val 2828"/>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7" name="Text 5"/>
          <p:cNvSpPr/>
          <p:nvPr/>
        </p:nvSpPr>
        <p:spPr>
          <a:xfrm>
            <a:off x="822960" y="1828800"/>
            <a:ext cx="5029200" cy="365760"/>
          </a:xfrm>
          <a:prstGeom prst="rect">
            <a:avLst/>
          </a:prstGeom>
          <a:noFill/>
          <a:ln/>
        </p:spPr>
        <p:txBody>
          <a:bodyPr wrap="square" lIns="0" tIns="0" rIns="0" bIns="0" rtlCol="0" anchor="t"/>
          <a:lstStyle/>
          <a:p>
            <a:pPr indent="0" marL="0">
              <a:buNone/>
            </a:pPr>
            <a:r>
              <a:rPr lang="en-US" sz="1500" b="1" dirty="0">
                <a:solidFill>
                  <a:srgbClr val="4C3FB8"/>
                </a:solidFill>
                <a:latin typeface="Calibri" pitchFamily="34" charset="0"/>
                <a:ea typeface="Calibri" pitchFamily="34" charset="-122"/>
                <a:cs typeface="Calibri" pitchFamily="34" charset="-120"/>
              </a:rPr>
              <a:t>Pola kesalahan yang kami targetkan</a:t>
            </a:r>
            <a:endParaRPr lang="en-US" sz="1500" dirty="0"/>
          </a:p>
        </p:txBody>
      </p:sp>
      <p:sp>
        <p:nvSpPr>
          <p:cNvPr id="8" name="Text 6"/>
          <p:cNvSpPr/>
          <p:nvPr/>
        </p:nvSpPr>
        <p:spPr>
          <a:xfrm>
            <a:off x="822960" y="2377440"/>
            <a:ext cx="1234440" cy="457200"/>
          </a:xfrm>
          <a:prstGeom prst="rect">
            <a:avLst/>
          </a:prstGeom>
          <a:noFill/>
          <a:ln/>
        </p:spPr>
        <p:txBody>
          <a:bodyPr wrap="square" lIns="0" tIns="0" rIns="0" bIns="0" rtlCol="0" anchor="ctr"/>
          <a:lstStyle/>
          <a:p>
            <a:pPr indent="0" marL="0">
              <a:buNone/>
            </a:pPr>
            <a:r>
              <a:rPr lang="en-US" sz="2000" b="1" dirty="0">
                <a:solidFill>
                  <a:srgbClr val="1E1A3C"/>
                </a:solidFill>
                <a:latin typeface="Georgia" pitchFamily="34" charset="0"/>
                <a:ea typeface="Georgia" pitchFamily="34" charset="-122"/>
                <a:cs typeface="Georgia" pitchFamily="34" charset="-120"/>
              </a:rPr>
              <a:t>think</a:t>
            </a:r>
            <a:endParaRPr lang="en-US" sz="2000" dirty="0"/>
          </a:p>
        </p:txBody>
      </p:sp>
      <p:sp>
        <p:nvSpPr>
          <p:cNvPr id="9" name="Text 7"/>
          <p:cNvSpPr/>
          <p:nvPr/>
        </p:nvSpPr>
        <p:spPr>
          <a:xfrm>
            <a:off x="2148840" y="2331720"/>
            <a:ext cx="548640" cy="548640"/>
          </a:xfrm>
          <a:prstGeom prst="roundRect">
            <a:avLst>
              <a:gd name="adj" fmla="val 16667"/>
            </a:avLst>
          </a:prstGeom>
          <a:solidFill>
            <a:srgbClr val="2E9E62"/>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θ</a:t>
            </a:r>
            <a:endParaRPr lang="en-US" sz="2000" dirty="0"/>
          </a:p>
        </p:txBody>
      </p:sp>
      <p:sp>
        <p:nvSpPr>
          <p:cNvPr id="10" name="Text 8"/>
          <p:cNvSpPr/>
          <p:nvPr/>
        </p:nvSpPr>
        <p:spPr>
          <a:xfrm>
            <a:off x="2743200" y="2331720"/>
            <a:ext cx="411480" cy="548640"/>
          </a:xfrm>
          <a:prstGeom prst="rect">
            <a:avLst/>
          </a:prstGeom>
          <a:noFill/>
          <a:ln/>
        </p:spPr>
        <p:txBody>
          <a:bodyPr wrap="square" lIns="0" tIns="0" rIns="0" bIns="0" rtlCol="0" anchor="ctr"/>
          <a:lstStyle/>
          <a:p>
            <a:pPr algn="ctr" indent="0" marL="0">
              <a:buNone/>
            </a:pPr>
            <a:r>
              <a:rPr lang="en-US" sz="1800" dirty="0">
                <a:solidFill>
                  <a:srgbClr val="8C87AD"/>
                </a:solidFill>
              </a:rPr>
              <a:t>→</a:t>
            </a:r>
            <a:endParaRPr lang="en-US" sz="1800" dirty="0"/>
          </a:p>
        </p:txBody>
      </p:sp>
      <p:sp>
        <p:nvSpPr>
          <p:cNvPr id="11" name="Text 9"/>
          <p:cNvSpPr/>
          <p:nvPr/>
        </p:nvSpPr>
        <p:spPr>
          <a:xfrm>
            <a:off x="3154680" y="2331720"/>
            <a:ext cx="548640" cy="548640"/>
          </a:xfrm>
          <a:prstGeom prst="roundRect">
            <a:avLst>
              <a:gd name="adj" fmla="val 16667"/>
            </a:avLst>
          </a:prstGeom>
          <a:solidFill>
            <a:srgbClr val="E07A2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a:t>
            </a:r>
            <a:endParaRPr lang="en-US" sz="2000" dirty="0"/>
          </a:p>
        </p:txBody>
      </p:sp>
      <p:sp>
        <p:nvSpPr>
          <p:cNvPr id="12" name="Text 10"/>
          <p:cNvSpPr/>
          <p:nvPr/>
        </p:nvSpPr>
        <p:spPr>
          <a:xfrm>
            <a:off x="3886200" y="2377440"/>
            <a:ext cx="2103120" cy="457200"/>
          </a:xfrm>
          <a:prstGeom prst="rect">
            <a:avLst/>
          </a:prstGeom>
          <a:noFill/>
          <a:ln/>
        </p:spPr>
        <p:txBody>
          <a:bodyPr wrap="square" lIns="0" tIns="0" rIns="0" bIns="0" rtlCol="0" anchor="ctr"/>
          <a:lstStyle/>
          <a:p>
            <a:pPr indent="0" marL="0">
              <a:buNone/>
            </a:pPr>
            <a:r>
              <a:rPr lang="en-US" sz="1400" i="1" dirty="0">
                <a:solidFill>
                  <a:srgbClr val="5E5A7E"/>
                </a:solidFill>
                <a:latin typeface="Calibri" pitchFamily="34" charset="0"/>
                <a:ea typeface="Calibri" pitchFamily="34" charset="-122"/>
                <a:cs typeface="Calibri" pitchFamily="34" charset="-120"/>
              </a:rPr>
              <a:t>terdengar “tink”</a:t>
            </a:r>
            <a:endParaRPr lang="en-US" sz="1400" dirty="0"/>
          </a:p>
        </p:txBody>
      </p:sp>
      <p:sp>
        <p:nvSpPr>
          <p:cNvPr id="13" name="Text 11"/>
          <p:cNvSpPr/>
          <p:nvPr/>
        </p:nvSpPr>
        <p:spPr>
          <a:xfrm>
            <a:off x="822960" y="3108960"/>
            <a:ext cx="1234440" cy="457200"/>
          </a:xfrm>
          <a:prstGeom prst="rect">
            <a:avLst/>
          </a:prstGeom>
          <a:noFill/>
          <a:ln/>
        </p:spPr>
        <p:txBody>
          <a:bodyPr wrap="square" lIns="0" tIns="0" rIns="0" bIns="0" rtlCol="0" anchor="ctr"/>
          <a:lstStyle/>
          <a:p>
            <a:pPr indent="0" marL="0">
              <a:buNone/>
            </a:pPr>
            <a:r>
              <a:rPr lang="en-US" sz="2000" b="1" dirty="0">
                <a:solidFill>
                  <a:srgbClr val="1E1A3C"/>
                </a:solidFill>
                <a:latin typeface="Georgia" pitchFamily="34" charset="0"/>
                <a:ea typeface="Georgia" pitchFamily="34" charset="-122"/>
                <a:cs typeface="Georgia" pitchFamily="34" charset="-120"/>
              </a:rPr>
              <a:t>this</a:t>
            </a:r>
            <a:endParaRPr lang="en-US" sz="2000" dirty="0"/>
          </a:p>
        </p:txBody>
      </p:sp>
      <p:sp>
        <p:nvSpPr>
          <p:cNvPr id="14" name="Text 12"/>
          <p:cNvSpPr/>
          <p:nvPr/>
        </p:nvSpPr>
        <p:spPr>
          <a:xfrm>
            <a:off x="2148840" y="3063240"/>
            <a:ext cx="548640" cy="548640"/>
          </a:xfrm>
          <a:prstGeom prst="roundRect">
            <a:avLst>
              <a:gd name="adj" fmla="val 16667"/>
            </a:avLst>
          </a:prstGeom>
          <a:solidFill>
            <a:srgbClr val="2E9E62"/>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ð</a:t>
            </a:r>
            <a:endParaRPr lang="en-US" sz="2000" dirty="0"/>
          </a:p>
        </p:txBody>
      </p:sp>
      <p:sp>
        <p:nvSpPr>
          <p:cNvPr id="15" name="Text 13"/>
          <p:cNvSpPr/>
          <p:nvPr/>
        </p:nvSpPr>
        <p:spPr>
          <a:xfrm>
            <a:off x="2743200" y="3063240"/>
            <a:ext cx="411480" cy="548640"/>
          </a:xfrm>
          <a:prstGeom prst="rect">
            <a:avLst/>
          </a:prstGeom>
          <a:noFill/>
          <a:ln/>
        </p:spPr>
        <p:txBody>
          <a:bodyPr wrap="square" lIns="0" tIns="0" rIns="0" bIns="0" rtlCol="0" anchor="ctr"/>
          <a:lstStyle/>
          <a:p>
            <a:pPr algn="ctr" indent="0" marL="0">
              <a:buNone/>
            </a:pPr>
            <a:r>
              <a:rPr lang="en-US" sz="1800" dirty="0">
                <a:solidFill>
                  <a:srgbClr val="8C87AD"/>
                </a:solidFill>
              </a:rPr>
              <a:t>→</a:t>
            </a:r>
            <a:endParaRPr lang="en-US" sz="1800" dirty="0"/>
          </a:p>
        </p:txBody>
      </p:sp>
      <p:sp>
        <p:nvSpPr>
          <p:cNvPr id="16" name="Text 14"/>
          <p:cNvSpPr/>
          <p:nvPr/>
        </p:nvSpPr>
        <p:spPr>
          <a:xfrm>
            <a:off x="3154680" y="3063240"/>
            <a:ext cx="548640" cy="548640"/>
          </a:xfrm>
          <a:prstGeom prst="roundRect">
            <a:avLst>
              <a:gd name="adj" fmla="val 16667"/>
            </a:avLst>
          </a:prstGeom>
          <a:solidFill>
            <a:srgbClr val="E07A2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17" name="Text 15"/>
          <p:cNvSpPr/>
          <p:nvPr/>
        </p:nvSpPr>
        <p:spPr>
          <a:xfrm>
            <a:off x="3886200" y="3108960"/>
            <a:ext cx="2103120" cy="457200"/>
          </a:xfrm>
          <a:prstGeom prst="rect">
            <a:avLst/>
          </a:prstGeom>
          <a:noFill/>
          <a:ln/>
        </p:spPr>
        <p:txBody>
          <a:bodyPr wrap="square" lIns="0" tIns="0" rIns="0" bIns="0" rtlCol="0" anchor="ctr"/>
          <a:lstStyle/>
          <a:p>
            <a:pPr indent="0" marL="0">
              <a:buNone/>
            </a:pPr>
            <a:r>
              <a:rPr lang="en-US" sz="1400" i="1" dirty="0">
                <a:solidFill>
                  <a:srgbClr val="5E5A7E"/>
                </a:solidFill>
                <a:latin typeface="Calibri" pitchFamily="34" charset="0"/>
                <a:ea typeface="Calibri" pitchFamily="34" charset="-122"/>
                <a:cs typeface="Calibri" pitchFamily="34" charset="-120"/>
              </a:rPr>
              <a:t>terdengar “dis”</a:t>
            </a:r>
            <a:endParaRPr lang="en-US" sz="1400" dirty="0"/>
          </a:p>
        </p:txBody>
      </p:sp>
      <p:sp>
        <p:nvSpPr>
          <p:cNvPr id="18" name="Text 16"/>
          <p:cNvSpPr/>
          <p:nvPr/>
        </p:nvSpPr>
        <p:spPr>
          <a:xfrm>
            <a:off x="822960" y="3840480"/>
            <a:ext cx="1234440" cy="457200"/>
          </a:xfrm>
          <a:prstGeom prst="rect">
            <a:avLst/>
          </a:prstGeom>
          <a:noFill/>
          <a:ln/>
        </p:spPr>
        <p:txBody>
          <a:bodyPr wrap="square" lIns="0" tIns="0" rIns="0" bIns="0" rtlCol="0" anchor="ctr"/>
          <a:lstStyle/>
          <a:p>
            <a:pPr indent="0" marL="0">
              <a:buNone/>
            </a:pPr>
            <a:r>
              <a:rPr lang="en-US" sz="2000" b="1" dirty="0">
                <a:solidFill>
                  <a:srgbClr val="1E1A3C"/>
                </a:solidFill>
                <a:latin typeface="Georgia" pitchFamily="34" charset="0"/>
                <a:ea typeface="Georgia" pitchFamily="34" charset="-122"/>
                <a:cs typeface="Georgia" pitchFamily="34" charset="-120"/>
              </a:rPr>
              <a:t>very</a:t>
            </a:r>
            <a:endParaRPr lang="en-US" sz="2000" dirty="0"/>
          </a:p>
        </p:txBody>
      </p:sp>
      <p:sp>
        <p:nvSpPr>
          <p:cNvPr id="19" name="Text 17"/>
          <p:cNvSpPr/>
          <p:nvPr/>
        </p:nvSpPr>
        <p:spPr>
          <a:xfrm>
            <a:off x="2148840" y="3794760"/>
            <a:ext cx="548640" cy="548640"/>
          </a:xfrm>
          <a:prstGeom prst="roundRect">
            <a:avLst>
              <a:gd name="adj" fmla="val 16667"/>
            </a:avLst>
          </a:prstGeom>
          <a:solidFill>
            <a:srgbClr val="2E9E62"/>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v</a:t>
            </a:r>
            <a:endParaRPr lang="en-US" sz="2000" dirty="0"/>
          </a:p>
        </p:txBody>
      </p:sp>
      <p:sp>
        <p:nvSpPr>
          <p:cNvPr id="20" name="Text 18"/>
          <p:cNvSpPr/>
          <p:nvPr/>
        </p:nvSpPr>
        <p:spPr>
          <a:xfrm>
            <a:off x="2743200" y="3794760"/>
            <a:ext cx="411480" cy="548640"/>
          </a:xfrm>
          <a:prstGeom prst="rect">
            <a:avLst/>
          </a:prstGeom>
          <a:noFill/>
          <a:ln/>
        </p:spPr>
        <p:txBody>
          <a:bodyPr wrap="square" lIns="0" tIns="0" rIns="0" bIns="0" rtlCol="0" anchor="ctr"/>
          <a:lstStyle/>
          <a:p>
            <a:pPr algn="ctr" indent="0" marL="0">
              <a:buNone/>
            </a:pPr>
            <a:r>
              <a:rPr lang="en-US" sz="1800" dirty="0">
                <a:solidFill>
                  <a:srgbClr val="8C87AD"/>
                </a:solidFill>
              </a:rPr>
              <a:t>→</a:t>
            </a:r>
            <a:endParaRPr lang="en-US" sz="1800" dirty="0"/>
          </a:p>
        </p:txBody>
      </p:sp>
      <p:sp>
        <p:nvSpPr>
          <p:cNvPr id="21" name="Text 19"/>
          <p:cNvSpPr/>
          <p:nvPr/>
        </p:nvSpPr>
        <p:spPr>
          <a:xfrm>
            <a:off x="3154680" y="3794760"/>
            <a:ext cx="548640" cy="548640"/>
          </a:xfrm>
          <a:prstGeom prst="roundRect">
            <a:avLst>
              <a:gd name="adj" fmla="val 16667"/>
            </a:avLst>
          </a:prstGeom>
          <a:solidFill>
            <a:srgbClr val="E07A2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f</a:t>
            </a:r>
            <a:endParaRPr lang="en-US" sz="2000" dirty="0"/>
          </a:p>
        </p:txBody>
      </p:sp>
      <p:sp>
        <p:nvSpPr>
          <p:cNvPr id="22" name="Text 20"/>
          <p:cNvSpPr/>
          <p:nvPr/>
        </p:nvSpPr>
        <p:spPr>
          <a:xfrm>
            <a:off x="3886200" y="3840480"/>
            <a:ext cx="2103120" cy="457200"/>
          </a:xfrm>
          <a:prstGeom prst="rect">
            <a:avLst/>
          </a:prstGeom>
          <a:noFill/>
          <a:ln/>
        </p:spPr>
        <p:txBody>
          <a:bodyPr wrap="square" lIns="0" tIns="0" rIns="0" bIns="0" rtlCol="0" anchor="ctr"/>
          <a:lstStyle/>
          <a:p>
            <a:pPr indent="0" marL="0">
              <a:buNone/>
            </a:pPr>
            <a:r>
              <a:rPr lang="en-US" sz="1400" i="1" dirty="0">
                <a:solidFill>
                  <a:srgbClr val="5E5A7E"/>
                </a:solidFill>
                <a:latin typeface="Calibri" pitchFamily="34" charset="0"/>
                <a:ea typeface="Calibri" pitchFamily="34" charset="-122"/>
                <a:cs typeface="Calibri" pitchFamily="34" charset="-120"/>
              </a:rPr>
              <a:t>terdengar “ferry”</a:t>
            </a:r>
            <a:endParaRPr lang="en-US" sz="1400" dirty="0"/>
          </a:p>
        </p:txBody>
      </p:sp>
      <p:sp>
        <p:nvSpPr>
          <p:cNvPr id="23" name="Text 21"/>
          <p:cNvSpPr/>
          <p:nvPr/>
        </p:nvSpPr>
        <p:spPr>
          <a:xfrm>
            <a:off x="822960" y="4572000"/>
            <a:ext cx="1234440" cy="457200"/>
          </a:xfrm>
          <a:prstGeom prst="rect">
            <a:avLst/>
          </a:prstGeom>
          <a:noFill/>
          <a:ln/>
        </p:spPr>
        <p:txBody>
          <a:bodyPr wrap="square" lIns="0" tIns="0" rIns="0" bIns="0" rtlCol="0" anchor="ctr"/>
          <a:lstStyle/>
          <a:p>
            <a:pPr indent="0" marL="0">
              <a:buNone/>
            </a:pPr>
            <a:r>
              <a:rPr lang="en-US" sz="2000" b="1" dirty="0">
                <a:solidFill>
                  <a:srgbClr val="1E1A3C"/>
                </a:solidFill>
                <a:latin typeface="Georgia" pitchFamily="34" charset="0"/>
                <a:ea typeface="Georgia" pitchFamily="34" charset="-122"/>
                <a:cs typeface="Georgia" pitchFamily="34" charset="-120"/>
              </a:rPr>
              <a:t>bad</a:t>
            </a:r>
            <a:endParaRPr lang="en-US" sz="2000" dirty="0"/>
          </a:p>
        </p:txBody>
      </p:sp>
      <p:sp>
        <p:nvSpPr>
          <p:cNvPr id="24" name="Text 22"/>
          <p:cNvSpPr/>
          <p:nvPr/>
        </p:nvSpPr>
        <p:spPr>
          <a:xfrm>
            <a:off x="2148840" y="4526280"/>
            <a:ext cx="548640" cy="548640"/>
          </a:xfrm>
          <a:prstGeom prst="roundRect">
            <a:avLst>
              <a:gd name="adj" fmla="val 16667"/>
            </a:avLst>
          </a:prstGeom>
          <a:solidFill>
            <a:srgbClr val="2E9E62"/>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æ</a:t>
            </a:r>
            <a:endParaRPr lang="en-US" sz="2000" dirty="0"/>
          </a:p>
        </p:txBody>
      </p:sp>
      <p:sp>
        <p:nvSpPr>
          <p:cNvPr id="25" name="Text 23"/>
          <p:cNvSpPr/>
          <p:nvPr/>
        </p:nvSpPr>
        <p:spPr>
          <a:xfrm>
            <a:off x="2743200" y="4526280"/>
            <a:ext cx="411480" cy="548640"/>
          </a:xfrm>
          <a:prstGeom prst="rect">
            <a:avLst/>
          </a:prstGeom>
          <a:noFill/>
          <a:ln/>
        </p:spPr>
        <p:txBody>
          <a:bodyPr wrap="square" lIns="0" tIns="0" rIns="0" bIns="0" rtlCol="0" anchor="ctr"/>
          <a:lstStyle/>
          <a:p>
            <a:pPr algn="ctr" indent="0" marL="0">
              <a:buNone/>
            </a:pPr>
            <a:r>
              <a:rPr lang="en-US" sz="1800" dirty="0">
                <a:solidFill>
                  <a:srgbClr val="8C87AD"/>
                </a:solidFill>
              </a:rPr>
              <a:t>→</a:t>
            </a:r>
            <a:endParaRPr lang="en-US" sz="1800" dirty="0"/>
          </a:p>
        </p:txBody>
      </p:sp>
      <p:sp>
        <p:nvSpPr>
          <p:cNvPr id="26" name="Text 24"/>
          <p:cNvSpPr/>
          <p:nvPr/>
        </p:nvSpPr>
        <p:spPr>
          <a:xfrm>
            <a:off x="3154680" y="4526280"/>
            <a:ext cx="548640" cy="548640"/>
          </a:xfrm>
          <a:prstGeom prst="roundRect">
            <a:avLst>
              <a:gd name="adj" fmla="val 16667"/>
            </a:avLst>
          </a:prstGeom>
          <a:solidFill>
            <a:srgbClr val="E07A2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ɛ</a:t>
            </a:r>
            <a:endParaRPr lang="en-US" sz="2000" dirty="0"/>
          </a:p>
        </p:txBody>
      </p:sp>
      <p:sp>
        <p:nvSpPr>
          <p:cNvPr id="27" name="Text 25"/>
          <p:cNvSpPr/>
          <p:nvPr/>
        </p:nvSpPr>
        <p:spPr>
          <a:xfrm>
            <a:off x="3886200" y="4572000"/>
            <a:ext cx="2103120" cy="457200"/>
          </a:xfrm>
          <a:prstGeom prst="rect">
            <a:avLst/>
          </a:prstGeom>
          <a:noFill/>
          <a:ln/>
        </p:spPr>
        <p:txBody>
          <a:bodyPr wrap="square" lIns="0" tIns="0" rIns="0" bIns="0" rtlCol="0" anchor="ctr"/>
          <a:lstStyle/>
          <a:p>
            <a:pPr indent="0" marL="0">
              <a:buNone/>
            </a:pPr>
            <a:r>
              <a:rPr lang="en-US" sz="1400" i="1" dirty="0">
                <a:solidFill>
                  <a:srgbClr val="5E5A7E"/>
                </a:solidFill>
                <a:latin typeface="Calibri" pitchFamily="34" charset="0"/>
                <a:ea typeface="Calibri" pitchFamily="34" charset="-122"/>
                <a:cs typeface="Calibri" pitchFamily="34" charset="-120"/>
              </a:rPr>
              <a:t>terdengar “bed”</a:t>
            </a:r>
            <a:endParaRPr lang="en-US" sz="1400" dirty="0"/>
          </a:p>
        </p:txBody>
      </p:sp>
      <p:sp>
        <p:nvSpPr>
          <p:cNvPr id="28" name="Text 26"/>
          <p:cNvSpPr/>
          <p:nvPr/>
        </p:nvSpPr>
        <p:spPr>
          <a:xfrm>
            <a:off x="822960" y="5303520"/>
            <a:ext cx="1234440" cy="457200"/>
          </a:xfrm>
          <a:prstGeom prst="rect">
            <a:avLst/>
          </a:prstGeom>
          <a:noFill/>
          <a:ln/>
        </p:spPr>
        <p:txBody>
          <a:bodyPr wrap="square" lIns="0" tIns="0" rIns="0" bIns="0" rtlCol="0" anchor="ctr"/>
          <a:lstStyle/>
          <a:p>
            <a:pPr indent="0" marL="0">
              <a:buNone/>
            </a:pPr>
            <a:r>
              <a:rPr lang="en-US" sz="2000" b="1" dirty="0">
                <a:solidFill>
                  <a:srgbClr val="1E1A3C"/>
                </a:solidFill>
                <a:latin typeface="Georgia" pitchFamily="34" charset="0"/>
                <a:ea typeface="Georgia" pitchFamily="34" charset="-122"/>
                <a:cs typeface="Georgia" pitchFamily="34" charset="-120"/>
              </a:rPr>
              <a:t>asked</a:t>
            </a:r>
            <a:endParaRPr lang="en-US" sz="2000" dirty="0"/>
          </a:p>
        </p:txBody>
      </p:sp>
      <p:sp>
        <p:nvSpPr>
          <p:cNvPr id="29" name="Text 27"/>
          <p:cNvSpPr/>
          <p:nvPr/>
        </p:nvSpPr>
        <p:spPr>
          <a:xfrm>
            <a:off x="2148840" y="5257800"/>
            <a:ext cx="548640" cy="548640"/>
          </a:xfrm>
          <a:prstGeom prst="roundRect">
            <a:avLst>
              <a:gd name="adj" fmla="val 16667"/>
            </a:avLst>
          </a:prstGeom>
          <a:solidFill>
            <a:srgbClr val="2E9E62"/>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kt</a:t>
            </a:r>
            <a:endParaRPr lang="en-US" sz="1500" dirty="0"/>
          </a:p>
        </p:txBody>
      </p:sp>
      <p:sp>
        <p:nvSpPr>
          <p:cNvPr id="30" name="Text 28"/>
          <p:cNvSpPr/>
          <p:nvPr/>
        </p:nvSpPr>
        <p:spPr>
          <a:xfrm>
            <a:off x="2743200" y="5257800"/>
            <a:ext cx="411480" cy="548640"/>
          </a:xfrm>
          <a:prstGeom prst="rect">
            <a:avLst/>
          </a:prstGeom>
          <a:noFill/>
          <a:ln/>
        </p:spPr>
        <p:txBody>
          <a:bodyPr wrap="square" lIns="0" tIns="0" rIns="0" bIns="0" rtlCol="0" anchor="ctr"/>
          <a:lstStyle/>
          <a:p>
            <a:pPr algn="ctr" indent="0" marL="0">
              <a:buNone/>
            </a:pPr>
            <a:r>
              <a:rPr lang="en-US" sz="1800" dirty="0">
                <a:solidFill>
                  <a:srgbClr val="8C87AD"/>
                </a:solidFill>
              </a:rPr>
              <a:t>→</a:t>
            </a:r>
            <a:endParaRPr lang="en-US" sz="1800" dirty="0"/>
          </a:p>
        </p:txBody>
      </p:sp>
      <p:sp>
        <p:nvSpPr>
          <p:cNvPr id="31" name="Text 29"/>
          <p:cNvSpPr/>
          <p:nvPr/>
        </p:nvSpPr>
        <p:spPr>
          <a:xfrm>
            <a:off x="3154680" y="5257800"/>
            <a:ext cx="548640" cy="548640"/>
          </a:xfrm>
          <a:prstGeom prst="roundRect">
            <a:avLst>
              <a:gd name="adj" fmla="val 16667"/>
            </a:avLst>
          </a:prstGeom>
          <a:solidFill>
            <a:srgbClr val="E07A2E"/>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k</a:t>
            </a:r>
            <a:endParaRPr lang="en-US" sz="2000" dirty="0"/>
          </a:p>
        </p:txBody>
      </p:sp>
      <p:sp>
        <p:nvSpPr>
          <p:cNvPr id="32" name="Text 30"/>
          <p:cNvSpPr/>
          <p:nvPr/>
        </p:nvSpPr>
        <p:spPr>
          <a:xfrm>
            <a:off x="3886200" y="5303520"/>
            <a:ext cx="2103120" cy="457200"/>
          </a:xfrm>
          <a:prstGeom prst="rect">
            <a:avLst/>
          </a:prstGeom>
          <a:noFill/>
          <a:ln/>
        </p:spPr>
        <p:txBody>
          <a:bodyPr wrap="square" lIns="0" tIns="0" rIns="0" bIns="0" rtlCol="0" anchor="ctr"/>
          <a:lstStyle/>
          <a:p>
            <a:pPr indent="0" marL="0">
              <a:buNone/>
            </a:pPr>
            <a:r>
              <a:rPr lang="en-US" sz="1400" i="1" dirty="0">
                <a:solidFill>
                  <a:srgbClr val="5E5A7E"/>
                </a:solidFill>
                <a:latin typeface="Calibri" pitchFamily="34" charset="0"/>
                <a:ea typeface="Calibri" pitchFamily="34" charset="-122"/>
                <a:cs typeface="Calibri" pitchFamily="34" charset="-120"/>
              </a:rPr>
              <a:t>terdengar “ask”</a:t>
            </a:r>
            <a:endParaRPr lang="en-US" sz="1400" dirty="0"/>
          </a:p>
        </p:txBody>
      </p:sp>
      <p:sp>
        <p:nvSpPr>
          <p:cNvPr id="33" name="Shape 31"/>
          <p:cNvSpPr/>
          <p:nvPr/>
        </p:nvSpPr>
        <p:spPr>
          <a:xfrm>
            <a:off x="6537960" y="1691640"/>
            <a:ext cx="566928" cy="566928"/>
          </a:xfrm>
          <a:prstGeom prst="ellipse">
            <a:avLst/>
          </a:prstGeom>
          <a:solidFill>
            <a:srgbClr val="2E9E62"/>
          </a:solidFill>
          <a:ln w="12700">
            <a:solidFill>
              <a:srgbClr val="2E9E62"/>
            </a:solidFill>
            <a:prstDash val="solid"/>
          </a:ln>
        </p:spPr>
      </p:sp>
      <p:pic>
        <p:nvPicPr>
          <p:cNvPr id="34" name="Image 0" descr="preencoded.png">    </p:cNvPr>
          <p:cNvPicPr>
            <a:picLocks noChangeAspect="1"/>
          </p:cNvPicPr>
          <p:nvPr/>
        </p:nvPicPr>
        <p:blipFill>
          <a:blip r:embed="rId2"/>
          <a:stretch>
            <a:fillRect/>
          </a:stretch>
        </p:blipFill>
        <p:spPr>
          <a:xfrm>
            <a:off x="6674023" y="1827703"/>
            <a:ext cx="294803" cy="294803"/>
          </a:xfrm>
          <a:prstGeom prst="rect">
            <a:avLst/>
          </a:prstGeom>
        </p:spPr>
      </p:pic>
      <p:sp>
        <p:nvSpPr>
          <p:cNvPr id="35" name="Text 32"/>
          <p:cNvSpPr/>
          <p:nvPr/>
        </p:nvSpPr>
        <p:spPr>
          <a:xfrm>
            <a:off x="7269480" y="1673352"/>
            <a:ext cx="4389120" cy="365760"/>
          </a:xfrm>
          <a:prstGeom prst="rect">
            <a:avLst/>
          </a:prstGeom>
          <a:noFill/>
          <a:ln/>
        </p:spPr>
        <p:txBody>
          <a:bodyPr wrap="square" lIns="0" tIns="0" rIns="0" bIns="0" rtlCol="0" anchor="t"/>
          <a:lstStyle/>
          <a:p>
            <a:pPr indent="0" marL="0">
              <a:buNone/>
            </a:pPr>
            <a:r>
              <a:rPr lang="en-US" sz="1600" b="1" dirty="0">
                <a:solidFill>
                  <a:srgbClr val="1E1A3C"/>
                </a:solidFill>
                <a:latin typeface="Calibri" pitchFamily="34" charset="0"/>
                <a:ea typeface="Calibri" pitchFamily="34" charset="-122"/>
                <a:cs typeface="Calibri" pitchFamily="34" charset="-120"/>
              </a:rPr>
              <a:t>Bunyinya nggak ada di Bahasa Indonesia</a:t>
            </a:r>
            <a:endParaRPr lang="en-US" sz="1600" dirty="0"/>
          </a:p>
        </p:txBody>
      </p:sp>
      <p:sp>
        <p:nvSpPr>
          <p:cNvPr id="36" name="Text 33"/>
          <p:cNvSpPr/>
          <p:nvPr/>
        </p:nvSpPr>
        <p:spPr>
          <a:xfrm>
            <a:off x="7269480" y="2057400"/>
            <a:ext cx="4389120" cy="1005840"/>
          </a:xfrm>
          <a:prstGeom prst="rect">
            <a:avLst/>
          </a:prstGeom>
          <a:noFill/>
          <a:ln/>
        </p:spPr>
        <p:txBody>
          <a:bodyPr wrap="square" lIns="0" tIns="0" rIns="0" bIns="0" rtlCol="0" anchor="t"/>
          <a:lstStyle/>
          <a:p>
            <a:pPr indent="0" marL="0">
              <a:buNone/>
            </a:pPr>
            <a:r>
              <a:rPr lang="en-US" sz="1300" dirty="0">
                <a:solidFill>
                  <a:srgbClr val="5E5A7E"/>
                </a:solidFill>
                <a:latin typeface="Calibri" pitchFamily="34" charset="0"/>
                <a:ea typeface="Calibri" pitchFamily="34" charset="-122"/>
                <a:cs typeface="Calibri" pitchFamily="34" charset="-120"/>
              </a:rPr>
              <a:t>/θ/, /ð/, /æ/ nggak ada, /v/ sering jadi /f/, dan cluster konsonan di akhir kata jarang. Jadi telinga kita susah nangkep bedanya.</a:t>
            </a:r>
            <a:endParaRPr lang="en-US" sz="1300" dirty="0"/>
          </a:p>
        </p:txBody>
      </p:sp>
      <p:sp>
        <p:nvSpPr>
          <p:cNvPr id="37" name="Shape 34"/>
          <p:cNvSpPr/>
          <p:nvPr/>
        </p:nvSpPr>
        <p:spPr>
          <a:xfrm>
            <a:off x="6537960" y="3200400"/>
            <a:ext cx="566928" cy="566928"/>
          </a:xfrm>
          <a:prstGeom prst="ellipse">
            <a:avLst/>
          </a:prstGeom>
          <a:solidFill>
            <a:srgbClr val="E07A2E"/>
          </a:solidFill>
          <a:ln w="12700">
            <a:solidFill>
              <a:srgbClr val="E07A2E"/>
            </a:solidFill>
            <a:prstDash val="solid"/>
          </a:ln>
        </p:spPr>
      </p:sp>
      <p:pic>
        <p:nvPicPr>
          <p:cNvPr id="38" name="Image 1" descr="preencoded.png">    </p:cNvPr>
          <p:cNvPicPr>
            <a:picLocks noChangeAspect="1"/>
          </p:cNvPicPr>
          <p:nvPr/>
        </p:nvPicPr>
        <p:blipFill>
          <a:blip r:embed="rId3"/>
          <a:stretch>
            <a:fillRect/>
          </a:stretch>
        </p:blipFill>
        <p:spPr>
          <a:xfrm>
            <a:off x="6674023" y="3336463"/>
            <a:ext cx="294803" cy="294803"/>
          </a:xfrm>
          <a:prstGeom prst="rect">
            <a:avLst/>
          </a:prstGeom>
        </p:spPr>
      </p:pic>
      <p:sp>
        <p:nvSpPr>
          <p:cNvPr id="39" name="Text 35"/>
          <p:cNvSpPr/>
          <p:nvPr/>
        </p:nvSpPr>
        <p:spPr>
          <a:xfrm>
            <a:off x="7269480" y="3182112"/>
            <a:ext cx="4389120" cy="365760"/>
          </a:xfrm>
          <a:prstGeom prst="rect">
            <a:avLst/>
          </a:prstGeom>
          <a:noFill/>
          <a:ln/>
        </p:spPr>
        <p:txBody>
          <a:bodyPr wrap="square" lIns="0" tIns="0" rIns="0" bIns="0" rtlCol="0" anchor="t"/>
          <a:lstStyle/>
          <a:p>
            <a:pPr indent="0" marL="0">
              <a:buNone/>
            </a:pPr>
            <a:r>
              <a:rPr lang="en-US" sz="1600" b="1" dirty="0">
                <a:solidFill>
                  <a:srgbClr val="1E1A3C"/>
                </a:solidFill>
                <a:latin typeface="Calibri" pitchFamily="34" charset="0"/>
                <a:ea typeface="Calibri" pitchFamily="34" charset="-122"/>
                <a:cs typeface="Calibri" pitchFamily="34" charset="-120"/>
              </a:rPr>
              <a:t>Speech-to-text biasa bisa nutupin salahnya</a:t>
            </a:r>
            <a:endParaRPr lang="en-US" sz="1600" dirty="0"/>
          </a:p>
        </p:txBody>
      </p:sp>
      <p:sp>
        <p:nvSpPr>
          <p:cNvPr id="40" name="Text 36"/>
          <p:cNvSpPr/>
          <p:nvPr/>
        </p:nvSpPr>
        <p:spPr>
          <a:xfrm>
            <a:off x="7269480" y="3566160"/>
            <a:ext cx="4389120" cy="1005840"/>
          </a:xfrm>
          <a:prstGeom prst="rect">
            <a:avLst/>
          </a:prstGeom>
          <a:noFill/>
          <a:ln/>
        </p:spPr>
        <p:txBody>
          <a:bodyPr wrap="square" lIns="0" tIns="0" rIns="0" bIns="0" rtlCol="0" anchor="t"/>
          <a:lstStyle/>
          <a:p>
            <a:pPr indent="0" marL="0">
              <a:buNone/>
            </a:pPr>
            <a:r>
              <a:rPr lang="en-US" sz="1300" dirty="0">
                <a:solidFill>
                  <a:srgbClr val="5E5A7E"/>
                </a:solidFill>
                <a:latin typeface="Calibri" pitchFamily="34" charset="0"/>
                <a:ea typeface="Calibri" pitchFamily="34" charset="-122"/>
                <a:cs typeface="Calibri" pitchFamily="34" charset="-120"/>
              </a:rPr>
              <a:t>ASR biasa nebak kata yang paling mungkin. “tink” bisa tetap ditulis “think”, jadi salah bunyinya nggak kelihatan.</a:t>
            </a:r>
            <a:endParaRPr lang="en-US" sz="1300" dirty="0"/>
          </a:p>
        </p:txBody>
      </p:sp>
      <p:sp>
        <p:nvSpPr>
          <p:cNvPr id="41" name="Shape 37"/>
          <p:cNvSpPr/>
          <p:nvPr/>
        </p:nvSpPr>
        <p:spPr>
          <a:xfrm>
            <a:off x="6537960" y="4709160"/>
            <a:ext cx="566928" cy="566928"/>
          </a:xfrm>
          <a:prstGeom prst="ellipse">
            <a:avLst/>
          </a:prstGeom>
          <a:solidFill>
            <a:srgbClr val="4C3FB8"/>
          </a:solidFill>
          <a:ln w="12700">
            <a:solidFill>
              <a:srgbClr val="4C3FB8"/>
            </a:solidFill>
            <a:prstDash val="solid"/>
          </a:ln>
        </p:spPr>
      </p:sp>
      <p:pic>
        <p:nvPicPr>
          <p:cNvPr id="42" name="Image 2" descr="preencoded.png">    </p:cNvPr>
          <p:cNvPicPr>
            <a:picLocks noChangeAspect="1"/>
          </p:cNvPicPr>
          <p:nvPr/>
        </p:nvPicPr>
        <p:blipFill>
          <a:blip r:embed="rId4"/>
          <a:stretch>
            <a:fillRect/>
          </a:stretch>
        </p:blipFill>
        <p:spPr>
          <a:xfrm>
            <a:off x="6674023" y="4845223"/>
            <a:ext cx="294803" cy="294803"/>
          </a:xfrm>
          <a:prstGeom prst="rect">
            <a:avLst/>
          </a:prstGeom>
        </p:spPr>
      </p:pic>
      <p:sp>
        <p:nvSpPr>
          <p:cNvPr id="43" name="Text 38"/>
          <p:cNvSpPr/>
          <p:nvPr/>
        </p:nvSpPr>
        <p:spPr>
          <a:xfrm>
            <a:off x="7269480" y="4690872"/>
            <a:ext cx="4389120" cy="365760"/>
          </a:xfrm>
          <a:prstGeom prst="rect">
            <a:avLst/>
          </a:prstGeom>
          <a:noFill/>
          <a:ln/>
        </p:spPr>
        <p:txBody>
          <a:bodyPr wrap="square" lIns="0" tIns="0" rIns="0" bIns="0" rtlCol="0" anchor="t"/>
          <a:lstStyle/>
          <a:p>
            <a:pPr indent="0" marL="0">
              <a:buNone/>
            </a:pPr>
            <a:r>
              <a:rPr lang="en-US" sz="1600" b="1" dirty="0">
                <a:solidFill>
                  <a:srgbClr val="1E1A3C"/>
                </a:solidFill>
                <a:latin typeface="Calibri" pitchFamily="34" charset="0"/>
                <a:ea typeface="Calibri" pitchFamily="34" charset="-122"/>
                <a:cs typeface="Calibri" pitchFamily="34" charset="-120"/>
              </a:rPr>
              <a:t>Latihan sendiri itu membosankan</a:t>
            </a:r>
            <a:endParaRPr lang="en-US" sz="1600" dirty="0"/>
          </a:p>
        </p:txBody>
      </p:sp>
      <p:sp>
        <p:nvSpPr>
          <p:cNvPr id="44" name="Text 39"/>
          <p:cNvSpPr/>
          <p:nvPr/>
        </p:nvSpPr>
        <p:spPr>
          <a:xfrm>
            <a:off x="7269480" y="5074920"/>
            <a:ext cx="4389120" cy="1005840"/>
          </a:xfrm>
          <a:prstGeom prst="rect">
            <a:avLst/>
          </a:prstGeom>
          <a:noFill/>
          <a:ln/>
        </p:spPr>
        <p:txBody>
          <a:bodyPr wrap="square" lIns="0" tIns="0" rIns="0" bIns="0" rtlCol="0" anchor="t"/>
          <a:lstStyle/>
          <a:p>
            <a:pPr indent="0" marL="0">
              <a:buNone/>
            </a:pPr>
            <a:r>
              <a:rPr lang="en-US" sz="1300" dirty="0">
                <a:solidFill>
                  <a:srgbClr val="5E5A7E"/>
                </a:solidFill>
                <a:latin typeface="Calibri" pitchFamily="34" charset="0"/>
                <a:ea typeface="Calibri" pitchFamily="34" charset="-122"/>
                <a:cs typeface="Calibri" pitchFamily="34" charset="-120"/>
              </a:rPr>
              <a:t>Drill berulang tanpa feedback per bunyi bikin cepat bosan, dan nggak semua orang punya tutor.</a:t>
            </a:r>
            <a:endParaRPr lang="en-US" sz="13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2043684" cy="292608"/>
          </a:xfrm>
          <a:prstGeom prst="roundRect">
            <a:avLst>
              <a:gd name="adj" fmla="val 50000"/>
            </a:avLst>
          </a:prstGeom>
          <a:solidFill>
            <a:srgbClr val="2E9E62"/>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 · TARGET USER</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1E1A3C"/>
                </a:solidFill>
                <a:latin typeface="Georgia" pitchFamily="34" charset="0"/>
                <a:ea typeface="Georgia" pitchFamily="34" charset="-122"/>
                <a:cs typeface="Georgia" pitchFamily="34" charset="-120"/>
              </a:rPr>
              <a:t>Siapa yang pakai, dan kapan?</a:t>
            </a:r>
            <a:endParaRPr lang="en-US" sz="30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645920"/>
            <a:ext cx="5120640" cy="4526280"/>
          </a:xfrm>
          <a:prstGeom prst="roundRect">
            <a:avLst>
              <a:gd name="adj" fmla="val 3232"/>
            </a:avLst>
          </a:prstGeom>
          <a:solidFill>
            <a:srgbClr val="2B2166"/>
          </a:solidFill>
          <a:ln w="12700">
            <a:solidFill>
              <a:srgbClr val="2B2166"/>
            </a:solidFill>
            <a:prstDash val="solid"/>
          </a:ln>
          <a:effectLst>
            <a:outerShdw sx="100000" sy="100000" kx="0" ky="0" algn="bl" rotWithShape="0" blurRad="127000" dist="38100" dir="5400000">
              <a:srgbClr val="2A2050">
                <a:alpha val="20000"/>
              </a:srgbClr>
            </a:outerShdw>
          </a:effectLst>
        </p:spPr>
      </p:sp>
      <p:sp>
        <p:nvSpPr>
          <p:cNvPr id="7" name="Shape 5"/>
          <p:cNvSpPr/>
          <p:nvPr/>
        </p:nvSpPr>
        <p:spPr>
          <a:xfrm>
            <a:off x="868680" y="1965960"/>
            <a:ext cx="685800" cy="685800"/>
          </a:xfrm>
          <a:prstGeom prst="ellipse">
            <a:avLst/>
          </a:prstGeom>
          <a:solidFill>
            <a:srgbClr val="E9A92B"/>
          </a:solidFill>
          <a:ln w="12700">
            <a:solidFill>
              <a:srgbClr val="E9A92B"/>
            </a:solidFill>
            <a:prstDash val="solid"/>
          </a:ln>
        </p:spPr>
      </p:sp>
      <p:pic>
        <p:nvPicPr>
          <p:cNvPr id="8" name="Image 0" descr="preencoded.png">    </p:cNvPr>
          <p:cNvPicPr>
            <a:picLocks noChangeAspect="1"/>
          </p:cNvPicPr>
          <p:nvPr/>
        </p:nvPicPr>
        <p:blipFill>
          <a:blip r:embed="rId2"/>
          <a:stretch>
            <a:fillRect/>
          </a:stretch>
        </p:blipFill>
        <p:spPr>
          <a:xfrm>
            <a:off x="1033272" y="2130552"/>
            <a:ext cx="356616" cy="356616"/>
          </a:xfrm>
          <a:prstGeom prst="rect">
            <a:avLst/>
          </a:prstGeom>
        </p:spPr>
      </p:pic>
      <p:sp>
        <p:nvSpPr>
          <p:cNvPr id="9" name="Text 6"/>
          <p:cNvSpPr/>
          <p:nvPr/>
        </p:nvSpPr>
        <p:spPr>
          <a:xfrm>
            <a:off x="1691640" y="2057400"/>
            <a:ext cx="3657600" cy="457200"/>
          </a:xfrm>
          <a:prstGeom prst="rect">
            <a:avLst/>
          </a:prstGeom>
          <a:noFill/>
          <a:ln/>
        </p:spPr>
        <p:txBody>
          <a:bodyPr wrap="square" lIns="0" tIns="0" rIns="0" bIns="0" rtlCol="0" anchor="ctr"/>
          <a:lstStyle/>
          <a:p>
            <a:pPr indent="0" marL="0">
              <a:buNone/>
            </a:pPr>
            <a:r>
              <a:rPr lang="en-US" sz="1400" b="1" spc="100" kern="0" dirty="0">
                <a:solidFill>
                  <a:srgbClr val="FFD34D"/>
                </a:solidFill>
                <a:latin typeface="Calibri" pitchFamily="34" charset="0"/>
                <a:ea typeface="Calibri" pitchFamily="34" charset="-122"/>
                <a:cs typeface="Calibri" pitchFamily="34" charset="-120"/>
              </a:rPr>
              <a:t>Target user</a:t>
            </a:r>
            <a:endParaRPr lang="en-US" sz="1400" dirty="0"/>
          </a:p>
        </p:txBody>
      </p:sp>
      <p:sp>
        <p:nvSpPr>
          <p:cNvPr id="10" name="Text 7"/>
          <p:cNvSpPr/>
          <p:nvPr/>
        </p:nvSpPr>
        <p:spPr>
          <a:xfrm>
            <a:off x="868680" y="2834640"/>
            <a:ext cx="4526280" cy="1828800"/>
          </a:xfrm>
          <a:prstGeom prst="rect">
            <a:avLst/>
          </a:prstGeom>
          <a:noFill/>
          <a:ln/>
        </p:spPr>
        <p:txBody>
          <a:bodyPr wrap="square" lIns="0" tIns="0" rIns="0" bIns="0" rtlCol="0" anchor="t"/>
          <a:lstStyle/>
          <a:p>
            <a:pPr indent="0" marL="0">
              <a:buNone/>
            </a:pPr>
            <a:r>
              <a:rPr lang="en-US" sz="1800" dirty="0">
                <a:solidFill>
                  <a:srgbClr val="FFFFFF"/>
                </a:solidFill>
                <a:latin typeface="Georgia" pitchFamily="34" charset="0"/>
                <a:ea typeface="Georgia" pitchFamily="34" charset="-122"/>
                <a:cs typeface="Georgia" pitchFamily="34" charset="-120"/>
              </a:rPr>
              <a:t>Mahasiswa Indonesia yang lagi belajar speaking English dan latihan pelafalan sendiri tanpa tutor, misalnya buat persiapan presentasi atau wawancara berbahasa Inggris.</a:t>
            </a:r>
            <a:endParaRPr lang="en-US" sz="1800" dirty="0"/>
          </a:p>
        </p:txBody>
      </p:sp>
      <p:sp>
        <p:nvSpPr>
          <p:cNvPr id="11" name="Text 8"/>
          <p:cNvSpPr/>
          <p:nvPr/>
        </p:nvSpPr>
        <p:spPr>
          <a:xfrm>
            <a:off x="868680" y="4983480"/>
            <a:ext cx="4526280" cy="822960"/>
          </a:xfrm>
          <a:prstGeom prst="rect">
            <a:avLst/>
          </a:prstGeom>
          <a:noFill/>
          <a:ln/>
        </p:spPr>
        <p:txBody>
          <a:bodyPr wrap="square" lIns="0" tIns="0" rIns="0" bIns="0" rtlCol="0" anchor="t"/>
          <a:lstStyle/>
          <a:p>
            <a:pPr indent="0" marL="0">
              <a:buNone/>
            </a:pPr>
            <a:r>
              <a:rPr lang="en-US" sz="1250" i="1" dirty="0">
                <a:solidFill>
                  <a:srgbClr val="CFC8F5"/>
                </a:solidFill>
                <a:latin typeface="Calibri" pitchFamily="34" charset="0"/>
                <a:ea typeface="Calibri" pitchFamily="34" charset="-122"/>
                <a:cs typeface="Calibri" pitchFamily="34" charset="-120"/>
              </a:rPr>
              <a:t>Lebih spesifik daripada “students”: user-nya bisa kita temui langsung di kampus untuk user testing.</a:t>
            </a:r>
            <a:endParaRPr lang="en-US" sz="1250" dirty="0"/>
          </a:p>
        </p:txBody>
      </p:sp>
      <p:sp>
        <p:nvSpPr>
          <p:cNvPr id="12" name="Shape 9"/>
          <p:cNvSpPr/>
          <p:nvPr/>
        </p:nvSpPr>
        <p:spPr>
          <a:xfrm>
            <a:off x="5989320" y="1645920"/>
            <a:ext cx="2697480" cy="2148840"/>
          </a:xfrm>
          <a:prstGeom prst="roundRect">
            <a:avLst>
              <a:gd name="adj" fmla="val 5957"/>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13" name="Shape 10"/>
          <p:cNvSpPr/>
          <p:nvPr/>
        </p:nvSpPr>
        <p:spPr>
          <a:xfrm>
            <a:off x="6217920" y="1874520"/>
            <a:ext cx="502920" cy="502920"/>
          </a:xfrm>
          <a:prstGeom prst="ellipse">
            <a:avLst/>
          </a:prstGeom>
          <a:solidFill>
            <a:srgbClr val="E07A2E"/>
          </a:solidFill>
          <a:ln w="12700">
            <a:solidFill>
              <a:srgbClr val="E07A2E"/>
            </a:solidFill>
            <a:prstDash val="solid"/>
          </a:ln>
        </p:spPr>
      </p:sp>
      <p:pic>
        <p:nvPicPr>
          <p:cNvPr id="14" name="Image 1" descr="preencoded.png">    </p:cNvPr>
          <p:cNvPicPr>
            <a:picLocks noChangeAspect="1"/>
          </p:cNvPicPr>
          <p:nvPr/>
        </p:nvPicPr>
        <p:blipFill>
          <a:blip r:embed="rId3"/>
          <a:stretch>
            <a:fillRect/>
          </a:stretch>
        </p:blipFill>
        <p:spPr>
          <a:xfrm>
            <a:off x="6338621" y="1995221"/>
            <a:ext cx="261518" cy="261518"/>
          </a:xfrm>
          <a:prstGeom prst="rect">
            <a:avLst/>
          </a:prstGeom>
        </p:spPr>
      </p:pic>
      <p:sp>
        <p:nvSpPr>
          <p:cNvPr id="15" name="Text 11"/>
          <p:cNvSpPr/>
          <p:nvPr/>
        </p:nvSpPr>
        <p:spPr>
          <a:xfrm>
            <a:off x="6217920" y="2468880"/>
            <a:ext cx="2286000" cy="320040"/>
          </a:xfrm>
          <a:prstGeom prst="rect">
            <a:avLst/>
          </a:prstGeom>
          <a:noFill/>
          <a:ln/>
        </p:spPr>
        <p:txBody>
          <a:bodyPr wrap="square" lIns="0" tIns="0" rIns="0" bIns="0" rtlCol="0" anchor="t"/>
          <a:lstStyle/>
          <a:p>
            <a:pPr indent="0" marL="0">
              <a:buNone/>
            </a:pPr>
            <a:r>
              <a:rPr lang="en-US" sz="1450" b="1" dirty="0">
                <a:solidFill>
                  <a:srgbClr val="1E1A3C"/>
                </a:solidFill>
                <a:latin typeface="Calibri" pitchFamily="34" charset="0"/>
                <a:ea typeface="Calibri" pitchFamily="34" charset="-122"/>
                <a:cs typeface="Calibri" pitchFamily="34" charset="-120"/>
              </a:rPr>
              <a:t>Masalah mereka</a:t>
            </a:r>
            <a:endParaRPr lang="en-US" sz="1450" dirty="0"/>
          </a:p>
        </p:txBody>
      </p:sp>
      <p:sp>
        <p:nvSpPr>
          <p:cNvPr id="16" name="Text 12"/>
          <p:cNvSpPr/>
          <p:nvPr/>
        </p:nvSpPr>
        <p:spPr>
          <a:xfrm>
            <a:off x="6217920" y="2807208"/>
            <a:ext cx="2286000" cy="914400"/>
          </a:xfrm>
          <a:prstGeom prst="rect">
            <a:avLst/>
          </a:prstGeom>
          <a:noFill/>
          <a:ln/>
        </p:spPr>
        <p:txBody>
          <a:bodyPr wrap="square" lIns="0" tIns="0" rIns="0" bIns="0" rtlCol="0" anchor="t"/>
          <a:lstStyle/>
          <a:p>
            <a:pPr indent="0" marL="0">
              <a:buNone/>
            </a:pPr>
            <a:r>
              <a:rPr lang="en-US" sz="1150" dirty="0">
                <a:solidFill>
                  <a:srgbClr val="5E5A7E"/>
                </a:solidFill>
                <a:latin typeface="Calibri" pitchFamily="34" charset="0"/>
                <a:ea typeface="Calibri" pitchFamily="34" charset="-122"/>
                <a:cs typeface="Calibri" pitchFamily="34" charset="-120"/>
              </a:rPr>
              <a:t>Nggak tahu bunyi mana yang salah. Feedback biasanya cuma “kurang tepat”, nggak dijelasin bagian mananya.</a:t>
            </a:r>
            <a:endParaRPr lang="en-US" sz="1150" dirty="0"/>
          </a:p>
        </p:txBody>
      </p:sp>
      <p:sp>
        <p:nvSpPr>
          <p:cNvPr id="17" name="Shape 13"/>
          <p:cNvSpPr/>
          <p:nvPr/>
        </p:nvSpPr>
        <p:spPr>
          <a:xfrm>
            <a:off x="8869680" y="1645920"/>
            <a:ext cx="2697480" cy="2148840"/>
          </a:xfrm>
          <a:prstGeom prst="roundRect">
            <a:avLst>
              <a:gd name="adj" fmla="val 5957"/>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18" name="Shape 14"/>
          <p:cNvSpPr/>
          <p:nvPr/>
        </p:nvSpPr>
        <p:spPr>
          <a:xfrm>
            <a:off x="9098280" y="1874520"/>
            <a:ext cx="502920" cy="502920"/>
          </a:xfrm>
          <a:prstGeom prst="ellipse">
            <a:avLst/>
          </a:prstGeom>
          <a:solidFill>
            <a:srgbClr val="2E9E62"/>
          </a:solidFill>
          <a:ln w="12700">
            <a:solidFill>
              <a:srgbClr val="2E9E62"/>
            </a:solidFill>
            <a:prstDash val="solid"/>
          </a:ln>
        </p:spPr>
      </p:sp>
      <p:pic>
        <p:nvPicPr>
          <p:cNvPr id="19" name="Image 2" descr="preencoded.png">    </p:cNvPr>
          <p:cNvPicPr>
            <a:picLocks noChangeAspect="1"/>
          </p:cNvPicPr>
          <p:nvPr/>
        </p:nvPicPr>
        <p:blipFill>
          <a:blip r:embed="rId4"/>
          <a:stretch>
            <a:fillRect/>
          </a:stretch>
        </p:blipFill>
        <p:spPr>
          <a:xfrm>
            <a:off x="9218981" y="1995221"/>
            <a:ext cx="261518" cy="261518"/>
          </a:xfrm>
          <a:prstGeom prst="rect">
            <a:avLst/>
          </a:prstGeom>
        </p:spPr>
      </p:pic>
      <p:sp>
        <p:nvSpPr>
          <p:cNvPr id="20" name="Text 15"/>
          <p:cNvSpPr/>
          <p:nvPr/>
        </p:nvSpPr>
        <p:spPr>
          <a:xfrm>
            <a:off x="9098280" y="2468880"/>
            <a:ext cx="2286000" cy="320040"/>
          </a:xfrm>
          <a:prstGeom prst="rect">
            <a:avLst/>
          </a:prstGeom>
          <a:noFill/>
          <a:ln/>
        </p:spPr>
        <p:txBody>
          <a:bodyPr wrap="square" lIns="0" tIns="0" rIns="0" bIns="0" rtlCol="0" anchor="t"/>
          <a:lstStyle/>
          <a:p>
            <a:pPr indent="0" marL="0">
              <a:buNone/>
            </a:pPr>
            <a:r>
              <a:rPr lang="en-US" sz="1450" b="1" dirty="0">
                <a:solidFill>
                  <a:srgbClr val="1E1A3C"/>
                </a:solidFill>
                <a:latin typeface="Calibri" pitchFamily="34" charset="0"/>
                <a:ea typeface="Calibri" pitchFamily="34" charset="-122"/>
                <a:cs typeface="Calibri" pitchFamily="34" charset="-120"/>
              </a:rPr>
              <a:t>Gimana SpellSpeak bantu</a:t>
            </a:r>
            <a:endParaRPr lang="en-US" sz="1450" dirty="0"/>
          </a:p>
        </p:txBody>
      </p:sp>
      <p:sp>
        <p:nvSpPr>
          <p:cNvPr id="21" name="Text 16"/>
          <p:cNvSpPr/>
          <p:nvPr/>
        </p:nvSpPr>
        <p:spPr>
          <a:xfrm>
            <a:off x="9098280" y="2807208"/>
            <a:ext cx="2286000" cy="914400"/>
          </a:xfrm>
          <a:prstGeom prst="rect">
            <a:avLst/>
          </a:prstGeom>
          <a:noFill/>
          <a:ln/>
        </p:spPr>
        <p:txBody>
          <a:bodyPr wrap="square" lIns="0" tIns="0" rIns="0" bIns="0" rtlCol="0" anchor="t"/>
          <a:lstStyle/>
          <a:p>
            <a:pPr indent="0" marL="0">
              <a:buNone/>
            </a:pPr>
            <a:r>
              <a:rPr lang="en-US" sz="1150" dirty="0">
                <a:solidFill>
                  <a:srgbClr val="5E5A7E"/>
                </a:solidFill>
                <a:latin typeface="Calibri" pitchFamily="34" charset="0"/>
                <a:ea typeface="Calibri" pitchFamily="34" charset="-122"/>
                <a:cs typeface="Calibri" pitchFamily="34" charset="-120"/>
              </a:rPr>
              <a:t>Tunjukin bunyi per fonem (mis. /θ/ kedengaran /t/) plus tips singkat dalam bahasa Indonesia.</a:t>
            </a:r>
            <a:endParaRPr lang="en-US" sz="1150" dirty="0"/>
          </a:p>
        </p:txBody>
      </p:sp>
      <p:sp>
        <p:nvSpPr>
          <p:cNvPr id="22" name="Shape 17"/>
          <p:cNvSpPr/>
          <p:nvPr/>
        </p:nvSpPr>
        <p:spPr>
          <a:xfrm>
            <a:off x="5989320" y="3950208"/>
            <a:ext cx="2697480" cy="2148840"/>
          </a:xfrm>
          <a:prstGeom prst="roundRect">
            <a:avLst>
              <a:gd name="adj" fmla="val 5957"/>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23" name="Shape 18"/>
          <p:cNvSpPr/>
          <p:nvPr/>
        </p:nvSpPr>
        <p:spPr>
          <a:xfrm>
            <a:off x="6217920" y="4178808"/>
            <a:ext cx="502920" cy="502920"/>
          </a:xfrm>
          <a:prstGeom prst="ellipse">
            <a:avLst/>
          </a:prstGeom>
          <a:solidFill>
            <a:srgbClr val="4C3FB8"/>
          </a:solidFill>
          <a:ln w="12700">
            <a:solidFill>
              <a:srgbClr val="4C3FB8"/>
            </a:solidFill>
            <a:prstDash val="solid"/>
          </a:ln>
        </p:spPr>
      </p:sp>
      <p:pic>
        <p:nvPicPr>
          <p:cNvPr id="24" name="Image 3" descr="preencoded.png">    </p:cNvPr>
          <p:cNvPicPr>
            <a:picLocks noChangeAspect="1"/>
          </p:cNvPicPr>
          <p:nvPr/>
        </p:nvPicPr>
        <p:blipFill>
          <a:blip r:embed="rId5"/>
          <a:stretch>
            <a:fillRect/>
          </a:stretch>
        </p:blipFill>
        <p:spPr>
          <a:xfrm>
            <a:off x="6338621" y="4299509"/>
            <a:ext cx="261518" cy="261518"/>
          </a:xfrm>
          <a:prstGeom prst="rect">
            <a:avLst/>
          </a:prstGeom>
        </p:spPr>
      </p:pic>
      <p:sp>
        <p:nvSpPr>
          <p:cNvPr id="25" name="Text 19"/>
          <p:cNvSpPr/>
          <p:nvPr/>
        </p:nvSpPr>
        <p:spPr>
          <a:xfrm>
            <a:off x="6217920" y="4773168"/>
            <a:ext cx="2286000" cy="320040"/>
          </a:xfrm>
          <a:prstGeom prst="rect">
            <a:avLst/>
          </a:prstGeom>
          <a:noFill/>
          <a:ln/>
        </p:spPr>
        <p:txBody>
          <a:bodyPr wrap="square" lIns="0" tIns="0" rIns="0" bIns="0" rtlCol="0" anchor="t"/>
          <a:lstStyle/>
          <a:p>
            <a:pPr indent="0" marL="0">
              <a:buNone/>
            </a:pPr>
            <a:r>
              <a:rPr lang="en-US" sz="1450" b="1" dirty="0">
                <a:solidFill>
                  <a:srgbClr val="1E1A3C"/>
                </a:solidFill>
                <a:latin typeface="Calibri" pitchFamily="34" charset="0"/>
                <a:ea typeface="Calibri" pitchFamily="34" charset="-122"/>
                <a:cs typeface="Calibri" pitchFamily="34" charset="-120"/>
              </a:rPr>
              <a:t>Skenario pakai</a:t>
            </a:r>
            <a:endParaRPr lang="en-US" sz="1450" dirty="0"/>
          </a:p>
        </p:txBody>
      </p:sp>
      <p:sp>
        <p:nvSpPr>
          <p:cNvPr id="26" name="Text 20"/>
          <p:cNvSpPr/>
          <p:nvPr/>
        </p:nvSpPr>
        <p:spPr>
          <a:xfrm>
            <a:off x="6217920" y="5111496"/>
            <a:ext cx="2286000" cy="914400"/>
          </a:xfrm>
          <a:prstGeom prst="rect">
            <a:avLst/>
          </a:prstGeom>
          <a:noFill/>
          <a:ln/>
        </p:spPr>
        <p:txBody>
          <a:bodyPr wrap="square" lIns="0" tIns="0" rIns="0" bIns="0" rtlCol="0" anchor="t"/>
          <a:lstStyle/>
          <a:p>
            <a:pPr indent="0" marL="0">
              <a:buNone/>
            </a:pPr>
            <a:r>
              <a:rPr lang="en-US" sz="1150" dirty="0">
                <a:solidFill>
                  <a:srgbClr val="5E5A7E"/>
                </a:solidFill>
                <a:latin typeface="Calibri" pitchFamily="34" charset="0"/>
                <a:ea typeface="Calibri" pitchFamily="34" charset="-122"/>
                <a:cs typeface="Calibri" pitchFamily="34" charset="-120"/>
              </a:rPr>
              <a:t>Di laptop sendiri dan offline. Satu ronde ±20 detik, jadi bisa diulang beberapa kali dalam satu sesi singkat.</a:t>
            </a:r>
            <a:endParaRPr lang="en-US" sz="1150" dirty="0"/>
          </a:p>
        </p:txBody>
      </p:sp>
      <p:sp>
        <p:nvSpPr>
          <p:cNvPr id="27" name="Shape 21"/>
          <p:cNvSpPr/>
          <p:nvPr/>
        </p:nvSpPr>
        <p:spPr>
          <a:xfrm>
            <a:off x="8869680" y="3950208"/>
            <a:ext cx="2697480" cy="2148840"/>
          </a:xfrm>
          <a:prstGeom prst="roundRect">
            <a:avLst>
              <a:gd name="adj" fmla="val 5957"/>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28" name="Shape 22"/>
          <p:cNvSpPr/>
          <p:nvPr/>
        </p:nvSpPr>
        <p:spPr>
          <a:xfrm>
            <a:off x="9098280" y="4178808"/>
            <a:ext cx="502920" cy="502920"/>
          </a:xfrm>
          <a:prstGeom prst="ellipse">
            <a:avLst/>
          </a:prstGeom>
          <a:solidFill>
            <a:srgbClr val="1F8F94"/>
          </a:solidFill>
          <a:ln w="12700">
            <a:solidFill>
              <a:srgbClr val="1F8F94"/>
            </a:solidFill>
            <a:prstDash val="solid"/>
          </a:ln>
        </p:spPr>
      </p:sp>
      <p:pic>
        <p:nvPicPr>
          <p:cNvPr id="29" name="Image 4" descr="preencoded.png">    </p:cNvPr>
          <p:cNvPicPr>
            <a:picLocks noChangeAspect="1"/>
          </p:cNvPicPr>
          <p:nvPr/>
        </p:nvPicPr>
        <p:blipFill>
          <a:blip r:embed="rId6"/>
          <a:stretch>
            <a:fillRect/>
          </a:stretch>
        </p:blipFill>
        <p:spPr>
          <a:xfrm>
            <a:off x="9218981" y="4299509"/>
            <a:ext cx="261518" cy="261518"/>
          </a:xfrm>
          <a:prstGeom prst="rect">
            <a:avLst/>
          </a:prstGeom>
        </p:spPr>
      </p:pic>
      <p:sp>
        <p:nvSpPr>
          <p:cNvPr id="30" name="Text 23"/>
          <p:cNvSpPr/>
          <p:nvPr/>
        </p:nvSpPr>
        <p:spPr>
          <a:xfrm>
            <a:off x="9098280" y="4773168"/>
            <a:ext cx="2286000" cy="320040"/>
          </a:xfrm>
          <a:prstGeom prst="rect">
            <a:avLst/>
          </a:prstGeom>
          <a:noFill/>
          <a:ln/>
        </p:spPr>
        <p:txBody>
          <a:bodyPr wrap="square" lIns="0" tIns="0" rIns="0" bIns="0" rtlCol="0" anchor="t"/>
          <a:lstStyle/>
          <a:p>
            <a:pPr indent="0" marL="0">
              <a:buNone/>
            </a:pPr>
            <a:r>
              <a:rPr lang="en-US" sz="1450" b="1" dirty="0">
                <a:solidFill>
                  <a:srgbClr val="1E1A3C"/>
                </a:solidFill>
                <a:latin typeface="Calibri" pitchFamily="34" charset="0"/>
                <a:ea typeface="Calibri" pitchFamily="34" charset="-122"/>
                <a:cs typeface="Calibri" pitchFamily="34" charset="-120"/>
              </a:rPr>
              <a:t>User testing (rencana)</a:t>
            </a:r>
            <a:endParaRPr lang="en-US" sz="1450" dirty="0"/>
          </a:p>
        </p:txBody>
      </p:sp>
      <p:sp>
        <p:nvSpPr>
          <p:cNvPr id="31" name="Text 24"/>
          <p:cNvSpPr/>
          <p:nvPr/>
        </p:nvSpPr>
        <p:spPr>
          <a:xfrm>
            <a:off x="9098280" y="5111496"/>
            <a:ext cx="2286000" cy="914400"/>
          </a:xfrm>
          <a:prstGeom prst="rect">
            <a:avLst/>
          </a:prstGeom>
          <a:noFill/>
          <a:ln/>
        </p:spPr>
        <p:txBody>
          <a:bodyPr wrap="square" lIns="0" tIns="0" rIns="0" bIns="0" rtlCol="0" anchor="t"/>
          <a:lstStyle/>
          <a:p>
            <a:pPr indent="0" marL="0">
              <a:buNone/>
            </a:pPr>
            <a:r>
              <a:rPr lang="en-US" sz="1150" dirty="0">
                <a:solidFill>
                  <a:srgbClr val="5E5A7E"/>
                </a:solidFill>
                <a:latin typeface="Calibri" pitchFamily="34" charset="0"/>
                <a:ea typeface="Calibri" pitchFamily="34" charset="-122"/>
                <a:cs typeface="Calibri" pitchFamily="34" charset="-120"/>
              </a:rPr>
              <a:t>Minimal 5 target user: task, observasi, kuesioner SUS, dan interview. Belum dilaksanakan.</a:t>
            </a:r>
            <a:endParaRPr lang="en-US" sz="11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810512" cy="292608"/>
          </a:xfrm>
          <a:prstGeom prst="roundRect">
            <a:avLst>
              <a:gd name="adj" fmla="val 50000"/>
            </a:avLst>
          </a:prstGeom>
          <a:solidFill>
            <a:srgbClr val="2E9E62"/>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 · SOLUTION</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1E1A3C"/>
                </a:solidFill>
                <a:latin typeface="Georgia" pitchFamily="34" charset="0"/>
                <a:ea typeface="Georgia" pitchFamily="34" charset="-122"/>
                <a:cs typeface="Georgia" pitchFamily="34" charset="-120"/>
              </a:rPr>
              <a:t>Solusinya: latihan pelafalan rasa main game</a:t>
            </a:r>
            <a:endParaRPr lang="en-US" sz="30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475488" y="1572768"/>
            <a:ext cx="6455664" cy="3695319"/>
          </a:xfrm>
          <a:prstGeom prst="roundRect">
            <a:avLst>
              <a:gd name="adj" fmla="val 2969"/>
            </a:avLst>
          </a:prstGeom>
          <a:solidFill>
            <a:srgbClr val="171233"/>
          </a:solidFill>
          <a:ln w="12700">
            <a:solidFill>
              <a:srgbClr val="171233"/>
            </a:solidFill>
            <a:prstDash val="solid"/>
          </a:ln>
          <a:effectLst>
            <a:outerShdw sx="100000" sy="100000" kx="0" ky="0" algn="bl" rotWithShape="0" blurRad="127000" dist="38100" dir="5400000">
              <a:srgbClr val="2A2050">
                <a:alpha val="25000"/>
              </a:srgbClr>
            </a:outerShdw>
          </a:effectLst>
        </p:spPr>
      </p:sp>
      <p:pic>
        <p:nvPicPr>
          <p:cNvPr id="7" name="Image 0" descr="C:\Users\dianr\AppData\Local\Temp\claude\c--SEM-5-SpellSpeak\eda6ec89-068e-4069-9b28-72e31b9a7f93\scratchpad\deck\art\bg_night.png">    </p:cNvPr>
          <p:cNvPicPr>
            <a:picLocks noChangeAspect="1"/>
          </p:cNvPicPr>
          <p:nvPr/>
        </p:nvPicPr>
        <p:blipFill>
          <a:blip r:embed="rId2"/>
          <a:stretch>
            <a:fillRect/>
          </a:stretch>
        </p:blipFill>
        <p:spPr>
          <a:xfrm>
            <a:off x="548640" y="1645920"/>
            <a:ext cx="6309360" cy="3549015"/>
          </a:xfrm>
          <a:prstGeom prst="rect">
            <a:avLst/>
          </a:prstGeom>
        </p:spPr>
      </p:pic>
      <p:pic>
        <p:nvPicPr>
          <p:cNvPr id="8" name="Image 1" descr="C:\Users\dianr\AppData\Local\Temp\claude\c--SEM-5-SpellSpeak\eda6ec89-068e-4069-9b28-72e31b9a7f93\scratchpad\deck\art\heart.png">    </p:cNvPr>
          <p:cNvPicPr>
            <a:picLocks noChangeAspect="1"/>
          </p:cNvPicPr>
          <p:nvPr/>
        </p:nvPicPr>
        <p:blipFill>
          <a:blip r:embed="rId3"/>
          <a:stretch>
            <a:fillRect/>
          </a:stretch>
        </p:blipFill>
        <p:spPr>
          <a:xfrm>
            <a:off x="731520" y="1810512"/>
            <a:ext cx="344689" cy="310896"/>
          </a:xfrm>
          <a:prstGeom prst="rect">
            <a:avLst/>
          </a:prstGeom>
        </p:spPr>
      </p:pic>
      <p:pic>
        <p:nvPicPr>
          <p:cNvPr id="9" name="Image 2" descr="C:\Users\dianr\AppData\Local\Temp\claude\c--SEM-5-SpellSpeak\eda6ec89-068e-4069-9b28-72e31b9a7f93\scratchpad\deck\art\heart.png">    </p:cNvPr>
          <p:cNvPicPr>
            <a:picLocks noChangeAspect="1"/>
          </p:cNvPicPr>
          <p:nvPr/>
        </p:nvPicPr>
        <p:blipFill>
          <a:blip r:embed="rId4"/>
          <a:stretch>
            <a:fillRect/>
          </a:stretch>
        </p:blipFill>
        <p:spPr>
          <a:xfrm>
            <a:off x="1115568" y="1810512"/>
            <a:ext cx="344689" cy="310896"/>
          </a:xfrm>
          <a:prstGeom prst="rect">
            <a:avLst/>
          </a:prstGeom>
        </p:spPr>
      </p:pic>
      <p:pic>
        <p:nvPicPr>
          <p:cNvPr id="10" name="Image 3" descr="C:\Users\dianr\AppData\Local\Temp\claude\c--SEM-5-SpellSpeak\eda6ec89-068e-4069-9b28-72e31b9a7f93\scratchpad\deck\art\heart.png">    </p:cNvPr>
          <p:cNvPicPr>
            <a:picLocks noChangeAspect="1"/>
          </p:cNvPicPr>
          <p:nvPr/>
        </p:nvPicPr>
        <p:blipFill>
          <a:blip r:embed="rId5"/>
          <a:stretch>
            <a:fillRect/>
          </a:stretch>
        </p:blipFill>
        <p:spPr>
          <a:xfrm>
            <a:off x="1499616" y="1810512"/>
            <a:ext cx="344689" cy="310896"/>
          </a:xfrm>
          <a:prstGeom prst="rect">
            <a:avLst/>
          </a:prstGeom>
        </p:spPr>
      </p:pic>
      <p:pic>
        <p:nvPicPr>
          <p:cNvPr id="11" name="Image 4" descr="C:\Users\dianr\AppData\Local\Temp\claude\c--SEM-5-SpellSpeak\eda6ec89-068e-4069-9b28-72e31b9a7f93\scratchpad\deck\art\px_think.png">    </p:cNvPr>
          <p:cNvPicPr>
            <a:picLocks noChangeAspect="1"/>
          </p:cNvPicPr>
          <p:nvPr/>
        </p:nvPicPr>
        <p:blipFill>
          <a:blip r:embed="rId6"/>
          <a:stretch>
            <a:fillRect/>
          </a:stretch>
        </p:blipFill>
        <p:spPr>
          <a:xfrm>
            <a:off x="2606040" y="1920240"/>
            <a:ext cx="1526345" cy="566928"/>
          </a:xfrm>
          <a:prstGeom prst="rect">
            <a:avLst/>
          </a:prstGeom>
        </p:spPr>
      </p:pic>
      <p:sp>
        <p:nvSpPr>
          <p:cNvPr id="12" name="Text 5"/>
          <p:cNvSpPr/>
          <p:nvPr/>
        </p:nvSpPr>
        <p:spPr>
          <a:xfrm>
            <a:off x="2651760" y="2514600"/>
            <a:ext cx="2194560" cy="292608"/>
          </a:xfrm>
          <a:prstGeom prst="rect">
            <a:avLst/>
          </a:prstGeom>
          <a:noFill/>
          <a:ln/>
        </p:spPr>
        <p:txBody>
          <a:bodyPr wrap="square" lIns="0" tIns="0" rIns="0" bIns="0" rtlCol="0" anchor="ctr"/>
          <a:lstStyle/>
          <a:p>
            <a:pPr algn="ctr" indent="0" marL="0">
              <a:buNone/>
            </a:pPr>
            <a:r>
              <a:rPr lang="en-US" sz="1400" dirty="0">
                <a:solidFill>
                  <a:srgbClr val="E9FFFB"/>
                </a:solidFill>
                <a:latin typeface="Calibri" pitchFamily="34" charset="0"/>
                <a:ea typeface="Calibri" pitchFamily="34" charset="-122"/>
                <a:cs typeface="Calibri" pitchFamily="34" charset="-120"/>
              </a:rPr>
              <a:t>/θɪŋk/</a:t>
            </a:r>
            <a:endParaRPr lang="en-US" sz="1400" dirty="0"/>
          </a:p>
        </p:txBody>
      </p:sp>
      <p:pic>
        <p:nvPicPr>
          <p:cNvPr id="13" name="Image 5" descr="C:\Users\dianr\AppData\Local\Temp\claude\c--SEM-5-SpellSpeak\eda6ec89-068e-4069-9b28-72e31b9a7f93\scratchpad\deck\art\cat_cast.png">    </p:cNvPr>
          <p:cNvPicPr>
            <a:picLocks noChangeAspect="1"/>
          </p:cNvPicPr>
          <p:nvPr/>
        </p:nvPicPr>
        <p:blipFill>
          <a:blip r:embed="rId7"/>
          <a:stretch>
            <a:fillRect/>
          </a:stretch>
        </p:blipFill>
        <p:spPr>
          <a:xfrm>
            <a:off x="685800" y="2971800"/>
            <a:ext cx="2103120" cy="2103120"/>
          </a:xfrm>
          <a:prstGeom prst="rect">
            <a:avLst/>
          </a:prstGeom>
        </p:spPr>
      </p:pic>
      <p:pic>
        <p:nvPicPr>
          <p:cNvPr id="14" name="Image 6" descr="C:\Users\dianr\AppData\Local\Temp\claude\c--SEM-5-SpellSpeak\eda6ec89-068e-4069-9b28-72e31b9a7f93\scratchpad\deck\art\ghoul0.png">    </p:cNvPr>
          <p:cNvPicPr>
            <a:picLocks noChangeAspect="1"/>
          </p:cNvPicPr>
          <p:nvPr/>
        </p:nvPicPr>
        <p:blipFill>
          <a:blip r:embed="rId8"/>
          <a:stretch>
            <a:fillRect/>
          </a:stretch>
        </p:blipFill>
        <p:spPr>
          <a:xfrm>
            <a:off x="5120640" y="3063240"/>
            <a:ext cx="1333500" cy="1600200"/>
          </a:xfrm>
          <a:prstGeom prst="rect">
            <a:avLst/>
          </a:prstGeom>
        </p:spPr>
      </p:pic>
      <p:sp>
        <p:nvSpPr>
          <p:cNvPr id="15" name="Text 6"/>
          <p:cNvSpPr/>
          <p:nvPr/>
        </p:nvSpPr>
        <p:spPr>
          <a:xfrm>
            <a:off x="2880360" y="4160520"/>
            <a:ext cx="384048" cy="384048"/>
          </a:xfrm>
          <a:prstGeom prst="roundRect">
            <a:avLst>
              <a:gd name="adj" fmla="val 23810"/>
            </a:avLst>
          </a:prstGeom>
          <a:solidFill>
            <a:srgbClr val="E07A2E"/>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θ→t</a:t>
            </a:r>
            <a:endParaRPr lang="en-US" sz="900" dirty="0"/>
          </a:p>
        </p:txBody>
      </p:sp>
      <p:sp>
        <p:nvSpPr>
          <p:cNvPr id="16" name="Text 7"/>
          <p:cNvSpPr/>
          <p:nvPr/>
        </p:nvSpPr>
        <p:spPr>
          <a:xfrm>
            <a:off x="3337560" y="4160520"/>
            <a:ext cx="384048" cy="384048"/>
          </a:xfrm>
          <a:prstGeom prst="roundRect">
            <a:avLst>
              <a:gd name="adj" fmla="val 23810"/>
            </a:avLst>
          </a:prstGeom>
          <a:solidFill>
            <a:srgbClr val="2E9E62"/>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ɪ</a:t>
            </a:r>
            <a:endParaRPr lang="en-US" sz="1500" dirty="0"/>
          </a:p>
        </p:txBody>
      </p:sp>
      <p:sp>
        <p:nvSpPr>
          <p:cNvPr id="17" name="Text 8"/>
          <p:cNvSpPr/>
          <p:nvPr/>
        </p:nvSpPr>
        <p:spPr>
          <a:xfrm>
            <a:off x="3794760" y="4160520"/>
            <a:ext cx="384048" cy="384048"/>
          </a:xfrm>
          <a:prstGeom prst="roundRect">
            <a:avLst>
              <a:gd name="adj" fmla="val 23810"/>
            </a:avLst>
          </a:prstGeom>
          <a:solidFill>
            <a:srgbClr val="2E9E62"/>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ŋ</a:t>
            </a:r>
            <a:endParaRPr lang="en-US" sz="1500" dirty="0"/>
          </a:p>
        </p:txBody>
      </p:sp>
      <p:sp>
        <p:nvSpPr>
          <p:cNvPr id="18" name="Text 9"/>
          <p:cNvSpPr/>
          <p:nvPr/>
        </p:nvSpPr>
        <p:spPr>
          <a:xfrm>
            <a:off x="4251960" y="4160520"/>
            <a:ext cx="384048" cy="384048"/>
          </a:xfrm>
          <a:prstGeom prst="roundRect">
            <a:avLst>
              <a:gd name="adj" fmla="val 23810"/>
            </a:avLst>
          </a:prstGeom>
          <a:solidFill>
            <a:srgbClr val="2E9E62"/>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a:t>
            </a:r>
            <a:endParaRPr lang="en-US" sz="1500" dirty="0"/>
          </a:p>
        </p:txBody>
      </p:sp>
      <p:sp>
        <p:nvSpPr>
          <p:cNvPr id="19" name="Text 10"/>
          <p:cNvSpPr/>
          <p:nvPr/>
        </p:nvSpPr>
        <p:spPr>
          <a:xfrm>
            <a:off x="2697480" y="4636008"/>
            <a:ext cx="2377440" cy="256032"/>
          </a:xfrm>
          <a:prstGeom prst="rect">
            <a:avLst/>
          </a:prstGeom>
          <a:noFill/>
          <a:ln/>
        </p:spPr>
        <p:txBody>
          <a:bodyPr wrap="square" lIns="0" tIns="0" rIns="0" bIns="0" rtlCol="0" anchor="ctr"/>
          <a:lstStyle/>
          <a:p>
            <a:pPr algn="ctr" indent="0" marL="0">
              <a:buNone/>
            </a:pPr>
            <a:r>
              <a:rPr lang="en-US" sz="1100" i="1" dirty="0">
                <a:solidFill>
                  <a:srgbClr val="E9FFFB"/>
                </a:solidFill>
                <a:latin typeface="Calibri" pitchFamily="34" charset="0"/>
                <a:ea typeface="Calibri" pitchFamily="34" charset="-122"/>
                <a:cs typeface="Calibri" pitchFamily="34" charset="-120"/>
              </a:rPr>
              <a:t>Heard (live): “tink”</a:t>
            </a:r>
            <a:endParaRPr lang="en-US" sz="1100" dirty="0"/>
          </a:p>
        </p:txBody>
      </p:sp>
      <p:sp>
        <p:nvSpPr>
          <p:cNvPr id="20" name="Text 11"/>
          <p:cNvSpPr/>
          <p:nvPr/>
        </p:nvSpPr>
        <p:spPr>
          <a:xfrm>
            <a:off x="548640" y="5359527"/>
            <a:ext cx="6309360" cy="274320"/>
          </a:xfrm>
          <a:prstGeom prst="rect">
            <a:avLst/>
          </a:prstGeom>
          <a:noFill/>
          <a:ln/>
        </p:spPr>
        <p:txBody>
          <a:bodyPr wrap="square" lIns="0" tIns="0" rIns="0" bIns="0" rtlCol="0" anchor="ctr"/>
          <a:lstStyle/>
          <a:p>
            <a:pPr indent="0" marL="0">
              <a:buNone/>
            </a:pPr>
            <a:r>
              <a:rPr lang="en-US" sz="1050" i="1" dirty="0">
                <a:solidFill>
                  <a:srgbClr val="8C87AD"/>
                </a:solidFill>
                <a:latin typeface="Calibri" pitchFamily="34" charset="0"/>
                <a:ea typeface="Calibri" pitchFamily="34" charset="-122"/>
                <a:cs typeface="Calibri" pitchFamily="34" charset="-120"/>
              </a:rPr>
              <a:t>Mockup layar battle, belum screenshot app</a:t>
            </a:r>
            <a:endParaRPr lang="en-US" sz="1050" dirty="0"/>
          </a:p>
        </p:txBody>
      </p:sp>
      <p:sp>
        <p:nvSpPr>
          <p:cNvPr id="21" name="Shape 12"/>
          <p:cNvSpPr/>
          <p:nvPr/>
        </p:nvSpPr>
        <p:spPr>
          <a:xfrm>
            <a:off x="7269480" y="1645920"/>
            <a:ext cx="548640" cy="548640"/>
          </a:xfrm>
          <a:prstGeom prst="ellipse">
            <a:avLst/>
          </a:prstGeom>
          <a:solidFill>
            <a:srgbClr val="2E9E62"/>
          </a:solidFill>
          <a:ln w="12700">
            <a:solidFill>
              <a:srgbClr val="2E9E62"/>
            </a:solidFill>
            <a:prstDash val="solid"/>
          </a:ln>
        </p:spPr>
      </p:sp>
      <p:pic>
        <p:nvPicPr>
          <p:cNvPr id="22" name="Image 7" descr="preencoded.png">    </p:cNvPr>
          <p:cNvPicPr>
            <a:picLocks noChangeAspect="1"/>
          </p:cNvPicPr>
          <p:nvPr/>
        </p:nvPicPr>
        <p:blipFill>
          <a:blip r:embed="rId9"/>
          <a:stretch>
            <a:fillRect/>
          </a:stretch>
        </p:blipFill>
        <p:spPr>
          <a:xfrm>
            <a:off x="7401154" y="1777594"/>
            <a:ext cx="285293" cy="285293"/>
          </a:xfrm>
          <a:prstGeom prst="rect">
            <a:avLst/>
          </a:prstGeom>
        </p:spPr>
      </p:pic>
      <p:sp>
        <p:nvSpPr>
          <p:cNvPr id="23" name="Text 13"/>
          <p:cNvSpPr/>
          <p:nvPr/>
        </p:nvSpPr>
        <p:spPr>
          <a:xfrm>
            <a:off x="8001000" y="1627632"/>
            <a:ext cx="3657600" cy="274320"/>
          </a:xfrm>
          <a:prstGeom prst="rect">
            <a:avLst/>
          </a:prstGeom>
          <a:noFill/>
          <a:ln/>
        </p:spPr>
        <p:txBody>
          <a:bodyPr wrap="square" lIns="0" tIns="0" rIns="0" bIns="0" rtlCol="0" anchor="t"/>
          <a:lstStyle/>
          <a:p>
            <a:pPr indent="0" marL="0">
              <a:buNone/>
            </a:pPr>
            <a:r>
              <a:rPr lang="en-US" sz="1200" b="1" spc="100" kern="0" dirty="0">
                <a:solidFill>
                  <a:srgbClr val="2E9E62"/>
                </a:solidFill>
                <a:latin typeface="Calibri" pitchFamily="34" charset="0"/>
                <a:ea typeface="Calibri" pitchFamily="34" charset="-122"/>
                <a:cs typeface="Calibri" pitchFamily="34" charset="-120"/>
              </a:rPr>
              <a:t>1 · SPEAK</a:t>
            </a:r>
            <a:endParaRPr lang="en-US" sz="1200" dirty="0"/>
          </a:p>
        </p:txBody>
      </p:sp>
      <p:sp>
        <p:nvSpPr>
          <p:cNvPr id="24" name="Text 14"/>
          <p:cNvSpPr/>
          <p:nvPr/>
        </p:nvSpPr>
        <p:spPr>
          <a:xfrm>
            <a:off x="8001000" y="1901952"/>
            <a:ext cx="3657600" cy="621792"/>
          </a:xfrm>
          <a:prstGeom prst="rect">
            <a:avLst/>
          </a:prstGeom>
          <a:noFill/>
          <a:ln/>
        </p:spPr>
        <p:txBody>
          <a:bodyPr wrap="square" lIns="0" tIns="0" rIns="0" bIns="0" rtlCol="0" anchor="t"/>
          <a:lstStyle/>
          <a:p>
            <a:pPr indent="0" marL="0">
              <a:buNone/>
            </a:pPr>
            <a:r>
              <a:rPr lang="en-US" sz="1250" dirty="0">
                <a:solidFill>
                  <a:srgbClr val="1E1A3C"/>
                </a:solidFill>
                <a:latin typeface="Calibri" pitchFamily="34" charset="0"/>
                <a:ea typeface="Calibri" pitchFamily="34" charset="-122"/>
                <a:cs typeface="Calibri" pitchFamily="34" charset="-120"/>
              </a:rPr>
              <a:t>Game kasih kata target. Pemain tekan Cast lalu ngomong.</a:t>
            </a:r>
            <a:endParaRPr lang="en-US" sz="1250" dirty="0"/>
          </a:p>
        </p:txBody>
      </p:sp>
      <p:sp>
        <p:nvSpPr>
          <p:cNvPr id="25" name="Shape 15"/>
          <p:cNvSpPr/>
          <p:nvPr/>
        </p:nvSpPr>
        <p:spPr>
          <a:xfrm>
            <a:off x="7269480" y="2578608"/>
            <a:ext cx="548640" cy="548640"/>
          </a:xfrm>
          <a:prstGeom prst="ellipse">
            <a:avLst/>
          </a:prstGeom>
          <a:solidFill>
            <a:srgbClr val="1F8F94"/>
          </a:solidFill>
          <a:ln w="12700">
            <a:solidFill>
              <a:srgbClr val="1F8F94"/>
            </a:solidFill>
            <a:prstDash val="solid"/>
          </a:ln>
        </p:spPr>
      </p:sp>
      <p:pic>
        <p:nvPicPr>
          <p:cNvPr id="26" name="Image 8" descr="preencoded.png">    </p:cNvPr>
          <p:cNvPicPr>
            <a:picLocks noChangeAspect="1"/>
          </p:cNvPicPr>
          <p:nvPr/>
        </p:nvPicPr>
        <p:blipFill>
          <a:blip r:embed="rId10"/>
          <a:stretch>
            <a:fillRect/>
          </a:stretch>
        </p:blipFill>
        <p:spPr>
          <a:xfrm>
            <a:off x="7401154" y="2710282"/>
            <a:ext cx="285293" cy="285293"/>
          </a:xfrm>
          <a:prstGeom prst="rect">
            <a:avLst/>
          </a:prstGeom>
        </p:spPr>
      </p:pic>
      <p:sp>
        <p:nvSpPr>
          <p:cNvPr id="27" name="Text 16"/>
          <p:cNvSpPr/>
          <p:nvPr/>
        </p:nvSpPr>
        <p:spPr>
          <a:xfrm>
            <a:off x="8001000" y="2560320"/>
            <a:ext cx="3657600" cy="274320"/>
          </a:xfrm>
          <a:prstGeom prst="rect">
            <a:avLst/>
          </a:prstGeom>
          <a:noFill/>
          <a:ln/>
        </p:spPr>
        <p:txBody>
          <a:bodyPr wrap="square" lIns="0" tIns="0" rIns="0" bIns="0" rtlCol="0" anchor="t"/>
          <a:lstStyle/>
          <a:p>
            <a:pPr indent="0" marL="0">
              <a:buNone/>
            </a:pPr>
            <a:r>
              <a:rPr lang="en-US" sz="1200" b="1" spc="100" kern="0" dirty="0">
                <a:solidFill>
                  <a:srgbClr val="1F8F94"/>
                </a:solidFill>
                <a:latin typeface="Calibri" pitchFamily="34" charset="0"/>
                <a:ea typeface="Calibri" pitchFamily="34" charset="-122"/>
                <a:cs typeface="Calibri" pitchFamily="34" charset="-120"/>
              </a:rPr>
              <a:t>2 · LISTEN</a:t>
            </a:r>
            <a:endParaRPr lang="en-US" sz="1200" dirty="0"/>
          </a:p>
        </p:txBody>
      </p:sp>
      <p:sp>
        <p:nvSpPr>
          <p:cNvPr id="28" name="Text 17"/>
          <p:cNvSpPr/>
          <p:nvPr/>
        </p:nvSpPr>
        <p:spPr>
          <a:xfrm>
            <a:off x="8001000" y="2834640"/>
            <a:ext cx="3657600" cy="621792"/>
          </a:xfrm>
          <a:prstGeom prst="rect">
            <a:avLst/>
          </a:prstGeom>
          <a:noFill/>
          <a:ln/>
        </p:spPr>
        <p:txBody>
          <a:bodyPr wrap="square" lIns="0" tIns="0" rIns="0" bIns="0" rtlCol="0" anchor="t"/>
          <a:lstStyle/>
          <a:p>
            <a:pPr indent="0" marL="0">
              <a:buNone/>
            </a:pPr>
            <a:r>
              <a:rPr lang="en-US" sz="1250" dirty="0">
                <a:solidFill>
                  <a:srgbClr val="1E1A3C"/>
                </a:solidFill>
                <a:latin typeface="Calibri" pitchFamily="34" charset="0"/>
                <a:ea typeface="Calibri" pitchFamily="34" charset="-122"/>
                <a:cs typeface="Calibri" pitchFamily="34" charset="-120"/>
              </a:rPr>
              <a:t>Transkrip muncul live waktu ngomong. VAD deteksi kapan selesai.</a:t>
            </a:r>
            <a:endParaRPr lang="en-US" sz="1250" dirty="0"/>
          </a:p>
        </p:txBody>
      </p:sp>
      <p:sp>
        <p:nvSpPr>
          <p:cNvPr id="29" name="Shape 18"/>
          <p:cNvSpPr/>
          <p:nvPr/>
        </p:nvSpPr>
        <p:spPr>
          <a:xfrm>
            <a:off x="7269480" y="3511296"/>
            <a:ext cx="548640" cy="548640"/>
          </a:xfrm>
          <a:prstGeom prst="ellipse">
            <a:avLst/>
          </a:prstGeom>
          <a:solidFill>
            <a:srgbClr val="E9A92B"/>
          </a:solidFill>
          <a:ln w="12700">
            <a:solidFill>
              <a:srgbClr val="E9A92B"/>
            </a:solidFill>
            <a:prstDash val="solid"/>
          </a:ln>
        </p:spPr>
      </p:sp>
      <p:pic>
        <p:nvPicPr>
          <p:cNvPr id="30" name="Image 9" descr="preencoded.png">    </p:cNvPr>
          <p:cNvPicPr>
            <a:picLocks noChangeAspect="1"/>
          </p:cNvPicPr>
          <p:nvPr/>
        </p:nvPicPr>
        <p:blipFill>
          <a:blip r:embed="rId11"/>
          <a:stretch>
            <a:fillRect/>
          </a:stretch>
        </p:blipFill>
        <p:spPr>
          <a:xfrm>
            <a:off x="7401154" y="3642970"/>
            <a:ext cx="285293" cy="285293"/>
          </a:xfrm>
          <a:prstGeom prst="rect">
            <a:avLst/>
          </a:prstGeom>
        </p:spPr>
      </p:pic>
      <p:sp>
        <p:nvSpPr>
          <p:cNvPr id="31" name="Text 19"/>
          <p:cNvSpPr/>
          <p:nvPr/>
        </p:nvSpPr>
        <p:spPr>
          <a:xfrm>
            <a:off x="8001000" y="3493008"/>
            <a:ext cx="3657600" cy="274320"/>
          </a:xfrm>
          <a:prstGeom prst="rect">
            <a:avLst/>
          </a:prstGeom>
          <a:noFill/>
          <a:ln/>
        </p:spPr>
        <p:txBody>
          <a:bodyPr wrap="square" lIns="0" tIns="0" rIns="0" bIns="0" rtlCol="0" anchor="t"/>
          <a:lstStyle/>
          <a:p>
            <a:pPr indent="0" marL="0">
              <a:buNone/>
            </a:pPr>
            <a:r>
              <a:rPr lang="en-US" sz="1200" b="1" spc="100" kern="0" dirty="0">
                <a:solidFill>
                  <a:srgbClr val="E9A92B"/>
                </a:solidFill>
                <a:latin typeface="Calibri" pitchFamily="34" charset="0"/>
                <a:ea typeface="Calibri" pitchFamily="34" charset="-122"/>
                <a:cs typeface="Calibri" pitchFamily="34" charset="-120"/>
              </a:rPr>
              <a:t>3 · JUDGE</a:t>
            </a:r>
            <a:endParaRPr lang="en-US" sz="1200" dirty="0"/>
          </a:p>
        </p:txBody>
      </p:sp>
      <p:sp>
        <p:nvSpPr>
          <p:cNvPr id="32" name="Text 20"/>
          <p:cNvSpPr/>
          <p:nvPr/>
        </p:nvSpPr>
        <p:spPr>
          <a:xfrm>
            <a:off x="8001000" y="3767328"/>
            <a:ext cx="3657600" cy="621792"/>
          </a:xfrm>
          <a:prstGeom prst="rect">
            <a:avLst/>
          </a:prstGeom>
          <a:noFill/>
          <a:ln/>
        </p:spPr>
        <p:txBody>
          <a:bodyPr wrap="square" lIns="0" tIns="0" rIns="0" bIns="0" rtlCol="0" anchor="t"/>
          <a:lstStyle/>
          <a:p>
            <a:pPr indent="0" marL="0">
              <a:buNone/>
            </a:pPr>
            <a:r>
              <a:rPr lang="en-US" sz="1250" dirty="0">
                <a:solidFill>
                  <a:srgbClr val="1E1A3C"/>
                </a:solidFill>
                <a:latin typeface="Calibri" pitchFamily="34" charset="0"/>
                <a:ea typeface="Calibri" pitchFamily="34" charset="-122"/>
                <a:cs typeface="Calibri" pitchFamily="34" charset="-120"/>
              </a:rPr>
              <a:t>Bunyi yang terdengar dibandingkan per fonem dengan target, hasilnya PER.</a:t>
            </a:r>
            <a:endParaRPr lang="en-US" sz="1250" dirty="0"/>
          </a:p>
        </p:txBody>
      </p:sp>
      <p:sp>
        <p:nvSpPr>
          <p:cNvPr id="33" name="Shape 21"/>
          <p:cNvSpPr/>
          <p:nvPr/>
        </p:nvSpPr>
        <p:spPr>
          <a:xfrm>
            <a:off x="7269480" y="4443984"/>
            <a:ext cx="548640" cy="548640"/>
          </a:xfrm>
          <a:prstGeom prst="ellipse">
            <a:avLst/>
          </a:prstGeom>
          <a:solidFill>
            <a:srgbClr val="D64545"/>
          </a:solidFill>
          <a:ln w="12700">
            <a:solidFill>
              <a:srgbClr val="D64545"/>
            </a:solidFill>
            <a:prstDash val="solid"/>
          </a:ln>
        </p:spPr>
      </p:sp>
      <p:pic>
        <p:nvPicPr>
          <p:cNvPr id="34" name="Image 10" descr="preencoded.png">    </p:cNvPr>
          <p:cNvPicPr>
            <a:picLocks noChangeAspect="1"/>
          </p:cNvPicPr>
          <p:nvPr/>
        </p:nvPicPr>
        <p:blipFill>
          <a:blip r:embed="rId12"/>
          <a:stretch>
            <a:fillRect/>
          </a:stretch>
        </p:blipFill>
        <p:spPr>
          <a:xfrm>
            <a:off x="7401154" y="4575658"/>
            <a:ext cx="285293" cy="285293"/>
          </a:xfrm>
          <a:prstGeom prst="rect">
            <a:avLst/>
          </a:prstGeom>
        </p:spPr>
      </p:pic>
      <p:sp>
        <p:nvSpPr>
          <p:cNvPr id="35" name="Text 22"/>
          <p:cNvSpPr/>
          <p:nvPr/>
        </p:nvSpPr>
        <p:spPr>
          <a:xfrm>
            <a:off x="8001000" y="4425696"/>
            <a:ext cx="3657600" cy="274320"/>
          </a:xfrm>
          <a:prstGeom prst="rect">
            <a:avLst/>
          </a:prstGeom>
          <a:noFill/>
          <a:ln/>
        </p:spPr>
        <p:txBody>
          <a:bodyPr wrap="square" lIns="0" tIns="0" rIns="0" bIns="0" rtlCol="0" anchor="t"/>
          <a:lstStyle/>
          <a:p>
            <a:pPr indent="0" marL="0">
              <a:buNone/>
            </a:pPr>
            <a:r>
              <a:rPr lang="en-US" sz="1200" b="1" spc="100" kern="0" dirty="0">
                <a:solidFill>
                  <a:srgbClr val="D64545"/>
                </a:solidFill>
                <a:latin typeface="Calibri" pitchFamily="34" charset="0"/>
                <a:ea typeface="Calibri" pitchFamily="34" charset="-122"/>
                <a:cs typeface="Calibri" pitchFamily="34" charset="-120"/>
              </a:rPr>
              <a:t>4 · HIT</a:t>
            </a:r>
            <a:endParaRPr lang="en-US" sz="1200" dirty="0"/>
          </a:p>
        </p:txBody>
      </p:sp>
      <p:sp>
        <p:nvSpPr>
          <p:cNvPr id="36" name="Text 23"/>
          <p:cNvSpPr/>
          <p:nvPr/>
        </p:nvSpPr>
        <p:spPr>
          <a:xfrm>
            <a:off x="8001000" y="4700016"/>
            <a:ext cx="3657600" cy="621792"/>
          </a:xfrm>
          <a:prstGeom prst="rect">
            <a:avLst/>
          </a:prstGeom>
          <a:noFill/>
          <a:ln/>
        </p:spPr>
        <p:txBody>
          <a:bodyPr wrap="square" lIns="0" tIns="0" rIns="0" bIns="0" rtlCol="0" anchor="t"/>
          <a:lstStyle/>
          <a:p>
            <a:pPr indent="0" marL="0">
              <a:buNone/>
            </a:pPr>
            <a:r>
              <a:rPr lang="en-US" sz="1250" dirty="0">
                <a:solidFill>
                  <a:srgbClr val="1E1A3C"/>
                </a:solidFill>
                <a:latin typeface="Calibri" pitchFamily="34" charset="0"/>
                <a:ea typeface="Calibri" pitchFamily="34" charset="-122"/>
                <a:cs typeface="Calibri" pitchFamily="34" charset="-120"/>
              </a:rPr>
              <a:t>Bunyinya pas, monster kena damage. Kalau salah, rune oranye/merah keluar plus tips, dan ghoul maju.</a:t>
            </a:r>
            <a:endParaRPr lang="en-US" sz="1250" dirty="0"/>
          </a:p>
        </p:txBody>
      </p:sp>
      <p:sp>
        <p:nvSpPr>
          <p:cNvPr id="37" name="Shape 24"/>
          <p:cNvSpPr/>
          <p:nvPr/>
        </p:nvSpPr>
        <p:spPr>
          <a:xfrm>
            <a:off x="7269480" y="5440680"/>
            <a:ext cx="4389120" cy="731520"/>
          </a:xfrm>
          <a:prstGeom prst="roundRect">
            <a:avLst>
              <a:gd name="adj" fmla="val 17500"/>
            </a:avLst>
          </a:prstGeom>
          <a:solidFill>
            <a:srgbClr val="EEE9FF"/>
          </a:solidFill>
          <a:ln w="12700">
            <a:solidFill>
              <a:srgbClr val="EEE9FF"/>
            </a:solidFill>
            <a:prstDash val="solid"/>
          </a:ln>
        </p:spPr>
      </p:sp>
      <p:sp>
        <p:nvSpPr>
          <p:cNvPr id="38" name="Text 25"/>
          <p:cNvSpPr/>
          <p:nvPr/>
        </p:nvSpPr>
        <p:spPr>
          <a:xfrm>
            <a:off x="7452360" y="5532120"/>
            <a:ext cx="4069080" cy="566928"/>
          </a:xfrm>
          <a:prstGeom prst="rect">
            <a:avLst/>
          </a:prstGeom>
          <a:noFill/>
          <a:ln/>
        </p:spPr>
        <p:txBody>
          <a:bodyPr wrap="square" lIns="0" tIns="0" rIns="0" bIns="0" rtlCol="0" anchor="ctr"/>
          <a:lstStyle/>
          <a:p>
            <a:pPr indent="0" marL="0">
              <a:buNone/>
            </a:pPr>
            <a:r>
              <a:rPr lang="en-US" sz="1250" b="1" dirty="0">
                <a:solidFill>
                  <a:srgbClr val="4C3FB8"/>
                </a:solidFill>
                <a:latin typeface="Calibri" pitchFamily="34" charset="0"/>
                <a:ea typeface="Calibri" pitchFamily="34" charset="-122"/>
                <a:cs typeface="Calibri" pitchFamily="34" charset="-120"/>
              </a:rPr>
              <a:t>Kenapa gamifikasi? </a:t>
            </a:r>
            <a:pPr indent="0" marL="0">
              <a:buNone/>
            </a:pPr>
            <a:r>
              <a:rPr lang="en-US" sz="1250" dirty="0">
                <a:solidFill>
                  <a:srgbClr val="1E1A3C"/>
                </a:solidFill>
                <a:latin typeface="Calibri" pitchFamily="34" charset="0"/>
                <a:ea typeface="Calibri" pitchFamily="34" charset="-122"/>
                <a:cs typeface="Calibri" pitchFamily="34" charset="-120"/>
              </a:rPr>
              <a:t>Biar latihan berulang nggak terasa kayak drill, dan feedback-nya langsung per bunyi.</a:t>
            </a:r>
            <a:endParaRPr lang="en-US" sz="12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2043684" cy="292608"/>
          </a:xfrm>
          <a:prstGeom prst="roundRect">
            <a:avLst>
              <a:gd name="adj" fmla="val 50000"/>
            </a:avLst>
          </a:prstGeom>
          <a:solidFill>
            <a:srgbClr val="2E9E62"/>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 · GAME DESIGN</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2700" b="1" dirty="0">
                <a:solidFill>
                  <a:srgbClr val="1E1A3C"/>
                </a:solidFill>
                <a:latin typeface="Georgia" pitchFamily="34" charset="0"/>
                <a:ea typeface="Georgia" pitchFamily="34" charset="-122"/>
                <a:cs typeface="Georgia" pitchFamily="34" charset="-120"/>
              </a:rPr>
              <a:t>Dunia game: kucing penyihir selamatkan temannya</a:t>
            </a:r>
            <a:endParaRPr lang="en-US" sz="27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7</a:t>
            </a:r>
            <a:endParaRPr lang="en-US" sz="900" dirty="0"/>
          </a:p>
        </p:txBody>
      </p:sp>
      <p:sp>
        <p:nvSpPr>
          <p:cNvPr id="6" name="Text 4"/>
          <p:cNvSpPr/>
          <p:nvPr/>
        </p:nvSpPr>
        <p:spPr>
          <a:xfrm>
            <a:off x="548640" y="1554480"/>
            <a:ext cx="11064240" cy="457200"/>
          </a:xfrm>
          <a:prstGeom prst="rect">
            <a:avLst/>
          </a:prstGeom>
          <a:noFill/>
          <a:ln/>
        </p:spPr>
        <p:txBody>
          <a:bodyPr wrap="square" lIns="0" tIns="0" rIns="0" bIns="0" rtlCol="0" anchor="t"/>
          <a:lstStyle/>
          <a:p>
            <a:pPr indent="0" marL="0">
              <a:buNone/>
            </a:pPr>
            <a:r>
              <a:rPr lang="en-US" sz="1500" i="1" dirty="0">
                <a:solidFill>
                  <a:srgbClr val="5E5A7E"/>
                </a:solidFill>
                <a:latin typeface="Calibri" pitchFamily="34" charset="0"/>
                <a:ea typeface="Calibri" pitchFamily="34" charset="-122"/>
                <a:cs typeface="Calibri" pitchFamily="34" charset="-120"/>
              </a:rPr>
              <a:t>Kucing penyihir berkelana di hutan buat ngumpulin soul dua temannya yang ditangkap, sambil melawan ghoul pakai kata-kata spell.</a:t>
            </a:r>
            <a:endParaRPr lang="en-US" sz="1500" dirty="0"/>
          </a:p>
        </p:txBody>
      </p:sp>
      <p:sp>
        <p:nvSpPr>
          <p:cNvPr id="7" name="Shape 5"/>
          <p:cNvSpPr/>
          <p:nvPr/>
        </p:nvSpPr>
        <p:spPr>
          <a:xfrm>
            <a:off x="548640" y="2194560"/>
            <a:ext cx="2606040" cy="3977640"/>
          </a:xfrm>
          <a:prstGeom prst="roundRect">
            <a:avLst>
              <a:gd name="adj" fmla="val 4912"/>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pic>
        <p:nvPicPr>
          <p:cNvPr id="8" name="Image 0" descr="C:\Users\dianr\AppData\Local\Temp\claude\c--SEM-5-SpellSpeak\eda6ec89-068e-4069-9b28-72e31b9a7f93\scratchpad\deck\art\bg_day.png">    </p:cNvPr>
          <p:cNvPicPr>
            <a:picLocks noChangeAspect="1"/>
          </p:cNvPicPr>
          <p:nvPr/>
        </p:nvPicPr>
        <p:blipFill>
          <a:blip r:embed="rId2"/>
          <a:srcRect l="0" r="0" t="0" b="0"/>
          <a:stretch/>
        </p:blipFill>
        <p:spPr>
          <a:xfrm>
            <a:off x="658368" y="2304288"/>
            <a:ext cx="2386584" cy="2057400"/>
          </a:xfrm>
          <a:prstGeom prst="rect">
            <a:avLst/>
          </a:prstGeom>
        </p:spPr>
      </p:pic>
      <p:pic>
        <p:nvPicPr>
          <p:cNvPr id="9" name="Image 1" descr="C:\Users\dianr\AppData\Local\Temp\claude\c--SEM-5-SpellSpeak\eda6ec89-068e-4069-9b28-72e31b9a7f93\scratchpad\deck\art\ghoul0.png">    </p:cNvPr>
          <p:cNvPicPr>
            <a:picLocks noChangeAspect="1"/>
          </p:cNvPicPr>
          <p:nvPr/>
        </p:nvPicPr>
        <p:blipFill>
          <a:blip r:embed="rId3"/>
          <a:stretch>
            <a:fillRect/>
          </a:stretch>
        </p:blipFill>
        <p:spPr>
          <a:xfrm>
            <a:off x="1234440" y="2788920"/>
            <a:ext cx="1219200" cy="1463040"/>
          </a:xfrm>
          <a:prstGeom prst="rect">
            <a:avLst/>
          </a:prstGeom>
        </p:spPr>
      </p:pic>
      <p:sp>
        <p:nvSpPr>
          <p:cNvPr id="10" name="Text 6"/>
          <p:cNvSpPr/>
          <p:nvPr/>
        </p:nvSpPr>
        <p:spPr>
          <a:xfrm>
            <a:off x="731520" y="4526280"/>
            <a:ext cx="2286000" cy="320040"/>
          </a:xfrm>
          <a:prstGeom prst="rect">
            <a:avLst/>
          </a:prstGeom>
          <a:noFill/>
          <a:ln/>
        </p:spPr>
        <p:txBody>
          <a:bodyPr wrap="square" lIns="0" tIns="0" rIns="0" bIns="0" rtlCol="0" anchor="t"/>
          <a:lstStyle/>
          <a:p>
            <a:pPr indent="0" marL="0">
              <a:buNone/>
            </a:pPr>
            <a:r>
              <a:rPr lang="en-US" sz="1400" b="1" dirty="0">
                <a:solidFill>
                  <a:srgbClr val="2E9E62"/>
                </a:solidFill>
                <a:latin typeface="Calibri" pitchFamily="34" charset="0"/>
                <a:ea typeface="Calibri" pitchFamily="34" charset="-122"/>
                <a:cs typeface="Calibri" pitchFamily="34" charset="-120"/>
              </a:rPr>
              <a:t>Stage 1 · Hutan siang</a:t>
            </a:r>
            <a:endParaRPr lang="en-US" sz="1400" dirty="0"/>
          </a:p>
        </p:txBody>
      </p:sp>
      <p:sp>
        <p:nvSpPr>
          <p:cNvPr id="11" name="Text 7"/>
          <p:cNvSpPr/>
          <p:nvPr/>
        </p:nvSpPr>
        <p:spPr>
          <a:xfrm>
            <a:off x="731520" y="4873752"/>
            <a:ext cx="2286000" cy="1234440"/>
          </a:xfrm>
          <a:prstGeom prst="rect">
            <a:avLst/>
          </a:prstGeom>
          <a:noFill/>
          <a:ln/>
        </p:spPr>
        <p:txBody>
          <a:bodyPr wrap="square" lIns="0" tIns="0" rIns="0" bIns="0" rtlCol="0" anchor="t"/>
          <a:lstStyle/>
          <a:p>
            <a:pPr indent="0" marL="0">
              <a:buNone/>
            </a:pPr>
            <a:r>
              <a:rPr lang="en-US" sz="1200" dirty="0">
                <a:solidFill>
                  <a:srgbClr val="1E1A3C"/>
                </a:solidFill>
                <a:latin typeface="Calibri" pitchFamily="34" charset="0"/>
                <a:ea typeface="Calibri" pitchFamily="34" charset="-122"/>
                <a:cs typeface="Calibri" pitchFamily="34" charset="-120"/>
              </a:rPr>
              <a:t>Tutorial. Musuhnya ghoul biasa, tempo santai.</a:t>
            </a:r>
            <a:endParaRPr lang="en-US" sz="1200" dirty="0"/>
          </a:p>
        </p:txBody>
      </p:sp>
      <p:sp>
        <p:nvSpPr>
          <p:cNvPr id="12" name="Shape 8"/>
          <p:cNvSpPr/>
          <p:nvPr/>
        </p:nvSpPr>
        <p:spPr>
          <a:xfrm>
            <a:off x="3337560" y="2194560"/>
            <a:ext cx="2606040" cy="3977640"/>
          </a:xfrm>
          <a:prstGeom prst="roundRect">
            <a:avLst>
              <a:gd name="adj" fmla="val 4912"/>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pic>
        <p:nvPicPr>
          <p:cNvPr id="13" name="Image 2" descr="C:\Users\dianr\AppData\Local\Temp\claude\c--SEM-5-SpellSpeak\eda6ec89-068e-4069-9b28-72e31b9a7f93\scratchpad\deck\art\bg_sunset.png">    </p:cNvPr>
          <p:cNvPicPr>
            <a:picLocks noChangeAspect="1"/>
          </p:cNvPicPr>
          <p:nvPr/>
        </p:nvPicPr>
        <p:blipFill>
          <a:blip r:embed="rId4"/>
          <a:srcRect l="0" r="0" t="0" b="0"/>
          <a:stretch/>
        </p:blipFill>
        <p:spPr>
          <a:xfrm>
            <a:off x="3447288" y="2304288"/>
            <a:ext cx="2386584" cy="2057400"/>
          </a:xfrm>
          <a:prstGeom prst="rect">
            <a:avLst/>
          </a:prstGeom>
        </p:spPr>
      </p:pic>
      <p:pic>
        <p:nvPicPr>
          <p:cNvPr id="14" name="Image 3" descr="C:\Users\dianr\AppData\Local\Temp\claude\c--SEM-5-SpellSpeak\eda6ec89-068e-4069-9b28-72e31b9a7f93\scratchpad\deck\art\boss_panda.png">    </p:cNvPr>
          <p:cNvPicPr>
            <a:picLocks noChangeAspect="1"/>
          </p:cNvPicPr>
          <p:nvPr/>
        </p:nvPicPr>
        <p:blipFill>
          <a:blip r:embed="rId5"/>
          <a:stretch>
            <a:fillRect/>
          </a:stretch>
        </p:blipFill>
        <p:spPr>
          <a:xfrm>
            <a:off x="4023360" y="2788920"/>
            <a:ext cx="1330036" cy="1463040"/>
          </a:xfrm>
          <a:prstGeom prst="rect">
            <a:avLst/>
          </a:prstGeom>
        </p:spPr>
      </p:pic>
      <p:pic>
        <p:nvPicPr>
          <p:cNvPr id="15" name="Image 4" descr="C:\Users\dianr\AppData\Local\Temp\claude\c--SEM-5-SpellSpeak\eda6ec89-068e-4069-9b28-72e31b9a7f93\scratchpad\deck\art\soul_pink.png">    </p:cNvPr>
          <p:cNvPicPr>
            <a:picLocks noChangeAspect="1"/>
          </p:cNvPicPr>
          <p:nvPr/>
        </p:nvPicPr>
        <p:blipFill>
          <a:blip r:embed="rId6"/>
          <a:stretch>
            <a:fillRect/>
          </a:stretch>
        </p:blipFill>
        <p:spPr>
          <a:xfrm>
            <a:off x="5166360" y="2395728"/>
            <a:ext cx="515389" cy="566928"/>
          </a:xfrm>
          <a:prstGeom prst="rect">
            <a:avLst/>
          </a:prstGeom>
        </p:spPr>
      </p:pic>
      <p:sp>
        <p:nvSpPr>
          <p:cNvPr id="16" name="Text 9"/>
          <p:cNvSpPr/>
          <p:nvPr/>
        </p:nvSpPr>
        <p:spPr>
          <a:xfrm>
            <a:off x="3520440" y="4526280"/>
            <a:ext cx="2286000" cy="320040"/>
          </a:xfrm>
          <a:prstGeom prst="rect">
            <a:avLst/>
          </a:prstGeom>
          <a:noFill/>
          <a:ln/>
        </p:spPr>
        <p:txBody>
          <a:bodyPr wrap="square" lIns="0" tIns="0" rIns="0" bIns="0" rtlCol="0" anchor="t"/>
          <a:lstStyle/>
          <a:p>
            <a:pPr indent="0" marL="0">
              <a:buNone/>
            </a:pPr>
            <a:r>
              <a:rPr lang="en-US" sz="1400" b="1" dirty="0">
                <a:solidFill>
                  <a:srgbClr val="E07A2E"/>
                </a:solidFill>
                <a:latin typeface="Calibri" pitchFamily="34" charset="0"/>
                <a:ea typeface="Calibri" pitchFamily="34" charset="-122"/>
                <a:cs typeface="Calibri" pitchFamily="34" charset="-120"/>
              </a:rPr>
              <a:t>Stage 2 · Hutan sunset</a:t>
            </a:r>
            <a:endParaRPr lang="en-US" sz="1400" dirty="0"/>
          </a:p>
        </p:txBody>
      </p:sp>
      <p:sp>
        <p:nvSpPr>
          <p:cNvPr id="17" name="Text 10"/>
          <p:cNvSpPr/>
          <p:nvPr/>
        </p:nvSpPr>
        <p:spPr>
          <a:xfrm>
            <a:off x="3520440" y="4873752"/>
            <a:ext cx="2286000" cy="1234440"/>
          </a:xfrm>
          <a:prstGeom prst="rect">
            <a:avLst/>
          </a:prstGeom>
          <a:noFill/>
          <a:ln/>
        </p:spPr>
        <p:txBody>
          <a:bodyPr wrap="square" lIns="0" tIns="0" rIns="0" bIns="0" rtlCol="0" anchor="t"/>
          <a:lstStyle/>
          <a:p>
            <a:pPr indent="0" marL="0">
              <a:buNone/>
            </a:pPr>
            <a:r>
              <a:rPr lang="en-US" sz="1200" dirty="0">
                <a:solidFill>
                  <a:srgbClr val="1E1A3C"/>
                </a:solidFill>
                <a:latin typeface="Calibri" pitchFamily="34" charset="0"/>
                <a:ea typeface="Calibri" pitchFamily="34" charset="-122"/>
                <a:cs typeface="Calibri" pitchFamily="34" charset="-120"/>
              </a:rPr>
              <a:t>Ghoul lebih cepat. Boss: ghoul red panda. Kalau menang, soul teman 1 bebas.</a:t>
            </a:r>
            <a:endParaRPr lang="en-US" sz="1200" dirty="0"/>
          </a:p>
        </p:txBody>
      </p:sp>
      <p:sp>
        <p:nvSpPr>
          <p:cNvPr id="18" name="Shape 11"/>
          <p:cNvSpPr/>
          <p:nvPr/>
        </p:nvSpPr>
        <p:spPr>
          <a:xfrm>
            <a:off x="6126480" y="2194560"/>
            <a:ext cx="2606040" cy="3977640"/>
          </a:xfrm>
          <a:prstGeom prst="roundRect">
            <a:avLst>
              <a:gd name="adj" fmla="val 4912"/>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pic>
        <p:nvPicPr>
          <p:cNvPr id="19" name="Image 5" descr="C:\Users\dianr\AppData\Local\Temp\claude\c--SEM-5-SpellSpeak\eda6ec89-068e-4069-9b28-72e31b9a7f93\scratchpad\deck\art\bg_night.png">    </p:cNvPr>
          <p:cNvPicPr>
            <a:picLocks noChangeAspect="1"/>
          </p:cNvPicPr>
          <p:nvPr/>
        </p:nvPicPr>
        <p:blipFill>
          <a:blip r:embed="rId7"/>
          <a:srcRect l="0" r="0" t="0" b="0"/>
          <a:stretch/>
        </p:blipFill>
        <p:spPr>
          <a:xfrm>
            <a:off x="6236208" y="2304288"/>
            <a:ext cx="2386584" cy="2057400"/>
          </a:xfrm>
          <a:prstGeom prst="rect">
            <a:avLst/>
          </a:prstGeom>
        </p:spPr>
      </p:pic>
      <p:pic>
        <p:nvPicPr>
          <p:cNvPr id="20" name="Image 6" descr="C:\Users\dianr\AppData\Local\Temp\claude\c--SEM-5-SpellSpeak\eda6ec89-068e-4069-9b28-72e31b9a7f93\scratchpad\deck\art\boss_fennec.png">    </p:cNvPr>
          <p:cNvPicPr>
            <a:picLocks noChangeAspect="1"/>
          </p:cNvPicPr>
          <p:nvPr/>
        </p:nvPicPr>
        <p:blipFill>
          <a:blip r:embed="rId8"/>
          <a:stretch>
            <a:fillRect/>
          </a:stretch>
        </p:blipFill>
        <p:spPr>
          <a:xfrm>
            <a:off x="6812280" y="2788920"/>
            <a:ext cx="1330036" cy="1463040"/>
          </a:xfrm>
          <a:prstGeom prst="rect">
            <a:avLst/>
          </a:prstGeom>
        </p:spPr>
      </p:pic>
      <p:pic>
        <p:nvPicPr>
          <p:cNvPr id="21" name="Image 7" descr="C:\Users\dianr\AppData\Local\Temp\claude\c--SEM-5-SpellSpeak\eda6ec89-068e-4069-9b28-72e31b9a7f93\scratchpad\deck\art\soul_gold.png">    </p:cNvPr>
          <p:cNvPicPr>
            <a:picLocks noChangeAspect="1"/>
          </p:cNvPicPr>
          <p:nvPr/>
        </p:nvPicPr>
        <p:blipFill>
          <a:blip r:embed="rId9"/>
          <a:stretch>
            <a:fillRect/>
          </a:stretch>
        </p:blipFill>
        <p:spPr>
          <a:xfrm>
            <a:off x="7955280" y="2395728"/>
            <a:ext cx="515389" cy="566928"/>
          </a:xfrm>
          <a:prstGeom prst="rect">
            <a:avLst/>
          </a:prstGeom>
        </p:spPr>
      </p:pic>
      <p:sp>
        <p:nvSpPr>
          <p:cNvPr id="22" name="Text 12"/>
          <p:cNvSpPr/>
          <p:nvPr/>
        </p:nvSpPr>
        <p:spPr>
          <a:xfrm>
            <a:off x="6309360" y="4526280"/>
            <a:ext cx="2286000" cy="320040"/>
          </a:xfrm>
          <a:prstGeom prst="rect">
            <a:avLst/>
          </a:prstGeom>
          <a:noFill/>
          <a:ln/>
        </p:spPr>
        <p:txBody>
          <a:bodyPr wrap="square" lIns="0" tIns="0" rIns="0" bIns="0" rtlCol="0" anchor="t"/>
          <a:lstStyle/>
          <a:p>
            <a:pPr indent="0" marL="0">
              <a:buNone/>
            </a:pPr>
            <a:r>
              <a:rPr lang="en-US" sz="1400" b="1" dirty="0">
                <a:solidFill>
                  <a:srgbClr val="1F8F94"/>
                </a:solidFill>
                <a:latin typeface="Calibri" pitchFamily="34" charset="0"/>
                <a:ea typeface="Calibri" pitchFamily="34" charset="-122"/>
                <a:cs typeface="Calibri" pitchFamily="34" charset="-120"/>
              </a:rPr>
              <a:t>Stage 3 · Hutan malam</a:t>
            </a:r>
            <a:endParaRPr lang="en-US" sz="1400" dirty="0"/>
          </a:p>
        </p:txBody>
      </p:sp>
      <p:sp>
        <p:nvSpPr>
          <p:cNvPr id="23" name="Text 13"/>
          <p:cNvSpPr/>
          <p:nvPr/>
        </p:nvSpPr>
        <p:spPr>
          <a:xfrm>
            <a:off x="6309360" y="4873752"/>
            <a:ext cx="2286000" cy="1234440"/>
          </a:xfrm>
          <a:prstGeom prst="rect">
            <a:avLst/>
          </a:prstGeom>
          <a:noFill/>
          <a:ln/>
        </p:spPr>
        <p:txBody>
          <a:bodyPr wrap="square" lIns="0" tIns="0" rIns="0" bIns="0" rtlCol="0" anchor="t"/>
          <a:lstStyle/>
          <a:p>
            <a:pPr indent="0" marL="0">
              <a:buNone/>
            </a:pPr>
            <a:r>
              <a:rPr lang="en-US" sz="1200" dirty="0">
                <a:solidFill>
                  <a:srgbClr val="1E1A3C"/>
                </a:solidFill>
                <a:latin typeface="Calibri" pitchFamily="34" charset="0"/>
                <a:ea typeface="Calibri" pitchFamily="34" charset="-122"/>
                <a:cs typeface="Calibri" pitchFamily="34" charset="-120"/>
              </a:rPr>
              <a:t>Ghoul lebih banyak. Boss: ghoul fennec dengan lebih banyak kata. Kalau menang, soul teman 2 bebas.</a:t>
            </a:r>
            <a:endParaRPr lang="en-US" sz="1200" dirty="0"/>
          </a:p>
        </p:txBody>
      </p:sp>
      <p:sp>
        <p:nvSpPr>
          <p:cNvPr id="24" name="Shape 14"/>
          <p:cNvSpPr/>
          <p:nvPr/>
        </p:nvSpPr>
        <p:spPr>
          <a:xfrm>
            <a:off x="9052560" y="2194560"/>
            <a:ext cx="2606040" cy="3977640"/>
          </a:xfrm>
          <a:prstGeom prst="roundRect">
            <a:avLst>
              <a:gd name="adj" fmla="val 4912"/>
            </a:avLst>
          </a:prstGeom>
          <a:solidFill>
            <a:srgbClr val="2B2166"/>
          </a:solidFill>
          <a:ln w="12700">
            <a:solidFill>
              <a:srgbClr val="2B2166"/>
            </a:solidFill>
            <a:prstDash val="solid"/>
          </a:ln>
          <a:effectLst>
            <a:outerShdw sx="100000" sy="100000" kx="0" ky="0" algn="bl" rotWithShape="0" blurRad="127000" dist="38100" dir="5400000">
              <a:srgbClr val="2A2050">
                <a:alpha val="14000"/>
              </a:srgbClr>
            </a:outerShdw>
          </a:effectLst>
        </p:spPr>
      </p:sp>
      <p:sp>
        <p:nvSpPr>
          <p:cNvPr id="25" name="Text 15"/>
          <p:cNvSpPr/>
          <p:nvPr/>
        </p:nvSpPr>
        <p:spPr>
          <a:xfrm>
            <a:off x="9281160" y="2377440"/>
            <a:ext cx="2194560" cy="320040"/>
          </a:xfrm>
          <a:prstGeom prst="rect">
            <a:avLst/>
          </a:prstGeom>
          <a:noFill/>
          <a:ln/>
        </p:spPr>
        <p:txBody>
          <a:bodyPr wrap="square" lIns="0" tIns="0" rIns="0" bIns="0" rtlCol="0" anchor="t"/>
          <a:lstStyle/>
          <a:p>
            <a:pPr indent="0" marL="0">
              <a:buNone/>
            </a:pPr>
            <a:r>
              <a:rPr lang="en-US" sz="1400" b="1" dirty="0">
                <a:solidFill>
                  <a:srgbClr val="FFD34D"/>
                </a:solidFill>
                <a:latin typeface="Calibri" pitchFamily="34" charset="0"/>
                <a:ea typeface="Calibri" pitchFamily="34" charset="-122"/>
                <a:cs typeface="Calibri" pitchFamily="34" charset="-120"/>
              </a:rPr>
              <a:t>Aturan main</a:t>
            </a:r>
            <a:endParaRPr lang="en-US" sz="1400" dirty="0"/>
          </a:p>
        </p:txBody>
      </p:sp>
      <p:pic>
        <p:nvPicPr>
          <p:cNvPr id="26" name="Image 8" descr="C:\Users\dianr\AppData\Local\Temp\claude\c--SEM-5-SpellSpeak\eda6ec89-068e-4069-9b28-72e31b9a7f93\scratchpad\deck\art\heart.png">    </p:cNvPr>
          <p:cNvPicPr>
            <a:picLocks noChangeAspect="1"/>
          </p:cNvPicPr>
          <p:nvPr/>
        </p:nvPicPr>
        <p:blipFill>
          <a:blip r:embed="rId10"/>
          <a:stretch>
            <a:fillRect/>
          </a:stretch>
        </p:blipFill>
        <p:spPr>
          <a:xfrm>
            <a:off x="9281160" y="2788920"/>
            <a:ext cx="324413" cy="292608"/>
          </a:xfrm>
          <a:prstGeom prst="rect">
            <a:avLst/>
          </a:prstGeom>
        </p:spPr>
      </p:pic>
      <p:pic>
        <p:nvPicPr>
          <p:cNvPr id="27" name="Image 9" descr="C:\Users\dianr\AppData\Local\Temp\claude\c--SEM-5-SpellSpeak\eda6ec89-068e-4069-9b28-72e31b9a7f93\scratchpad\deck\art\heart.png">    </p:cNvPr>
          <p:cNvPicPr>
            <a:picLocks noChangeAspect="1"/>
          </p:cNvPicPr>
          <p:nvPr/>
        </p:nvPicPr>
        <p:blipFill>
          <a:blip r:embed="rId11"/>
          <a:stretch>
            <a:fillRect/>
          </a:stretch>
        </p:blipFill>
        <p:spPr>
          <a:xfrm>
            <a:off x="9665208" y="2788920"/>
            <a:ext cx="324413" cy="292608"/>
          </a:xfrm>
          <a:prstGeom prst="rect">
            <a:avLst/>
          </a:prstGeom>
        </p:spPr>
      </p:pic>
      <p:pic>
        <p:nvPicPr>
          <p:cNvPr id="28" name="Image 10" descr="C:\Users\dianr\AppData\Local\Temp\claude\c--SEM-5-SpellSpeak\eda6ec89-068e-4069-9b28-72e31b9a7f93\scratchpad\deck\art\heart.png">    </p:cNvPr>
          <p:cNvPicPr>
            <a:picLocks noChangeAspect="1"/>
          </p:cNvPicPr>
          <p:nvPr/>
        </p:nvPicPr>
        <p:blipFill>
          <a:blip r:embed="rId12"/>
          <a:stretch>
            <a:fillRect/>
          </a:stretch>
        </p:blipFill>
        <p:spPr>
          <a:xfrm>
            <a:off x="10049256" y="2788920"/>
            <a:ext cx="324413" cy="292608"/>
          </a:xfrm>
          <a:prstGeom prst="rect">
            <a:avLst/>
          </a:prstGeom>
        </p:spPr>
      </p:pic>
      <p:sp>
        <p:nvSpPr>
          <p:cNvPr id="29" name="Text 16"/>
          <p:cNvSpPr/>
          <p:nvPr/>
        </p:nvSpPr>
        <p:spPr>
          <a:xfrm>
            <a:off x="9281160" y="3246120"/>
            <a:ext cx="2240280" cy="21031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3 heart per stage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Musuh lolos ke kucing: −1 heart (boss −2)</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Heart habis: ulang stage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Boss: kata lebih banyak, harus cepat nyebutnya</a:t>
            </a:r>
            <a:endParaRPr lang="en-US" sz="1200" dirty="0"/>
          </a:p>
        </p:txBody>
      </p:sp>
      <p:sp>
        <p:nvSpPr>
          <p:cNvPr id="30" name="Text 17"/>
          <p:cNvSpPr/>
          <p:nvPr/>
        </p:nvSpPr>
        <p:spPr>
          <a:xfrm>
            <a:off x="9281160" y="5486400"/>
            <a:ext cx="2240280" cy="548640"/>
          </a:xfrm>
          <a:prstGeom prst="rect">
            <a:avLst/>
          </a:prstGeom>
          <a:noFill/>
          <a:ln/>
        </p:spPr>
        <p:txBody>
          <a:bodyPr wrap="square" lIns="0" tIns="0" rIns="0" bIns="0" rtlCol="0" anchor="t"/>
          <a:lstStyle/>
          <a:p>
            <a:pPr indent="0" marL="0">
              <a:buNone/>
            </a:pPr>
            <a:r>
              <a:rPr lang="en-US" sz="1050" i="1" dirty="0">
                <a:solidFill>
                  <a:srgbClr val="CFC8F5"/>
                </a:solidFill>
                <a:latin typeface="Calibri" pitchFamily="34" charset="0"/>
                <a:ea typeface="Calibri" pitchFamily="34" charset="-122"/>
                <a:cs typeface="Calibri" pitchFamily="34" charset="-120"/>
              </a:rPr>
              <a:t>Konsep dari moodboard tim. Aset art lagi dibuat.</a:t>
            </a:r>
            <a:endParaRPr lang="en-US" sz="10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810512" cy="292608"/>
          </a:xfrm>
          <a:prstGeom prst="roundRect">
            <a:avLst>
              <a:gd name="adj" fmla="val 50000"/>
            </a:avLst>
          </a:prstGeom>
          <a:solidFill>
            <a:srgbClr val="2E9E62"/>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 · RESEARCH</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1E1A3C"/>
                </a:solidFill>
                <a:latin typeface="Georgia" pitchFamily="34" charset="0"/>
                <a:ea typeface="Georgia" pitchFamily="34" charset="-122"/>
                <a:cs typeface="Georgia" pitchFamily="34" charset="-120"/>
              </a:rPr>
              <a:t>Riset: pendekatan mana yang paling cocok?</a:t>
            </a:r>
            <a:endParaRPr lang="en-US" sz="30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651760"/>
                <a:gridCol w="3017520"/>
                <a:gridCol w="1737360"/>
                <a:gridCol w="365760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Pendekatan</a:t>
                      </a:r>
                      <a:endParaRPr lang="en-US" sz="120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4C3FB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Cara kerja</a:t>
                      </a:r>
                      <a:endParaRPr lang="en-US" sz="120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4C3FB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Nunjuk bunyi salah?</a:t>
                      </a:r>
                      <a:endParaRPr lang="en-US" sz="120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4C3FB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Catatan buat kami</a:t>
                      </a:r>
                      <a:endParaRPr lang="en-US" sz="120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4C3FB8"/>
                    </a:solidFill>
                  </a:tcPr>
                </a:tc>
              </a:tr>
              <a:tr h="475488">
                <a:tc>
                  <a:txBody>
                    <a:bodyPr/>
                    <a:lstStyle/>
                    <a:p>
                      <a:pPr indent="0" marL="0">
                        <a:buNone/>
                      </a:pPr>
                      <a:r>
                        <a:rPr lang="en-US" sz="1150" b="1" dirty="0">
                          <a:solidFill>
                            <a:srgbClr val="1E1A3C"/>
                          </a:solidFill>
                          <a:latin typeface="Calibri" pitchFamily="34" charset="0"/>
                          <a:ea typeface="Calibri" pitchFamily="34" charset="-122"/>
                          <a:cs typeface="Calibri" pitchFamily="34" charset="-120"/>
                        </a:rPr>
                        <a:t>Speech-to-text biasa</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FFFFFF"/>
                    </a:solidFill>
                  </a:tcPr>
                </a:tc>
                <a:tc>
                  <a:txBody>
                    <a:bodyPr/>
                    <a:lstStyle/>
                    <a:p>
                      <a:pPr indent="0" marL="0">
                        <a:buNone/>
                      </a:pPr>
                      <a:r>
                        <a:rPr lang="en-US" sz="1150" dirty="0">
                          <a:solidFill>
                            <a:srgbClr val="1E1A3C"/>
                          </a:solidFill>
                          <a:latin typeface="Calibri" pitchFamily="34" charset="0"/>
                          <a:ea typeface="Calibri" pitchFamily="34" charset="-122"/>
                          <a:cs typeface="Calibri" pitchFamily="34" charset="-120"/>
                        </a:rPr>
                        <a:t>Audio → teks kata, dibantu language model</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D64545"/>
                          </a:solidFill>
                          <a:latin typeface="Calibri" pitchFamily="34" charset="0"/>
                          <a:ea typeface="Calibri" pitchFamily="34" charset="-122"/>
                          <a:cs typeface="Calibri" pitchFamily="34" charset="-120"/>
                        </a:rPr>
                        <a:t>Nggak</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FFFFFF"/>
                    </a:solidFill>
                  </a:tcPr>
                </a:tc>
                <a:tc>
                  <a:txBody>
                    <a:bodyPr/>
                    <a:lstStyle/>
                    <a:p>
                      <a:pPr indent="0" marL="0">
                        <a:buNone/>
                      </a:pPr>
                      <a:r>
                        <a:rPr lang="en-US" sz="1150" dirty="0">
                          <a:solidFill>
                            <a:srgbClr val="1E1A3C"/>
                          </a:solidFill>
                          <a:latin typeface="Calibri" pitchFamily="34" charset="0"/>
                          <a:ea typeface="Calibri" pitchFamily="34" charset="-122"/>
                          <a:cs typeface="Calibri" pitchFamily="34" charset="-120"/>
                        </a:rPr>
                        <a:t>LM bisa “membetulkan” kata, jadi salah bunyinya ketutup</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E1A3C"/>
                          </a:solidFill>
                          <a:latin typeface="Calibri" pitchFamily="34" charset="0"/>
                          <a:ea typeface="Calibri" pitchFamily="34" charset="-122"/>
                          <a:cs typeface="Calibri" pitchFamily="34" charset="-120"/>
                        </a:rPr>
                        <a:t>Keyword spotting (CNN dari nol)</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FFFFFF"/>
                    </a:solidFill>
                  </a:tcPr>
                </a:tc>
                <a:tc>
                  <a:txBody>
                    <a:bodyPr/>
                    <a:lstStyle/>
                    <a:p>
                      <a:pPr indent="0" marL="0">
                        <a:buNone/>
                      </a:pPr>
                      <a:r>
                        <a:rPr lang="en-US" sz="1150" dirty="0">
                          <a:solidFill>
                            <a:srgbClr val="1E1A3C"/>
                          </a:solidFill>
                          <a:latin typeface="Calibri" pitchFamily="34" charset="0"/>
                          <a:ea typeface="Calibri" pitchFamily="34" charset="-122"/>
                          <a:cs typeface="Calibri" pitchFamily="34" charset="-120"/>
                        </a:rPr>
                        <a:t>Klasifikasi kata dari set tertutup</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D64545"/>
                          </a:solidFill>
                          <a:latin typeface="Calibri" pitchFamily="34" charset="0"/>
                          <a:ea typeface="Calibri" pitchFamily="34" charset="-122"/>
                          <a:cs typeface="Calibri" pitchFamily="34" charset="-120"/>
                        </a:rPr>
                        <a:t>Nggak</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FFFFFF"/>
                    </a:solidFill>
                  </a:tcPr>
                </a:tc>
                <a:tc>
                  <a:txBody>
                    <a:bodyPr/>
                    <a:lstStyle/>
                    <a:p>
                      <a:pPr indent="0" marL="0">
                        <a:buNone/>
                      </a:pPr>
                      <a:r>
                        <a:rPr lang="en-US" sz="1150" dirty="0">
                          <a:solidFill>
                            <a:srgbClr val="1E1A3C"/>
                          </a:solidFill>
                          <a:latin typeface="Calibri" pitchFamily="34" charset="0"/>
                          <a:ea typeface="Calibri" pitchFamily="34" charset="-122"/>
                          <a:cs typeface="Calibri" pitchFamily="34" charset="-120"/>
                        </a:rPr>
                        <a:t>Cuma tahu kata apa, bukan bunyi mana. Kami pakai sebagai baseline scratch (NB02)</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1E1A3C"/>
                          </a:solidFill>
                          <a:latin typeface="Calibri" pitchFamily="34" charset="0"/>
                          <a:ea typeface="Calibri" pitchFamily="34" charset="-122"/>
                          <a:cs typeface="Calibri" pitchFamily="34" charset="-120"/>
                        </a:rPr>
                        <a:t>Phoneme recognition CTC + PER  ★ dipilih</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EAF7EF"/>
                    </a:solidFill>
                  </a:tcPr>
                </a:tc>
                <a:tc>
                  <a:txBody>
                    <a:bodyPr/>
                    <a:lstStyle/>
                    <a:p>
                      <a:pPr indent="0" marL="0">
                        <a:buNone/>
                      </a:pPr>
                      <a:r>
                        <a:rPr lang="en-US" sz="1150" dirty="0">
                          <a:solidFill>
                            <a:srgbClr val="1E1A3C"/>
                          </a:solidFill>
                          <a:latin typeface="Calibri" pitchFamily="34" charset="0"/>
                          <a:ea typeface="Calibri" pitchFamily="34" charset="-122"/>
                          <a:cs typeface="Calibri" pitchFamily="34" charset="-120"/>
                        </a:rPr>
                        <a:t>Audio → urutan fonem, lalu dibandingkan dengan fonem target</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EAF7EF"/>
                    </a:solidFill>
                  </a:tcPr>
                </a:tc>
                <a:tc>
                  <a:txBody>
                    <a:bodyPr/>
                    <a:lstStyle/>
                    <a:p>
                      <a:pPr indent="0" marL="0">
                        <a:buNone/>
                      </a:pPr>
                      <a:r>
                        <a:rPr lang="en-US" sz="1150" b="1" dirty="0">
                          <a:solidFill>
                            <a:srgbClr val="2E9E62"/>
                          </a:solidFill>
                          <a:latin typeface="Calibri" pitchFamily="34" charset="0"/>
                          <a:ea typeface="Calibri" pitchFamily="34" charset="-122"/>
                          <a:cs typeface="Calibri" pitchFamily="34" charset="-120"/>
                        </a:rPr>
                        <a:t>Ya, per fonem</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FFFFFF"/>
                    </a:solidFill>
                  </a:tcPr>
                </a:tc>
                <a:tc>
                  <a:txBody>
                    <a:bodyPr/>
                    <a:lstStyle/>
                    <a:p>
                      <a:pPr indent="0" marL="0">
                        <a:buNone/>
                      </a:pPr>
                      <a:r>
                        <a:rPr lang="en-US" sz="1150" dirty="0">
                          <a:solidFill>
                            <a:srgbClr val="1E1A3C"/>
                          </a:solidFill>
                          <a:latin typeface="Calibri" pitchFamily="34" charset="0"/>
                          <a:ea typeface="Calibri" pitchFamily="34" charset="-122"/>
                          <a:cs typeface="Calibri" pitchFamily="34" charset="-120"/>
                        </a:rPr>
                        <a:t>Zero-shot, tanpa LM, alfabet sama dengan espeak-ng</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EAF7EF"/>
                    </a:solidFill>
                  </a:tcPr>
                </a:tc>
              </a:tr>
              <a:tr h="475488">
                <a:tc>
                  <a:txBody>
                    <a:bodyPr/>
                    <a:lstStyle/>
                    <a:p>
                      <a:pPr indent="0" marL="0">
                        <a:buNone/>
                      </a:pPr>
                      <a:r>
                        <a:rPr lang="en-US" sz="1150" b="1" dirty="0">
                          <a:solidFill>
                            <a:srgbClr val="1E1A3C"/>
                          </a:solidFill>
                          <a:latin typeface="Calibri" pitchFamily="34" charset="0"/>
                          <a:ea typeface="Calibri" pitchFamily="34" charset="-122"/>
                          <a:cs typeface="Calibri" pitchFamily="34" charset="-120"/>
                        </a:rPr>
                        <a:t>GOP / forced alignment</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FFFFFF"/>
                    </a:solidFill>
                  </a:tcPr>
                </a:tc>
                <a:tc>
                  <a:txBody>
                    <a:bodyPr/>
                    <a:lstStyle/>
                    <a:p>
                      <a:pPr indent="0" marL="0">
                        <a:buNone/>
                      </a:pPr>
                      <a:r>
                        <a:rPr lang="en-US" sz="1150" dirty="0">
                          <a:solidFill>
                            <a:srgbClr val="1E1A3C"/>
                          </a:solidFill>
                          <a:latin typeface="Calibri" pitchFamily="34" charset="0"/>
                          <a:ea typeface="Calibri" pitchFamily="34" charset="-122"/>
                          <a:cs typeface="Calibri" pitchFamily="34" charset="-120"/>
                        </a:rPr>
                        <a:t>Skor tiap fonem dari posterior model</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FFFFFF"/>
                    </a:solidFill>
                  </a:tcPr>
                </a:tc>
                <a:tc>
                  <a:txBody>
                    <a:bodyPr/>
                    <a:lstStyle/>
                    <a:p>
                      <a:pPr indent="0" marL="0">
                        <a:buNone/>
                      </a:pPr>
                      <a:r>
                        <a:rPr lang="en-US" sz="1150" b="1" dirty="0">
                          <a:solidFill>
                            <a:srgbClr val="2E9E62"/>
                          </a:solidFill>
                          <a:latin typeface="Calibri" pitchFamily="34" charset="0"/>
                          <a:ea typeface="Calibri" pitchFamily="34" charset="-122"/>
                          <a:cs typeface="Calibri" pitchFamily="34" charset="-120"/>
                        </a:rPr>
                        <a:t>Ya, lebih detail</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FFFFFF"/>
                    </a:solidFill>
                  </a:tcPr>
                </a:tc>
                <a:tc>
                  <a:txBody>
                    <a:bodyPr/>
                    <a:lstStyle/>
                    <a:p>
                      <a:pPr indent="0" marL="0">
                        <a:buNone/>
                      </a:pPr>
                      <a:r>
                        <a:rPr lang="en-US" sz="1150" dirty="0">
                          <a:solidFill>
                            <a:srgbClr val="1E1A3C"/>
                          </a:solidFill>
                          <a:latin typeface="Calibri" pitchFamily="34" charset="0"/>
                          <a:ea typeface="Calibri" pitchFamily="34" charset="-122"/>
                          <a:cs typeface="Calibri" pitchFamily="34" charset="-120"/>
                        </a:rPr>
                        <a:t>Lebih kompleks, jadi stretch goal</a:t>
                      </a:r>
                      <a:endParaRPr lang="en-US" sz="1150" dirty="0">
                        <a:latin typeface="Calibri" charset="0"/>
                        <a:ea typeface="Calibri" charset="0"/>
                        <a:cs typeface="Calibri" charset="0"/>
                      </a:endParaRPr>
                    </a:p>
                  </a:txBody>
                  <a:tcPr marL="101600" marR="101600" marT="50800" marB="50800" anchor="ctr">
                    <a:lnL w="12700" cap="flat" cmpd="sng" algn="ctr">
                      <a:solidFill>
                        <a:srgbClr val="E4DEF7"/>
                      </a:solidFill>
                      <a:prstDash val="solid"/>
                      <a:round/>
                      <a:headEnd type="none" w="med" len="med"/>
                      <a:tailEnd type="none" w="med" len="med"/>
                    </a:lnL>
                    <a:lnR w="12700" cap="flat" cmpd="sng" algn="ctr">
                      <a:solidFill>
                        <a:srgbClr val="E4DEF7"/>
                      </a:solidFill>
                      <a:prstDash val="solid"/>
                      <a:round/>
                      <a:headEnd type="none" w="med" len="med"/>
                      <a:tailEnd type="none" w="med" len="med"/>
                    </a:lnR>
                    <a:lnT w="12700" cap="flat" cmpd="sng" algn="ctr">
                      <a:solidFill>
                        <a:srgbClr val="E4DEF7"/>
                      </a:solidFill>
                      <a:prstDash val="solid"/>
                      <a:round/>
                      <a:headEnd type="none" w="med" len="med"/>
                      <a:tailEnd type="none" w="med" len="med"/>
                    </a:lnT>
                    <a:lnB w="12700" cap="flat" cmpd="sng" algn="ctr">
                      <a:solidFill>
                        <a:srgbClr val="E4DEF7"/>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4434840"/>
            <a:ext cx="10972800" cy="320040"/>
          </a:xfrm>
          <a:prstGeom prst="rect">
            <a:avLst/>
          </a:prstGeom>
          <a:noFill/>
          <a:ln/>
        </p:spPr>
        <p:txBody>
          <a:bodyPr wrap="square" lIns="0" tIns="0" rIns="0" bIns="0" rtlCol="0" anchor="t"/>
          <a:lstStyle/>
          <a:p>
            <a:pPr indent="0" marL="0">
              <a:buNone/>
            </a:pPr>
            <a:r>
              <a:rPr lang="en-US" sz="1400" b="1" dirty="0">
                <a:solidFill>
                  <a:srgbClr val="4C3FB8"/>
                </a:solidFill>
                <a:latin typeface="Calibri" pitchFamily="34" charset="0"/>
                <a:ea typeface="Calibri" pitchFamily="34" charset="-122"/>
                <a:cs typeface="Calibri" pitchFamily="34" charset="-120"/>
              </a:rPr>
              <a:t>Live transcript (Jalur A) butuh streaming ASR lokal. Kandidat:</a:t>
            </a:r>
            <a:endParaRPr lang="en-US" sz="1400" dirty="0"/>
          </a:p>
        </p:txBody>
      </p:sp>
      <p:sp>
        <p:nvSpPr>
          <p:cNvPr id="8" name="Shape 5"/>
          <p:cNvSpPr/>
          <p:nvPr/>
        </p:nvSpPr>
        <p:spPr>
          <a:xfrm>
            <a:off x="548640" y="4846320"/>
            <a:ext cx="3566160" cy="1325880"/>
          </a:xfrm>
          <a:prstGeom prst="roundRect">
            <a:avLst>
              <a:gd name="adj" fmla="val 9655"/>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9" name="Text 6"/>
          <p:cNvSpPr/>
          <p:nvPr/>
        </p:nvSpPr>
        <p:spPr>
          <a:xfrm>
            <a:off x="731520" y="4956048"/>
            <a:ext cx="2194560" cy="320040"/>
          </a:xfrm>
          <a:prstGeom prst="rect">
            <a:avLst/>
          </a:prstGeom>
          <a:noFill/>
          <a:ln/>
        </p:spPr>
        <p:txBody>
          <a:bodyPr wrap="square" lIns="0" tIns="0" rIns="0" bIns="0" rtlCol="0" anchor="t"/>
          <a:lstStyle/>
          <a:p>
            <a:pPr indent="0" marL="0">
              <a:buNone/>
            </a:pPr>
            <a:r>
              <a:rPr lang="en-US" sz="1400" b="1" dirty="0">
                <a:solidFill>
                  <a:srgbClr val="1E1A3C"/>
                </a:solidFill>
                <a:latin typeface="Calibri" pitchFamily="34" charset="0"/>
                <a:ea typeface="Calibri" pitchFamily="34" charset="-122"/>
                <a:cs typeface="Calibri" pitchFamily="34" charset="-120"/>
              </a:rPr>
              <a:t>sherpa-onnx Zipformer</a:t>
            </a:r>
            <a:endParaRPr lang="en-US" sz="1400" dirty="0"/>
          </a:p>
        </p:txBody>
      </p:sp>
      <p:sp>
        <p:nvSpPr>
          <p:cNvPr id="10" name="Text 7"/>
          <p:cNvSpPr/>
          <p:nvPr/>
        </p:nvSpPr>
        <p:spPr>
          <a:xfrm>
            <a:off x="2880360" y="4983480"/>
            <a:ext cx="1051560" cy="256032"/>
          </a:xfrm>
          <a:prstGeom prst="roundRect">
            <a:avLst>
              <a:gd name="adj" fmla="val 50000"/>
            </a:avLst>
          </a:prstGeom>
          <a:solidFill>
            <a:srgbClr val="2E9E62"/>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dipilih</a:t>
            </a:r>
            <a:endParaRPr lang="en-US" sz="950" dirty="0"/>
          </a:p>
        </p:txBody>
      </p:sp>
      <p:sp>
        <p:nvSpPr>
          <p:cNvPr id="11" name="Text 8"/>
          <p:cNvSpPr/>
          <p:nvPr/>
        </p:nvSpPr>
        <p:spPr>
          <a:xfrm>
            <a:off x="731520" y="5349240"/>
            <a:ext cx="3200400" cy="777240"/>
          </a:xfrm>
          <a:prstGeom prst="rect">
            <a:avLst/>
          </a:prstGeom>
          <a:noFill/>
          <a:ln/>
        </p:spPr>
        <p:txBody>
          <a:bodyPr wrap="square" lIns="0" tIns="0" rIns="0" bIns="0" rtlCol="0" anchor="t"/>
          <a:lstStyle/>
          <a:p>
            <a:pPr indent="0" marL="0">
              <a:buNone/>
            </a:pPr>
            <a:r>
              <a:rPr lang="en-US" sz="1150" dirty="0">
                <a:solidFill>
                  <a:srgbClr val="5E5A7E"/>
                </a:solidFill>
                <a:latin typeface="Calibri" pitchFamily="34" charset="0"/>
                <a:ea typeface="Calibri" pitchFamily="34" charset="-122"/>
                <a:cs typeface="Calibri" pitchFamily="34" charset="-120"/>
              </a:rPr>
              <a:t>Streaming native, ONNX, jalan di CPU. Dilatih di LibriSpeech (speaker native).</a:t>
            </a:r>
            <a:endParaRPr lang="en-US" sz="1150" dirty="0"/>
          </a:p>
        </p:txBody>
      </p:sp>
      <p:sp>
        <p:nvSpPr>
          <p:cNvPr id="12" name="Shape 9"/>
          <p:cNvSpPr/>
          <p:nvPr/>
        </p:nvSpPr>
        <p:spPr>
          <a:xfrm>
            <a:off x="4297680" y="4846320"/>
            <a:ext cx="3566160" cy="1325880"/>
          </a:xfrm>
          <a:prstGeom prst="roundRect">
            <a:avLst>
              <a:gd name="adj" fmla="val 9655"/>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13" name="Text 10"/>
          <p:cNvSpPr/>
          <p:nvPr/>
        </p:nvSpPr>
        <p:spPr>
          <a:xfrm>
            <a:off x="4480560" y="4956048"/>
            <a:ext cx="2194560" cy="320040"/>
          </a:xfrm>
          <a:prstGeom prst="rect">
            <a:avLst/>
          </a:prstGeom>
          <a:noFill/>
          <a:ln/>
        </p:spPr>
        <p:txBody>
          <a:bodyPr wrap="square" lIns="0" tIns="0" rIns="0" bIns="0" rtlCol="0" anchor="t"/>
          <a:lstStyle/>
          <a:p>
            <a:pPr indent="0" marL="0">
              <a:buNone/>
            </a:pPr>
            <a:r>
              <a:rPr lang="en-US" sz="1400" b="1" dirty="0">
                <a:solidFill>
                  <a:srgbClr val="1E1A3C"/>
                </a:solidFill>
                <a:latin typeface="Calibri" pitchFamily="34" charset="0"/>
                <a:ea typeface="Calibri" pitchFamily="34" charset="-122"/>
                <a:cs typeface="Calibri" pitchFamily="34" charset="-120"/>
              </a:rPr>
              <a:t>Vosk small</a:t>
            </a:r>
            <a:endParaRPr lang="en-US" sz="1400" dirty="0"/>
          </a:p>
        </p:txBody>
      </p:sp>
      <p:sp>
        <p:nvSpPr>
          <p:cNvPr id="14" name="Text 11"/>
          <p:cNvSpPr/>
          <p:nvPr/>
        </p:nvSpPr>
        <p:spPr>
          <a:xfrm>
            <a:off x="6629400" y="4983480"/>
            <a:ext cx="1051560" cy="256032"/>
          </a:xfrm>
          <a:prstGeom prst="roundRect">
            <a:avLst>
              <a:gd name="adj" fmla="val 50000"/>
            </a:avLst>
          </a:prstGeom>
          <a:solidFill>
            <a:srgbClr val="E9A92B"/>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pembanding</a:t>
            </a:r>
            <a:endParaRPr lang="en-US" sz="950" dirty="0"/>
          </a:p>
        </p:txBody>
      </p:sp>
      <p:sp>
        <p:nvSpPr>
          <p:cNvPr id="15" name="Text 12"/>
          <p:cNvSpPr/>
          <p:nvPr/>
        </p:nvSpPr>
        <p:spPr>
          <a:xfrm>
            <a:off x="4480560" y="5349240"/>
            <a:ext cx="3200400" cy="777240"/>
          </a:xfrm>
          <a:prstGeom prst="rect">
            <a:avLst/>
          </a:prstGeom>
          <a:noFill/>
          <a:ln/>
        </p:spPr>
        <p:txBody>
          <a:bodyPr wrap="square" lIns="0" tIns="0" rIns="0" bIns="0" rtlCol="0" anchor="t"/>
          <a:lstStyle/>
          <a:p>
            <a:pPr indent="0" marL="0">
              <a:buNone/>
            </a:pPr>
            <a:r>
              <a:rPr lang="en-US" sz="1150" dirty="0">
                <a:solidFill>
                  <a:srgbClr val="5E5A7E"/>
                </a:solidFill>
                <a:latin typeface="Calibri" pitchFamily="34" charset="0"/>
                <a:ea typeface="Calibri" pitchFamily="34" charset="-122"/>
                <a:cs typeface="Calibri" pitchFamily="34" charset="-120"/>
              </a:rPr>
              <a:t>Ringan dan streaming. Dibandingkan WER dan latency-nya di NB03.</a:t>
            </a:r>
            <a:endParaRPr lang="en-US" sz="1150" dirty="0"/>
          </a:p>
        </p:txBody>
      </p:sp>
      <p:sp>
        <p:nvSpPr>
          <p:cNvPr id="16" name="Shape 13"/>
          <p:cNvSpPr/>
          <p:nvPr/>
        </p:nvSpPr>
        <p:spPr>
          <a:xfrm>
            <a:off x="8046720" y="4846320"/>
            <a:ext cx="3566160" cy="1325880"/>
          </a:xfrm>
          <a:prstGeom prst="roundRect">
            <a:avLst>
              <a:gd name="adj" fmla="val 9655"/>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17" name="Text 14"/>
          <p:cNvSpPr/>
          <p:nvPr/>
        </p:nvSpPr>
        <p:spPr>
          <a:xfrm>
            <a:off x="8229600" y="4956048"/>
            <a:ext cx="2194560" cy="320040"/>
          </a:xfrm>
          <a:prstGeom prst="rect">
            <a:avLst/>
          </a:prstGeom>
          <a:noFill/>
          <a:ln/>
        </p:spPr>
        <p:txBody>
          <a:bodyPr wrap="square" lIns="0" tIns="0" rIns="0" bIns="0" rtlCol="0" anchor="t"/>
          <a:lstStyle/>
          <a:p>
            <a:pPr indent="0" marL="0">
              <a:buNone/>
            </a:pPr>
            <a:r>
              <a:rPr lang="en-US" sz="1400" b="1" dirty="0">
                <a:solidFill>
                  <a:srgbClr val="1E1A3C"/>
                </a:solidFill>
                <a:latin typeface="Calibri" pitchFamily="34" charset="0"/>
                <a:ea typeface="Calibri" pitchFamily="34" charset="-122"/>
                <a:cs typeface="Calibri" pitchFamily="34" charset="-120"/>
              </a:rPr>
              <a:t>Whisper</a:t>
            </a:r>
            <a:endParaRPr lang="en-US" sz="1400" dirty="0"/>
          </a:p>
        </p:txBody>
      </p:sp>
      <p:sp>
        <p:nvSpPr>
          <p:cNvPr id="18" name="Text 15"/>
          <p:cNvSpPr/>
          <p:nvPr/>
        </p:nvSpPr>
        <p:spPr>
          <a:xfrm>
            <a:off x="10378440" y="4983480"/>
            <a:ext cx="1051560" cy="256032"/>
          </a:xfrm>
          <a:prstGeom prst="roundRect">
            <a:avLst>
              <a:gd name="adj" fmla="val 50000"/>
            </a:avLst>
          </a:prstGeom>
          <a:solidFill>
            <a:srgbClr val="D64545"/>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nggak dipakai</a:t>
            </a:r>
            <a:endParaRPr lang="en-US" sz="950" dirty="0"/>
          </a:p>
        </p:txBody>
      </p:sp>
      <p:sp>
        <p:nvSpPr>
          <p:cNvPr id="19" name="Text 16"/>
          <p:cNvSpPr/>
          <p:nvPr/>
        </p:nvSpPr>
        <p:spPr>
          <a:xfrm>
            <a:off x="8229600" y="5349240"/>
            <a:ext cx="3200400" cy="777240"/>
          </a:xfrm>
          <a:prstGeom prst="rect">
            <a:avLst/>
          </a:prstGeom>
          <a:noFill/>
          <a:ln/>
        </p:spPr>
        <p:txBody>
          <a:bodyPr wrap="square" lIns="0" tIns="0" rIns="0" bIns="0" rtlCol="0" anchor="t"/>
          <a:lstStyle/>
          <a:p>
            <a:pPr indent="0" marL="0">
              <a:buNone/>
            </a:pPr>
            <a:r>
              <a:rPr lang="en-US" sz="1150" dirty="0">
                <a:solidFill>
                  <a:srgbClr val="5E5A7E"/>
                </a:solidFill>
                <a:latin typeface="Calibri" pitchFamily="34" charset="0"/>
                <a:ea typeface="Calibri" pitchFamily="34" charset="-122"/>
                <a:cs typeface="Calibri" pitchFamily="34" charset="-120"/>
              </a:rPr>
              <a:t>Akurat, tapi prosesnya per window audio (bukan streaming native) dan berat di CPU.</a:t>
            </a:r>
            <a:endParaRPr lang="en-US" sz="11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822960"/>
            <a:ext cx="7498080" cy="3246120"/>
          </a:xfrm>
          <a:prstGeom prst="roundRect">
            <a:avLst>
              <a:gd name="adj" fmla="val 5070"/>
            </a:avLst>
          </a:prstGeom>
          <a:solidFill>
            <a:srgbClr val="120C24">
              <a:alpha val="65000"/>
            </a:srgbClr>
          </a:solidFill>
          <a:ln w="12700">
            <a:solidFill>
              <a:srgbClr val="FFFFFF">
                <a:alpha val="40000"/>
              </a:srgbClr>
            </a:solidFill>
            <a:prstDash val="solid"/>
          </a:ln>
        </p:spPr>
      </p:sp>
      <p:pic>
        <p:nvPicPr>
          <p:cNvPr id="3" name="Image 0" descr="C:\Users\dianr\AppData\Local\Temp\claude\c--SEM-5-SpellSpeak\eda6ec89-068e-4069-9b28-72e31b9a7f93\scratchpad\deck\art\px_stageii.png">    </p:cNvPr>
          <p:cNvPicPr>
            <a:picLocks noChangeAspect="1"/>
          </p:cNvPicPr>
          <p:nvPr/>
        </p:nvPicPr>
        <p:blipFill>
          <a:blip r:embed="rId2"/>
          <a:stretch>
            <a:fillRect/>
          </a:stretch>
        </p:blipFill>
        <p:spPr>
          <a:xfrm>
            <a:off x="685800" y="1097280"/>
            <a:ext cx="3407898" cy="868680"/>
          </a:xfrm>
          <a:prstGeom prst="rect">
            <a:avLst/>
          </a:prstGeom>
        </p:spPr>
      </p:pic>
      <p:sp>
        <p:nvSpPr>
          <p:cNvPr id="4" name="Text 1"/>
          <p:cNvSpPr/>
          <p:nvPr/>
        </p:nvSpPr>
        <p:spPr>
          <a:xfrm>
            <a:off x="685800" y="214884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Model &amp; Pipeline</a:t>
            </a:r>
            <a:endParaRPr lang="en-US" sz="4400" dirty="0"/>
          </a:p>
        </p:txBody>
      </p:sp>
      <p:sp>
        <p:nvSpPr>
          <p:cNvPr id="5" name="Text 2"/>
          <p:cNvSpPr/>
          <p:nvPr/>
        </p:nvSpPr>
        <p:spPr>
          <a:xfrm>
            <a:off x="685800" y="3063240"/>
            <a:ext cx="6858000" cy="822960"/>
          </a:xfrm>
          <a:prstGeom prst="rect">
            <a:avLst/>
          </a:prstGeom>
          <a:noFill/>
          <a:ln/>
        </p:spPr>
        <p:txBody>
          <a:bodyPr wrap="square" lIns="0" tIns="0" rIns="0" bIns="0" rtlCol="0" anchor="t"/>
          <a:lstStyle/>
          <a:p>
            <a:pPr indent="0" marL="0">
              <a:buNone/>
            </a:pPr>
            <a:r>
              <a:rPr lang="en-US" sz="1800" dirty="0">
                <a:solidFill>
                  <a:srgbClr val="E9E4FF"/>
                </a:solidFill>
                <a:latin typeface="Calibri" pitchFamily="34" charset="0"/>
                <a:ea typeface="Calibri" pitchFamily="34" charset="-122"/>
                <a:cs typeface="Calibri" pitchFamily="34" charset="-120"/>
              </a:rPr>
              <a:t>Model apa yang dipakai, gimana cara kerjanya, datanya dari mana, dan alurnya.</a:t>
            </a:r>
            <a:endParaRPr lang="en-US" sz="1800" dirty="0"/>
          </a:p>
        </p:txBody>
      </p:sp>
      <p:pic>
        <p:nvPicPr>
          <p:cNvPr id="6" name="Image 1" descr="C:\Users\dianr\AppData\Local\Temp\claude\c--SEM-5-SpellSpeak\eda6ec89-068e-4069-9b28-72e31b9a7f93\scratchpad\deck\art\cat_cast.png">    </p:cNvPr>
          <p:cNvPicPr>
            <a:picLocks noChangeAspect="1"/>
          </p:cNvPicPr>
          <p:nvPr/>
        </p:nvPicPr>
        <p:blipFill>
          <a:blip r:embed="rId3"/>
          <a:stretch>
            <a:fillRect/>
          </a:stretch>
        </p:blipFill>
        <p:spPr>
          <a:xfrm>
            <a:off x="822960" y="4023360"/>
            <a:ext cx="2377440" cy="2377440"/>
          </a:xfrm>
          <a:prstGeom prst="rect">
            <a:avLst/>
          </a:prstGeom>
        </p:spPr>
      </p:pic>
      <p:pic>
        <p:nvPicPr>
          <p:cNvPr id="7" name="Image 2" descr="C:\Users\dianr\AppData\Local\Temp\claude\c--SEM-5-SpellSpeak\eda6ec89-068e-4069-9b28-72e31b9a7f93\scratchpad\deck\art\boss_panda.png">    </p:cNvPr>
          <p:cNvPicPr>
            <a:picLocks noChangeAspect="1"/>
          </p:cNvPicPr>
          <p:nvPr/>
        </p:nvPicPr>
        <p:blipFill>
          <a:blip r:embed="rId4"/>
          <a:stretch>
            <a:fillRect/>
          </a:stretch>
        </p:blipFill>
        <p:spPr>
          <a:xfrm>
            <a:off x="8778240" y="3383280"/>
            <a:ext cx="2410691" cy="2651760"/>
          </a:xfrm>
          <a:prstGeom prst="rect">
            <a:avLst/>
          </a:prstGeom>
        </p:spPr>
      </p:pic>
      <p:sp>
        <p:nvSpPr>
          <p:cNvPr id="8" name="Text 3"/>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CFC8F5"/>
                </a:solidFill>
                <a:latin typeface="Calibri" pitchFamily="34" charset="0"/>
                <a:ea typeface="Calibri" pitchFamily="34" charset="-122"/>
                <a:cs typeface="Calibri" pitchFamily="34" charset="-120"/>
              </a:rPr>
              <a:t>SpellSpeak · progress update</a:t>
            </a:r>
            <a:endParaRPr lang="en-US" sz="900" dirty="0"/>
          </a:p>
        </p:txBody>
      </p:sp>
      <p:sp>
        <p:nvSpPr>
          <p:cNvPr id="9" name="Text 4"/>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CFC8F5"/>
                </a:solidFill>
                <a:latin typeface="Calibri" pitchFamily="34" charset="0"/>
                <a:ea typeface="Calibri" pitchFamily="34" charset="-122"/>
                <a:cs typeface="Calibri" pitchFamily="34" charset="-120"/>
              </a:rPr>
              <a:t>9</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888236" cy="292608"/>
          </a:xfrm>
          <a:prstGeom prst="roundRect">
            <a:avLst>
              <a:gd name="adj" fmla="val 50000"/>
            </a:avLst>
          </a:prstGeom>
          <a:solidFill>
            <a:srgbClr val="E07A2E"/>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II · PIPELINE</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2700" b="1" dirty="0">
                <a:solidFill>
                  <a:srgbClr val="1E1A3C"/>
                </a:solidFill>
                <a:latin typeface="Georgia" pitchFamily="34" charset="0"/>
                <a:ea typeface="Georgia" pitchFamily="34" charset="-122"/>
                <a:cs typeface="Georgia" pitchFamily="34" charset="-120"/>
              </a:rPr>
              <a:t>Pipeline: dua jalur jalan bareng di satu laptop</a:t>
            </a:r>
            <a:endParaRPr lang="en-US" sz="27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48640" y="2788920"/>
            <a:ext cx="1600200" cy="1143000"/>
          </a:xfrm>
          <a:prstGeom prst="roundRect">
            <a:avLst>
              <a:gd name="adj" fmla="val 8000"/>
            </a:avLst>
          </a:prstGeom>
          <a:solidFill>
            <a:srgbClr val="FFFFFF"/>
          </a:solidFill>
          <a:ln w="19050">
            <a:solidFill>
              <a:srgbClr val="4C3FB8"/>
            </a:solidFill>
            <a:prstDash val="solid"/>
          </a:ln>
        </p:spPr>
      </p:sp>
      <p:sp>
        <p:nvSpPr>
          <p:cNvPr id="7" name="Text 5"/>
          <p:cNvSpPr/>
          <p:nvPr/>
        </p:nvSpPr>
        <p:spPr>
          <a:xfrm>
            <a:off x="640080" y="2788920"/>
            <a:ext cx="1417320" cy="1143000"/>
          </a:xfrm>
          <a:prstGeom prst="rect">
            <a:avLst/>
          </a:prstGeom>
          <a:no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Mic</a:t>
            </a:r>
            <a:endParaRPr lang="en-US" sz="1300" dirty="0"/>
          </a:p>
          <a:p>
            <a:pPr algn="ctr" indent="0" marL="0">
              <a:buNone/>
            </a:pPr>
            <a:r>
              <a:rPr lang="en-US" sz="1050" dirty="0">
                <a:solidFill>
                  <a:srgbClr val="5E5A7E"/>
                </a:solidFill>
                <a:latin typeface="Calibri" pitchFamily="34" charset="0"/>
                <a:ea typeface="Calibri" pitchFamily="34" charset="-122"/>
                <a:cs typeface="Calibri" pitchFamily="34" charset="-120"/>
              </a:rPr>
              <a:t>sounddevice</a:t>
            </a:r>
            <a:endParaRPr lang="en-US" sz="1300" dirty="0"/>
          </a:p>
          <a:p>
            <a:pPr algn="ctr" indent="0" marL="0">
              <a:buNone/>
            </a:pPr>
            <a:r>
              <a:rPr lang="en-US" sz="1050" dirty="0">
                <a:solidFill>
                  <a:srgbClr val="5E5A7E"/>
                </a:solidFill>
                <a:latin typeface="Calibri" pitchFamily="34" charset="0"/>
                <a:ea typeface="Calibri" pitchFamily="34" charset="-122"/>
                <a:cs typeface="Calibri" pitchFamily="34" charset="-120"/>
              </a:rPr>
              <a:t>stream 16 kHz</a:t>
            </a:r>
            <a:endParaRPr lang="en-US" sz="1300" dirty="0"/>
          </a:p>
        </p:txBody>
      </p:sp>
      <p:sp>
        <p:nvSpPr>
          <p:cNvPr id="8" name="Shape 6"/>
          <p:cNvSpPr/>
          <p:nvPr/>
        </p:nvSpPr>
        <p:spPr>
          <a:xfrm>
            <a:off x="2697480" y="1691640"/>
            <a:ext cx="2377440" cy="960120"/>
          </a:xfrm>
          <a:prstGeom prst="roundRect">
            <a:avLst>
              <a:gd name="adj" fmla="val 9524"/>
            </a:avLst>
          </a:prstGeom>
          <a:solidFill>
            <a:srgbClr val="DDF3F2"/>
          </a:solidFill>
          <a:ln w="19050">
            <a:solidFill>
              <a:srgbClr val="1F8F94"/>
            </a:solidFill>
            <a:prstDash val="solid"/>
          </a:ln>
        </p:spPr>
      </p:sp>
      <p:sp>
        <p:nvSpPr>
          <p:cNvPr id="9" name="Text 7"/>
          <p:cNvSpPr/>
          <p:nvPr/>
        </p:nvSpPr>
        <p:spPr>
          <a:xfrm>
            <a:off x="2788920" y="1691640"/>
            <a:ext cx="2194560" cy="960120"/>
          </a:xfrm>
          <a:prstGeom prst="rect">
            <a:avLst/>
          </a:prstGeom>
          <a:no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Jalur A · Zipformer</a:t>
            </a:r>
            <a:endParaRPr lang="en-US" sz="1300" dirty="0"/>
          </a:p>
          <a:p>
            <a:pPr algn="ctr" indent="0" marL="0">
              <a:buNone/>
            </a:pPr>
            <a:r>
              <a:rPr lang="en-US" sz="1050" dirty="0">
                <a:solidFill>
                  <a:srgbClr val="5E5A7E"/>
                </a:solidFill>
                <a:latin typeface="Calibri" pitchFamily="34" charset="0"/>
                <a:ea typeface="Calibri" pitchFamily="34" charset="-122"/>
                <a:cs typeface="Calibri" pitchFamily="34" charset="-120"/>
              </a:rPr>
              <a:t>streaming ASR → partial text</a:t>
            </a:r>
            <a:endParaRPr lang="en-US" sz="1300" dirty="0"/>
          </a:p>
        </p:txBody>
      </p:sp>
      <p:sp>
        <p:nvSpPr>
          <p:cNvPr id="10" name="Shape 8"/>
          <p:cNvSpPr/>
          <p:nvPr/>
        </p:nvSpPr>
        <p:spPr>
          <a:xfrm>
            <a:off x="2697480" y="2852928"/>
            <a:ext cx="2377440" cy="960120"/>
          </a:xfrm>
          <a:prstGeom prst="roundRect">
            <a:avLst>
              <a:gd name="adj" fmla="val 9524"/>
            </a:avLst>
          </a:prstGeom>
          <a:solidFill>
            <a:srgbClr val="EEE9FF"/>
          </a:solidFill>
          <a:ln w="19050">
            <a:solidFill>
              <a:srgbClr val="4C3FB8"/>
            </a:solidFill>
            <a:prstDash val="solid"/>
          </a:ln>
        </p:spPr>
      </p:sp>
      <p:sp>
        <p:nvSpPr>
          <p:cNvPr id="11" name="Text 9"/>
          <p:cNvSpPr/>
          <p:nvPr/>
        </p:nvSpPr>
        <p:spPr>
          <a:xfrm>
            <a:off x="2788920" y="2852928"/>
            <a:ext cx="2194560" cy="960120"/>
          </a:xfrm>
          <a:prstGeom prst="rect">
            <a:avLst/>
          </a:prstGeom>
          <a:no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VAD endpoint</a:t>
            </a:r>
            <a:endParaRPr lang="en-US" sz="1300" dirty="0"/>
          </a:p>
          <a:p>
            <a:pPr algn="ctr" indent="0" marL="0">
              <a:buNone/>
            </a:pPr>
            <a:r>
              <a:rPr lang="en-US" sz="1050" dirty="0">
                <a:solidFill>
                  <a:srgbClr val="5E5A7E"/>
                </a:solidFill>
                <a:latin typeface="Calibri" pitchFamily="34" charset="0"/>
                <a:ea typeface="Calibri" pitchFamily="34" charset="-122"/>
                <a:cs typeface="Calibri" pitchFamily="34" charset="-120"/>
              </a:rPr>
              <a:t>Silero + hesitation + timeout</a:t>
            </a:r>
            <a:endParaRPr lang="en-US" sz="1300" dirty="0"/>
          </a:p>
        </p:txBody>
      </p:sp>
      <p:sp>
        <p:nvSpPr>
          <p:cNvPr id="12" name="Shape 10"/>
          <p:cNvSpPr/>
          <p:nvPr/>
        </p:nvSpPr>
        <p:spPr>
          <a:xfrm>
            <a:off x="5532120" y="2852928"/>
            <a:ext cx="2377440" cy="960120"/>
          </a:xfrm>
          <a:prstGeom prst="roundRect">
            <a:avLst>
              <a:gd name="adj" fmla="val 9524"/>
            </a:avLst>
          </a:prstGeom>
          <a:solidFill>
            <a:srgbClr val="EEE9FF"/>
          </a:solidFill>
          <a:ln w="19050">
            <a:solidFill>
              <a:srgbClr val="4C3FB8"/>
            </a:solidFill>
            <a:prstDash val="solid"/>
          </a:ln>
        </p:spPr>
      </p:sp>
      <p:sp>
        <p:nvSpPr>
          <p:cNvPr id="13" name="Text 11"/>
          <p:cNvSpPr/>
          <p:nvPr/>
        </p:nvSpPr>
        <p:spPr>
          <a:xfrm>
            <a:off x="5623560" y="2852928"/>
            <a:ext cx="2194560" cy="960120"/>
          </a:xfrm>
          <a:prstGeom prst="rect">
            <a:avLst/>
          </a:prstGeom>
          <a:no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Jalur B · wav2vec2</a:t>
            </a:r>
            <a:endParaRPr lang="en-US" sz="1300" dirty="0"/>
          </a:p>
          <a:p>
            <a:pPr algn="ctr" indent="0" marL="0">
              <a:buNone/>
            </a:pPr>
            <a:r>
              <a:rPr lang="en-US" sz="1050" dirty="0">
                <a:solidFill>
                  <a:srgbClr val="5E5A7E"/>
                </a:solidFill>
                <a:latin typeface="Calibri" pitchFamily="34" charset="0"/>
                <a:ea typeface="Calibri" pitchFamily="34" charset="-122"/>
                <a:cs typeface="Calibri" pitchFamily="34" charset="-120"/>
              </a:rPr>
              <a:t>audio utuh → fonem (proses terpisah)</a:t>
            </a:r>
            <a:endParaRPr lang="en-US" sz="1300" dirty="0"/>
          </a:p>
        </p:txBody>
      </p:sp>
      <p:sp>
        <p:nvSpPr>
          <p:cNvPr id="14" name="Shape 12"/>
          <p:cNvSpPr/>
          <p:nvPr/>
        </p:nvSpPr>
        <p:spPr>
          <a:xfrm>
            <a:off x="2697480" y="4526280"/>
            <a:ext cx="2377440" cy="960120"/>
          </a:xfrm>
          <a:prstGeom prst="roundRect">
            <a:avLst>
              <a:gd name="adj" fmla="val 9524"/>
            </a:avLst>
          </a:prstGeom>
          <a:solidFill>
            <a:srgbClr val="FFF4D6"/>
          </a:solidFill>
          <a:ln w="19050">
            <a:solidFill>
              <a:srgbClr val="E9A92B"/>
            </a:solidFill>
            <a:prstDash val="solid"/>
          </a:ln>
        </p:spPr>
      </p:sp>
      <p:sp>
        <p:nvSpPr>
          <p:cNvPr id="15" name="Text 13"/>
          <p:cNvSpPr/>
          <p:nvPr/>
        </p:nvSpPr>
        <p:spPr>
          <a:xfrm>
            <a:off x="2788920" y="4526280"/>
            <a:ext cx="2194560" cy="960120"/>
          </a:xfrm>
          <a:prstGeom prst="rect">
            <a:avLst/>
          </a:prstGeom>
          <a:no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Kata dari game</a:t>
            </a:r>
            <a:endParaRPr lang="en-US" sz="1300" dirty="0"/>
          </a:p>
          <a:p>
            <a:pPr algn="ctr" indent="0" marL="0">
              <a:buNone/>
            </a:pPr>
            <a:r>
              <a:rPr lang="en-US" sz="1050" dirty="0">
                <a:solidFill>
                  <a:srgbClr val="5E5A7E"/>
                </a:solidFill>
                <a:latin typeface="Calibri" pitchFamily="34" charset="0"/>
                <a:ea typeface="Calibri" pitchFamily="34" charset="-122"/>
                <a:cs typeface="Calibri" pitchFamily="34" charset="-120"/>
              </a:rPr>
              <a:t>closed-set: mis. think</a:t>
            </a:r>
            <a:endParaRPr lang="en-US" sz="1300" dirty="0"/>
          </a:p>
        </p:txBody>
      </p:sp>
      <p:sp>
        <p:nvSpPr>
          <p:cNvPr id="16" name="Shape 14"/>
          <p:cNvSpPr/>
          <p:nvPr/>
        </p:nvSpPr>
        <p:spPr>
          <a:xfrm>
            <a:off x="5532120" y="4526280"/>
            <a:ext cx="2377440" cy="960120"/>
          </a:xfrm>
          <a:prstGeom prst="roundRect">
            <a:avLst>
              <a:gd name="adj" fmla="val 9524"/>
            </a:avLst>
          </a:prstGeom>
          <a:solidFill>
            <a:srgbClr val="FFF4D6"/>
          </a:solidFill>
          <a:ln w="19050">
            <a:solidFill>
              <a:srgbClr val="E9A92B"/>
            </a:solidFill>
            <a:prstDash val="solid"/>
          </a:ln>
        </p:spPr>
      </p:sp>
      <p:sp>
        <p:nvSpPr>
          <p:cNvPr id="17" name="Text 15"/>
          <p:cNvSpPr/>
          <p:nvPr/>
        </p:nvSpPr>
        <p:spPr>
          <a:xfrm>
            <a:off x="5623560" y="4526280"/>
            <a:ext cx="2194560" cy="960120"/>
          </a:xfrm>
          <a:prstGeom prst="rect">
            <a:avLst/>
          </a:prstGeom>
          <a:no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phonemizer + espeak-ng</a:t>
            </a:r>
            <a:endParaRPr lang="en-US" sz="1300" dirty="0"/>
          </a:p>
          <a:p>
            <a:pPr algn="ctr" indent="0" marL="0">
              <a:buNone/>
            </a:pPr>
            <a:r>
              <a:rPr lang="en-US" sz="1050" dirty="0">
                <a:solidFill>
                  <a:srgbClr val="5E5A7E"/>
                </a:solidFill>
                <a:latin typeface="Calibri" pitchFamily="34" charset="0"/>
                <a:ea typeface="Calibri" pitchFamily="34" charset="-122"/>
                <a:cs typeface="Calibri" pitchFamily="34" charset="-120"/>
              </a:rPr>
              <a:t>target: θ ɪ ŋ k</a:t>
            </a:r>
            <a:endParaRPr lang="en-US" sz="1300" dirty="0"/>
          </a:p>
        </p:txBody>
      </p:sp>
      <p:sp>
        <p:nvSpPr>
          <p:cNvPr id="18" name="Shape 16"/>
          <p:cNvSpPr/>
          <p:nvPr/>
        </p:nvSpPr>
        <p:spPr>
          <a:xfrm>
            <a:off x="8412480" y="3611880"/>
            <a:ext cx="1600200" cy="1143000"/>
          </a:xfrm>
          <a:prstGeom prst="roundRect">
            <a:avLst>
              <a:gd name="adj" fmla="val 8000"/>
            </a:avLst>
          </a:prstGeom>
          <a:solidFill>
            <a:srgbClr val="FFFFFF"/>
          </a:solidFill>
          <a:ln w="19050">
            <a:solidFill>
              <a:srgbClr val="E07A2E"/>
            </a:solidFill>
            <a:prstDash val="solid"/>
          </a:ln>
        </p:spPr>
      </p:sp>
      <p:sp>
        <p:nvSpPr>
          <p:cNvPr id="19" name="Text 17"/>
          <p:cNvSpPr/>
          <p:nvPr/>
        </p:nvSpPr>
        <p:spPr>
          <a:xfrm>
            <a:off x="8503920" y="3611880"/>
            <a:ext cx="1417320" cy="1143000"/>
          </a:xfrm>
          <a:prstGeom prst="rect">
            <a:avLst/>
          </a:prstGeom>
          <a:no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per.py</a:t>
            </a:r>
            <a:endParaRPr lang="en-US" sz="1300" dirty="0"/>
          </a:p>
          <a:p>
            <a:pPr algn="ctr" indent="0" marL="0">
              <a:buNone/>
            </a:pPr>
            <a:r>
              <a:rPr lang="en-US" sz="1050" dirty="0">
                <a:solidFill>
                  <a:srgbClr val="5E5A7E"/>
                </a:solidFill>
                <a:latin typeface="Calibri" pitchFamily="34" charset="0"/>
                <a:ea typeface="Calibri" pitchFamily="34" charset="-122"/>
                <a:cs typeface="Calibri" pitchFamily="34" charset="-120"/>
              </a:rPr>
              <a:t>align + S/D/I</a:t>
            </a:r>
            <a:endParaRPr lang="en-US" sz="1300" dirty="0"/>
          </a:p>
          <a:p>
            <a:pPr algn="ctr" indent="0" marL="0">
              <a:buNone/>
            </a:pPr>
            <a:r>
              <a:rPr lang="en-US" sz="1050" dirty="0">
                <a:solidFill>
                  <a:srgbClr val="5E5A7E"/>
                </a:solidFill>
                <a:latin typeface="Calibri" pitchFamily="34" charset="0"/>
                <a:ea typeface="Calibri" pitchFamily="34" charset="-122"/>
                <a:cs typeface="Calibri" pitchFamily="34" charset="-120"/>
              </a:rPr>
              <a:t>→ PER</a:t>
            </a:r>
            <a:endParaRPr lang="en-US" sz="1300" dirty="0"/>
          </a:p>
        </p:txBody>
      </p:sp>
      <p:sp>
        <p:nvSpPr>
          <p:cNvPr id="20" name="Shape 18"/>
          <p:cNvSpPr/>
          <p:nvPr/>
        </p:nvSpPr>
        <p:spPr>
          <a:xfrm>
            <a:off x="10332720" y="1691640"/>
            <a:ext cx="1325880" cy="3794760"/>
          </a:xfrm>
          <a:prstGeom prst="roundRect">
            <a:avLst>
              <a:gd name="adj" fmla="val 6897"/>
            </a:avLst>
          </a:prstGeom>
          <a:solidFill>
            <a:srgbClr val="2B2166"/>
          </a:solidFill>
          <a:ln w="19050">
            <a:solidFill>
              <a:srgbClr val="2B2166"/>
            </a:solidFill>
            <a:prstDash val="solid"/>
          </a:ln>
        </p:spPr>
      </p:sp>
      <p:sp>
        <p:nvSpPr>
          <p:cNvPr id="21" name="Text 19"/>
          <p:cNvSpPr/>
          <p:nvPr/>
        </p:nvSpPr>
        <p:spPr>
          <a:xfrm>
            <a:off x="10424160" y="1691640"/>
            <a:ext cx="1143000" cy="3794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Godot</a:t>
            </a:r>
            <a:endParaRPr lang="en-US" sz="1300" dirty="0"/>
          </a:p>
          <a:p>
            <a:pPr algn="ctr" indent="0" marL="0">
              <a:buNone/>
            </a:pPr>
            <a:r>
              <a:rPr lang="en-US" sz="1050" dirty="0">
                <a:solidFill>
                  <a:srgbClr val="CFC8F5"/>
                </a:solidFill>
                <a:latin typeface="Calibri" pitchFamily="34" charset="0"/>
                <a:ea typeface="Calibri" pitchFamily="34" charset="-122"/>
                <a:cs typeface="Calibri" pitchFamily="34" charset="-120"/>
              </a:rPr>
              <a:t>UI saja</a:t>
            </a:r>
            <a:endParaRPr lang="en-US" sz="1300" dirty="0"/>
          </a:p>
          <a:p>
            <a:pPr algn="ctr" indent="0" marL="0">
              <a:buNone/>
            </a:pPr>
            <a:r>
              <a:rPr lang="en-US" sz="1050" dirty="0">
                <a:solidFill>
                  <a:srgbClr val="CFC8F5"/>
                </a:solidFill>
                <a:latin typeface="Calibri" pitchFamily="34" charset="0"/>
                <a:ea typeface="Calibri" pitchFamily="34" charset="-122"/>
                <a:cs typeface="Calibri" pitchFamily="34" charset="-120"/>
              </a:rPr>
              <a:t>via WebSocket</a:t>
            </a:r>
            <a:endParaRPr lang="en-US" sz="1300" dirty="0"/>
          </a:p>
          <a:p>
            <a:pPr algn="ctr" indent="0" marL="0">
              <a:buNone/>
            </a:pPr>
            <a:r>
              <a:rPr lang="en-US" sz="1050" dirty="0">
                <a:solidFill>
                  <a:srgbClr val="CFC8F5"/>
                </a:solidFill>
                <a:latin typeface="Calibri" pitchFamily="34" charset="0"/>
                <a:ea typeface="Calibri" pitchFamily="34" charset="-122"/>
                <a:cs typeface="Calibri" pitchFamily="34" charset="-120"/>
              </a:rPr>
              <a:t>JSON</a:t>
            </a:r>
            <a:endParaRPr lang="en-US" sz="1300" dirty="0"/>
          </a:p>
        </p:txBody>
      </p:sp>
      <p:sp>
        <p:nvSpPr>
          <p:cNvPr id="22" name="Shape 20"/>
          <p:cNvSpPr/>
          <p:nvPr/>
        </p:nvSpPr>
        <p:spPr>
          <a:xfrm flipV="1">
            <a:off x="2148840" y="2194560"/>
            <a:ext cx="548640" cy="960120"/>
          </a:xfrm>
          <a:prstGeom prst="line">
            <a:avLst/>
          </a:prstGeom>
          <a:noFill/>
          <a:ln w="22225">
            <a:solidFill>
              <a:srgbClr val="1F8F94"/>
            </a:solidFill>
            <a:prstDash val="solid"/>
            <a:tailEnd type="triangle"/>
          </a:ln>
        </p:spPr>
      </p:sp>
      <p:sp>
        <p:nvSpPr>
          <p:cNvPr id="23" name="Shape 21"/>
          <p:cNvSpPr/>
          <p:nvPr/>
        </p:nvSpPr>
        <p:spPr>
          <a:xfrm>
            <a:off x="2148840" y="3337560"/>
            <a:ext cx="548640" cy="914"/>
          </a:xfrm>
          <a:prstGeom prst="line">
            <a:avLst/>
          </a:prstGeom>
          <a:noFill/>
          <a:ln w="22225">
            <a:solidFill>
              <a:srgbClr val="4C3FB8"/>
            </a:solidFill>
            <a:prstDash val="solid"/>
            <a:tailEnd type="triangle"/>
          </a:ln>
        </p:spPr>
      </p:sp>
      <p:sp>
        <p:nvSpPr>
          <p:cNvPr id="24" name="Shape 22"/>
          <p:cNvSpPr/>
          <p:nvPr/>
        </p:nvSpPr>
        <p:spPr>
          <a:xfrm>
            <a:off x="5074920" y="3337560"/>
            <a:ext cx="457200" cy="914"/>
          </a:xfrm>
          <a:prstGeom prst="line">
            <a:avLst/>
          </a:prstGeom>
          <a:noFill/>
          <a:ln w="22225">
            <a:solidFill>
              <a:srgbClr val="4C3FB8"/>
            </a:solidFill>
            <a:prstDash val="solid"/>
            <a:tailEnd type="triangle"/>
          </a:ln>
        </p:spPr>
      </p:sp>
      <p:sp>
        <p:nvSpPr>
          <p:cNvPr id="25" name="Text 23"/>
          <p:cNvSpPr/>
          <p:nvPr/>
        </p:nvSpPr>
        <p:spPr>
          <a:xfrm>
            <a:off x="4663440" y="3099816"/>
            <a:ext cx="1280160" cy="201168"/>
          </a:xfrm>
          <a:prstGeom prst="rect">
            <a:avLst/>
          </a:prstGeom>
          <a:noFill/>
          <a:ln/>
        </p:spPr>
        <p:txBody>
          <a:bodyPr wrap="square" lIns="0" tIns="0" rIns="0" bIns="0" rtlCol="0" anchor="ctr"/>
          <a:lstStyle/>
          <a:p>
            <a:pPr algn="ctr" indent="0" marL="0">
              <a:buNone/>
            </a:pPr>
            <a:r>
              <a:rPr lang="en-US" sz="900" i="1" dirty="0">
                <a:solidFill>
                  <a:srgbClr val="5E5A7E"/>
                </a:solidFill>
                <a:latin typeface="Calibri" pitchFamily="34" charset="0"/>
                <a:ea typeface="Calibri" pitchFamily="34" charset="-122"/>
                <a:cs typeface="Calibri" pitchFamily="34" charset="-120"/>
              </a:rPr>
              <a:t>endpoint</a:t>
            </a:r>
            <a:endParaRPr lang="en-US" sz="900" dirty="0"/>
          </a:p>
        </p:txBody>
      </p:sp>
      <p:sp>
        <p:nvSpPr>
          <p:cNvPr id="26" name="Shape 24"/>
          <p:cNvSpPr/>
          <p:nvPr/>
        </p:nvSpPr>
        <p:spPr>
          <a:xfrm>
            <a:off x="5074920" y="5001768"/>
            <a:ext cx="457200" cy="914"/>
          </a:xfrm>
          <a:prstGeom prst="line">
            <a:avLst/>
          </a:prstGeom>
          <a:noFill/>
          <a:ln w="22225">
            <a:solidFill>
              <a:srgbClr val="E9A92B"/>
            </a:solidFill>
            <a:prstDash val="solid"/>
            <a:tailEnd type="triangle"/>
          </a:ln>
        </p:spPr>
      </p:sp>
      <p:sp>
        <p:nvSpPr>
          <p:cNvPr id="27" name="Shape 25"/>
          <p:cNvSpPr/>
          <p:nvPr/>
        </p:nvSpPr>
        <p:spPr>
          <a:xfrm>
            <a:off x="7909560" y="3429000"/>
            <a:ext cx="502920" cy="502920"/>
          </a:xfrm>
          <a:prstGeom prst="line">
            <a:avLst/>
          </a:prstGeom>
          <a:noFill/>
          <a:ln w="22225">
            <a:solidFill>
              <a:srgbClr val="4C3FB8"/>
            </a:solidFill>
            <a:prstDash val="solid"/>
            <a:tailEnd type="triangle"/>
          </a:ln>
        </p:spPr>
      </p:sp>
      <p:sp>
        <p:nvSpPr>
          <p:cNvPr id="28" name="Text 26"/>
          <p:cNvSpPr/>
          <p:nvPr/>
        </p:nvSpPr>
        <p:spPr>
          <a:xfrm>
            <a:off x="7520940" y="3442716"/>
            <a:ext cx="1280160" cy="201168"/>
          </a:xfrm>
          <a:prstGeom prst="rect">
            <a:avLst/>
          </a:prstGeom>
          <a:noFill/>
          <a:ln/>
        </p:spPr>
        <p:txBody>
          <a:bodyPr wrap="square" lIns="0" tIns="0" rIns="0" bIns="0" rtlCol="0" anchor="ctr"/>
          <a:lstStyle/>
          <a:p>
            <a:pPr algn="ctr" indent="0" marL="0">
              <a:buNone/>
            </a:pPr>
            <a:r>
              <a:rPr lang="en-US" sz="900" i="1" dirty="0">
                <a:solidFill>
                  <a:srgbClr val="5E5A7E"/>
                </a:solidFill>
                <a:latin typeface="Calibri" pitchFamily="34" charset="0"/>
                <a:ea typeface="Calibri" pitchFamily="34" charset="-122"/>
                <a:cs typeface="Calibri" pitchFamily="34" charset="-120"/>
              </a:rPr>
              <a:t>heard</a:t>
            </a:r>
            <a:endParaRPr lang="en-US" sz="900" dirty="0"/>
          </a:p>
        </p:txBody>
      </p:sp>
      <p:sp>
        <p:nvSpPr>
          <p:cNvPr id="29" name="Shape 27"/>
          <p:cNvSpPr/>
          <p:nvPr/>
        </p:nvSpPr>
        <p:spPr>
          <a:xfrm flipV="1">
            <a:off x="7909560" y="4480560"/>
            <a:ext cx="502920" cy="457200"/>
          </a:xfrm>
          <a:prstGeom prst="line">
            <a:avLst/>
          </a:prstGeom>
          <a:noFill/>
          <a:ln w="22225">
            <a:solidFill>
              <a:srgbClr val="E9A92B"/>
            </a:solidFill>
            <a:prstDash val="solid"/>
            <a:tailEnd type="triangle"/>
          </a:ln>
        </p:spPr>
      </p:sp>
      <p:sp>
        <p:nvSpPr>
          <p:cNvPr id="30" name="Text 28"/>
          <p:cNvSpPr/>
          <p:nvPr/>
        </p:nvSpPr>
        <p:spPr>
          <a:xfrm>
            <a:off x="7520940" y="4471416"/>
            <a:ext cx="1280160" cy="201168"/>
          </a:xfrm>
          <a:prstGeom prst="rect">
            <a:avLst/>
          </a:prstGeom>
          <a:noFill/>
          <a:ln/>
        </p:spPr>
        <p:txBody>
          <a:bodyPr wrap="square" lIns="0" tIns="0" rIns="0" bIns="0" rtlCol="0" anchor="ctr"/>
          <a:lstStyle/>
          <a:p>
            <a:pPr algn="ctr" indent="0" marL="0">
              <a:buNone/>
            </a:pPr>
            <a:r>
              <a:rPr lang="en-US" sz="900" i="1" dirty="0">
                <a:solidFill>
                  <a:srgbClr val="5E5A7E"/>
                </a:solidFill>
                <a:latin typeface="Calibri" pitchFamily="34" charset="0"/>
                <a:ea typeface="Calibri" pitchFamily="34" charset="-122"/>
                <a:cs typeface="Calibri" pitchFamily="34" charset="-120"/>
              </a:rPr>
              <a:t>target</a:t>
            </a:r>
            <a:endParaRPr lang="en-US" sz="900" dirty="0"/>
          </a:p>
        </p:txBody>
      </p:sp>
      <p:sp>
        <p:nvSpPr>
          <p:cNvPr id="31" name="Shape 29"/>
          <p:cNvSpPr/>
          <p:nvPr/>
        </p:nvSpPr>
        <p:spPr>
          <a:xfrm>
            <a:off x="10012680" y="4178808"/>
            <a:ext cx="320040" cy="914"/>
          </a:xfrm>
          <a:prstGeom prst="line">
            <a:avLst/>
          </a:prstGeom>
          <a:noFill/>
          <a:ln w="22225">
            <a:solidFill>
              <a:srgbClr val="E07A2E"/>
            </a:solidFill>
            <a:prstDash val="solid"/>
            <a:tailEnd type="triangle"/>
          </a:ln>
        </p:spPr>
      </p:sp>
      <p:sp>
        <p:nvSpPr>
          <p:cNvPr id="32" name="Shape 30"/>
          <p:cNvSpPr/>
          <p:nvPr/>
        </p:nvSpPr>
        <p:spPr>
          <a:xfrm>
            <a:off x="5074920" y="2167128"/>
            <a:ext cx="5257800" cy="914"/>
          </a:xfrm>
          <a:prstGeom prst="line">
            <a:avLst/>
          </a:prstGeom>
          <a:noFill/>
          <a:ln w="22225">
            <a:solidFill>
              <a:srgbClr val="1F8F94"/>
            </a:solidFill>
            <a:prstDash val="solid"/>
            <a:tailEnd type="triangle"/>
          </a:ln>
        </p:spPr>
      </p:sp>
      <p:sp>
        <p:nvSpPr>
          <p:cNvPr id="33" name="Text 31"/>
          <p:cNvSpPr/>
          <p:nvPr/>
        </p:nvSpPr>
        <p:spPr>
          <a:xfrm>
            <a:off x="7063740" y="1929384"/>
            <a:ext cx="1280160" cy="201168"/>
          </a:xfrm>
          <a:prstGeom prst="rect">
            <a:avLst/>
          </a:prstGeom>
          <a:noFill/>
          <a:ln/>
        </p:spPr>
        <p:txBody>
          <a:bodyPr wrap="square" lIns="0" tIns="0" rIns="0" bIns="0" rtlCol="0" anchor="ctr"/>
          <a:lstStyle/>
          <a:p>
            <a:pPr algn="ctr" indent="0" marL="0">
              <a:buNone/>
            </a:pPr>
            <a:r>
              <a:rPr lang="en-US" sz="900" i="1" dirty="0">
                <a:solidFill>
                  <a:srgbClr val="5E5A7E"/>
                </a:solidFill>
                <a:latin typeface="Calibri" pitchFamily="34" charset="0"/>
                <a:ea typeface="Calibri" pitchFamily="34" charset="-122"/>
                <a:cs typeface="Calibri" pitchFamily="34" charset="-120"/>
              </a:rPr>
              <a:t>partial (display only)</a:t>
            </a:r>
            <a:endParaRPr lang="en-US" sz="900" dirty="0"/>
          </a:p>
        </p:txBody>
      </p:sp>
      <p:sp>
        <p:nvSpPr>
          <p:cNvPr id="34" name="Shape 32"/>
          <p:cNvSpPr/>
          <p:nvPr/>
        </p:nvSpPr>
        <p:spPr>
          <a:xfrm>
            <a:off x="548640" y="5715000"/>
            <a:ext cx="11109960" cy="548640"/>
          </a:xfrm>
          <a:prstGeom prst="roundRect">
            <a:avLst>
              <a:gd name="adj" fmla="val 23333"/>
            </a:avLst>
          </a:prstGeom>
          <a:solidFill>
            <a:srgbClr val="EEE9FF"/>
          </a:solidFill>
          <a:ln w="12700">
            <a:solidFill>
              <a:srgbClr val="EEE9FF"/>
            </a:solidFill>
            <a:prstDash val="solid"/>
          </a:ln>
        </p:spPr>
      </p:sp>
      <p:sp>
        <p:nvSpPr>
          <p:cNvPr id="35" name="Text 33"/>
          <p:cNvSpPr/>
          <p:nvPr/>
        </p:nvSpPr>
        <p:spPr>
          <a:xfrm>
            <a:off x="731520" y="5760720"/>
            <a:ext cx="10789920" cy="457200"/>
          </a:xfrm>
          <a:prstGeom prst="rect">
            <a:avLst/>
          </a:prstGeom>
          <a:noFill/>
          <a:ln/>
        </p:spPr>
        <p:txBody>
          <a:bodyPr wrap="square" lIns="0" tIns="0" rIns="0" bIns="0" rtlCol="0" anchor="ctr"/>
          <a:lstStyle/>
          <a:p>
            <a:pPr indent="0" marL="0">
              <a:buNone/>
            </a:pPr>
            <a:r>
              <a:rPr lang="en-US" sz="1200" b="1" dirty="0">
                <a:solidFill>
                  <a:srgbClr val="4C3FB8"/>
                </a:solidFill>
                <a:latin typeface="Calibri" pitchFamily="34" charset="0"/>
                <a:ea typeface="Calibri" pitchFamily="34" charset="-122"/>
                <a:cs typeface="Calibri" pitchFamily="34" charset="-120"/>
              </a:rPr>
              <a:t>Real-time: </a:t>
            </a:r>
            <a:pPr indent="0" marL="0">
              <a:buNone/>
            </a:pPr>
            <a:r>
              <a:rPr lang="en-US" sz="1200" dirty="0">
                <a:solidFill>
                  <a:srgbClr val="1E1A3C"/>
                </a:solidFill>
                <a:latin typeface="Calibri" pitchFamily="34" charset="0"/>
                <a:ea typeface="Calibri" pitchFamily="34" charset="-122"/>
                <a:cs typeface="Calibri" pitchFamily="34" charset="-120"/>
              </a:rPr>
              <a:t>Jalur A ngeluarin partial transcript selagi user ngomong. Jalur B jalan sekali per ucapan setelah endpoint, latency-nya diukur endpoint → score. Teks Jalur A nggak pernah dipakai buat skor atau endpoint.</a:t>
            </a:r>
            <a:endParaRPr lang="en-US" sz="12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655064" cy="292608"/>
          </a:xfrm>
          <a:prstGeom prst="roundRect">
            <a:avLst>
              <a:gd name="adj" fmla="val 50000"/>
            </a:avLst>
          </a:prstGeom>
          <a:solidFill>
            <a:srgbClr val="E07A2E"/>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II · MODEL</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1E1A3C"/>
                </a:solidFill>
                <a:latin typeface="Georgia" pitchFamily="34" charset="0"/>
                <a:ea typeface="Georgia" pitchFamily="34" charset="-122"/>
                <a:cs typeface="Georgia" pitchFamily="34" charset="-120"/>
              </a:rPr>
              <a:t>Sound judge: cara kerja wav2vec2 phoneme CTC</a:t>
            </a:r>
            <a:endParaRPr lang="en-US" sz="30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1645920"/>
            <a:ext cx="5120640" cy="621792"/>
          </a:xfrm>
          <a:prstGeom prst="roundRect">
            <a:avLst>
              <a:gd name="adj" fmla="val 14706"/>
            </a:avLst>
          </a:prstGeom>
          <a:solidFill>
            <a:srgbClr val="FFFFFF"/>
          </a:solidFill>
          <a:ln w="25400">
            <a:solidFill>
              <a:srgbClr val="8C87AD"/>
            </a:solidFill>
            <a:prstDash val="solid"/>
          </a:ln>
          <a:effectLst>
            <a:outerShdw sx="100000" sy="100000" kx="0" ky="0" algn="bl" rotWithShape="0" blurRad="127000" dist="38100" dir="5400000">
              <a:srgbClr val="2A2050">
                <a:alpha val="8000"/>
              </a:srgbClr>
            </a:outerShdw>
          </a:effectLst>
        </p:spPr>
      </p:sp>
      <p:sp>
        <p:nvSpPr>
          <p:cNvPr id="7" name="Text 5"/>
          <p:cNvSpPr/>
          <p:nvPr/>
        </p:nvSpPr>
        <p:spPr>
          <a:xfrm>
            <a:off x="658368" y="1773936"/>
            <a:ext cx="365760" cy="365760"/>
          </a:xfrm>
          <a:prstGeom prst="ellipse">
            <a:avLst/>
          </a:prstGeom>
          <a:solidFill>
            <a:srgbClr val="8C87AD"/>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70432" y="1700784"/>
            <a:ext cx="2103120" cy="512064"/>
          </a:xfrm>
          <a:prstGeom prst="rect">
            <a:avLst/>
          </a:prstGeom>
          <a:noFill/>
          <a:ln/>
        </p:spPr>
        <p:txBody>
          <a:bodyPr wrap="square" lIns="0" tIns="0" rIns="0" bIns="0" rtlCol="0" anchor="ctr"/>
          <a:lstStyle/>
          <a:p>
            <a:pPr indent="0" marL="0">
              <a:buNone/>
            </a:pPr>
            <a:r>
              <a:rPr lang="en-US" sz="1350" b="1" dirty="0">
                <a:solidFill>
                  <a:srgbClr val="1E1A3C"/>
                </a:solidFill>
                <a:latin typeface="Calibri" pitchFamily="34" charset="0"/>
                <a:ea typeface="Calibri" pitchFamily="34" charset="-122"/>
                <a:cs typeface="Calibri" pitchFamily="34" charset="-120"/>
              </a:rPr>
              <a:t>Waveform</a:t>
            </a:r>
            <a:endParaRPr lang="en-US" sz="1350" dirty="0"/>
          </a:p>
        </p:txBody>
      </p:sp>
      <p:sp>
        <p:nvSpPr>
          <p:cNvPr id="9" name="Text 7"/>
          <p:cNvSpPr/>
          <p:nvPr/>
        </p:nvSpPr>
        <p:spPr>
          <a:xfrm>
            <a:off x="3246120" y="1700784"/>
            <a:ext cx="2331720" cy="512064"/>
          </a:xfrm>
          <a:prstGeom prst="rect">
            <a:avLst/>
          </a:prstGeom>
          <a:noFill/>
          <a:ln/>
        </p:spPr>
        <p:txBody>
          <a:bodyPr wrap="square" lIns="0" tIns="0" rIns="0" bIns="0" rtlCol="0" anchor="ctr"/>
          <a:lstStyle/>
          <a:p>
            <a:pPr indent="0" marL="0">
              <a:buNone/>
            </a:pPr>
            <a:r>
              <a:rPr lang="en-US" sz="1150" dirty="0">
                <a:solidFill>
                  <a:srgbClr val="5E5A7E"/>
                </a:solidFill>
                <a:latin typeface="Calibri" pitchFamily="34" charset="0"/>
                <a:ea typeface="Calibri" pitchFamily="34" charset="-122"/>
                <a:cs typeface="Calibri" pitchFamily="34" charset="-120"/>
              </a:rPr>
              <a:t>audio 16 kHz satu ucapan</a:t>
            </a:r>
            <a:endParaRPr lang="en-US" sz="1150" dirty="0"/>
          </a:p>
        </p:txBody>
      </p:sp>
      <p:sp>
        <p:nvSpPr>
          <p:cNvPr id="10" name="Shape 8"/>
          <p:cNvSpPr/>
          <p:nvPr/>
        </p:nvSpPr>
        <p:spPr>
          <a:xfrm>
            <a:off x="548640" y="2432304"/>
            <a:ext cx="5120640" cy="621792"/>
          </a:xfrm>
          <a:prstGeom prst="roundRect">
            <a:avLst>
              <a:gd name="adj" fmla="val 14706"/>
            </a:avLst>
          </a:prstGeom>
          <a:solidFill>
            <a:srgbClr val="FFFFFF"/>
          </a:solidFill>
          <a:ln w="25400">
            <a:solidFill>
              <a:srgbClr val="1F8F94"/>
            </a:solidFill>
            <a:prstDash val="solid"/>
          </a:ln>
          <a:effectLst>
            <a:outerShdw sx="100000" sy="100000" kx="0" ky="0" algn="bl" rotWithShape="0" blurRad="127000" dist="38100" dir="5400000">
              <a:srgbClr val="2A2050">
                <a:alpha val="8000"/>
              </a:srgbClr>
            </a:outerShdw>
          </a:effectLst>
        </p:spPr>
      </p:sp>
      <p:sp>
        <p:nvSpPr>
          <p:cNvPr id="11" name="Text 9"/>
          <p:cNvSpPr/>
          <p:nvPr/>
        </p:nvSpPr>
        <p:spPr>
          <a:xfrm>
            <a:off x="658368" y="2560320"/>
            <a:ext cx="365760" cy="365760"/>
          </a:xfrm>
          <a:prstGeom prst="ellipse">
            <a:avLst/>
          </a:prstGeom>
          <a:solidFill>
            <a:srgbClr val="1F8F9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70432" y="2487168"/>
            <a:ext cx="2103120" cy="512064"/>
          </a:xfrm>
          <a:prstGeom prst="rect">
            <a:avLst/>
          </a:prstGeom>
          <a:noFill/>
          <a:ln/>
        </p:spPr>
        <p:txBody>
          <a:bodyPr wrap="square" lIns="0" tIns="0" rIns="0" bIns="0" rtlCol="0" anchor="ctr"/>
          <a:lstStyle/>
          <a:p>
            <a:pPr indent="0" marL="0">
              <a:buNone/>
            </a:pPr>
            <a:r>
              <a:rPr lang="en-US" sz="1350" b="1" dirty="0">
                <a:solidFill>
                  <a:srgbClr val="1E1A3C"/>
                </a:solidFill>
                <a:latin typeface="Calibri" pitchFamily="34" charset="0"/>
                <a:ea typeface="Calibri" pitchFamily="34" charset="-122"/>
                <a:cs typeface="Calibri" pitchFamily="34" charset="-120"/>
              </a:rPr>
              <a:t>CNN feature encoder</a:t>
            </a:r>
            <a:endParaRPr lang="en-US" sz="1350" dirty="0"/>
          </a:p>
        </p:txBody>
      </p:sp>
      <p:sp>
        <p:nvSpPr>
          <p:cNvPr id="13" name="Text 11"/>
          <p:cNvSpPr/>
          <p:nvPr/>
        </p:nvSpPr>
        <p:spPr>
          <a:xfrm>
            <a:off x="3246120" y="2487168"/>
            <a:ext cx="2331720" cy="512064"/>
          </a:xfrm>
          <a:prstGeom prst="rect">
            <a:avLst/>
          </a:prstGeom>
          <a:noFill/>
          <a:ln/>
        </p:spPr>
        <p:txBody>
          <a:bodyPr wrap="square" lIns="0" tIns="0" rIns="0" bIns="0" rtlCol="0" anchor="ctr"/>
          <a:lstStyle/>
          <a:p>
            <a:pPr indent="0" marL="0">
              <a:buNone/>
            </a:pPr>
            <a:r>
              <a:rPr lang="en-US" sz="1150" dirty="0">
                <a:solidFill>
                  <a:srgbClr val="5E5A7E"/>
                </a:solidFill>
                <a:latin typeface="Calibri" pitchFamily="34" charset="0"/>
                <a:ea typeface="Calibri" pitchFamily="34" charset="-122"/>
                <a:cs typeface="Calibri" pitchFamily="34" charset="-120"/>
              </a:rPr>
              <a:t>audio → vektor tiap ±20 ms</a:t>
            </a:r>
            <a:endParaRPr lang="en-US" sz="1150" dirty="0"/>
          </a:p>
        </p:txBody>
      </p:sp>
      <p:sp>
        <p:nvSpPr>
          <p:cNvPr id="14" name="Shape 12"/>
          <p:cNvSpPr/>
          <p:nvPr/>
        </p:nvSpPr>
        <p:spPr>
          <a:xfrm>
            <a:off x="548640" y="3218688"/>
            <a:ext cx="5120640" cy="621792"/>
          </a:xfrm>
          <a:prstGeom prst="roundRect">
            <a:avLst>
              <a:gd name="adj" fmla="val 14706"/>
            </a:avLst>
          </a:prstGeom>
          <a:solidFill>
            <a:srgbClr val="FFFFFF"/>
          </a:solidFill>
          <a:ln w="25400">
            <a:solidFill>
              <a:srgbClr val="4C3FB8"/>
            </a:solidFill>
            <a:prstDash val="solid"/>
          </a:ln>
          <a:effectLst>
            <a:outerShdw sx="100000" sy="100000" kx="0" ky="0" algn="bl" rotWithShape="0" blurRad="127000" dist="38100" dir="5400000">
              <a:srgbClr val="2A2050">
                <a:alpha val="8000"/>
              </a:srgbClr>
            </a:outerShdw>
          </a:effectLst>
        </p:spPr>
      </p:sp>
      <p:sp>
        <p:nvSpPr>
          <p:cNvPr id="15" name="Text 13"/>
          <p:cNvSpPr/>
          <p:nvPr/>
        </p:nvSpPr>
        <p:spPr>
          <a:xfrm>
            <a:off x="658368" y="3346704"/>
            <a:ext cx="365760" cy="365760"/>
          </a:xfrm>
          <a:prstGeom prst="ellipse">
            <a:avLst/>
          </a:prstGeom>
          <a:solidFill>
            <a:srgbClr val="4C3FB8"/>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170432" y="3273552"/>
            <a:ext cx="2103120" cy="512064"/>
          </a:xfrm>
          <a:prstGeom prst="rect">
            <a:avLst/>
          </a:prstGeom>
          <a:noFill/>
          <a:ln/>
        </p:spPr>
        <p:txBody>
          <a:bodyPr wrap="square" lIns="0" tIns="0" rIns="0" bIns="0" rtlCol="0" anchor="ctr"/>
          <a:lstStyle/>
          <a:p>
            <a:pPr indent="0" marL="0">
              <a:buNone/>
            </a:pPr>
            <a:r>
              <a:rPr lang="en-US" sz="1350" b="1" dirty="0">
                <a:solidFill>
                  <a:srgbClr val="1E1A3C"/>
                </a:solidFill>
                <a:latin typeface="Calibri" pitchFamily="34" charset="0"/>
                <a:ea typeface="Calibri" pitchFamily="34" charset="-122"/>
                <a:cs typeface="Calibri" pitchFamily="34" charset="-120"/>
              </a:rPr>
              <a:t>Transformer encoder</a:t>
            </a:r>
            <a:endParaRPr lang="en-US" sz="1350" dirty="0"/>
          </a:p>
        </p:txBody>
      </p:sp>
      <p:sp>
        <p:nvSpPr>
          <p:cNvPr id="17" name="Text 15"/>
          <p:cNvSpPr/>
          <p:nvPr/>
        </p:nvSpPr>
        <p:spPr>
          <a:xfrm>
            <a:off x="3246120" y="3273552"/>
            <a:ext cx="2331720" cy="512064"/>
          </a:xfrm>
          <a:prstGeom prst="rect">
            <a:avLst/>
          </a:prstGeom>
          <a:noFill/>
          <a:ln/>
        </p:spPr>
        <p:txBody>
          <a:bodyPr wrap="square" lIns="0" tIns="0" rIns="0" bIns="0" rtlCol="0" anchor="ctr"/>
          <a:lstStyle/>
          <a:p>
            <a:pPr indent="0" marL="0">
              <a:buNone/>
            </a:pPr>
            <a:r>
              <a:rPr lang="en-US" sz="1150" dirty="0">
                <a:solidFill>
                  <a:srgbClr val="5E5A7E"/>
                </a:solidFill>
                <a:latin typeface="Calibri" pitchFamily="34" charset="0"/>
                <a:ea typeface="Calibri" pitchFamily="34" charset="-122"/>
                <a:cs typeface="Calibri" pitchFamily="34" charset="-120"/>
              </a:rPr>
              <a:t>24 layer, konteks seluruh ucapan</a:t>
            </a:r>
            <a:endParaRPr lang="en-US" sz="1150" dirty="0"/>
          </a:p>
        </p:txBody>
      </p:sp>
      <p:sp>
        <p:nvSpPr>
          <p:cNvPr id="18" name="Shape 16"/>
          <p:cNvSpPr/>
          <p:nvPr/>
        </p:nvSpPr>
        <p:spPr>
          <a:xfrm>
            <a:off x="548640" y="4005072"/>
            <a:ext cx="5120640" cy="621792"/>
          </a:xfrm>
          <a:prstGeom prst="roundRect">
            <a:avLst>
              <a:gd name="adj" fmla="val 14706"/>
            </a:avLst>
          </a:prstGeom>
          <a:solidFill>
            <a:srgbClr val="FFFFFF"/>
          </a:solidFill>
          <a:ln w="25400">
            <a:solidFill>
              <a:srgbClr val="E07A2E"/>
            </a:solidFill>
            <a:prstDash val="solid"/>
          </a:ln>
          <a:effectLst>
            <a:outerShdw sx="100000" sy="100000" kx="0" ky="0" algn="bl" rotWithShape="0" blurRad="127000" dist="38100" dir="5400000">
              <a:srgbClr val="2A2050">
                <a:alpha val="8000"/>
              </a:srgbClr>
            </a:outerShdw>
          </a:effectLst>
        </p:spPr>
      </p:sp>
      <p:sp>
        <p:nvSpPr>
          <p:cNvPr id="19" name="Text 17"/>
          <p:cNvSpPr/>
          <p:nvPr/>
        </p:nvSpPr>
        <p:spPr>
          <a:xfrm>
            <a:off x="658368" y="4133088"/>
            <a:ext cx="365760" cy="365760"/>
          </a:xfrm>
          <a:prstGeom prst="ellipse">
            <a:avLst/>
          </a:prstGeom>
          <a:solidFill>
            <a:srgbClr val="E07A2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p:nvPr/>
        </p:nvSpPr>
        <p:spPr>
          <a:xfrm>
            <a:off x="1170432" y="4059936"/>
            <a:ext cx="2103120" cy="512064"/>
          </a:xfrm>
          <a:prstGeom prst="rect">
            <a:avLst/>
          </a:prstGeom>
          <a:noFill/>
          <a:ln/>
        </p:spPr>
        <p:txBody>
          <a:bodyPr wrap="square" lIns="0" tIns="0" rIns="0" bIns="0" rtlCol="0" anchor="ctr"/>
          <a:lstStyle/>
          <a:p>
            <a:pPr indent="0" marL="0">
              <a:buNone/>
            </a:pPr>
            <a:r>
              <a:rPr lang="en-US" sz="1350" b="1" dirty="0">
                <a:solidFill>
                  <a:srgbClr val="1E1A3C"/>
                </a:solidFill>
                <a:latin typeface="Calibri" pitchFamily="34" charset="0"/>
                <a:ea typeface="Calibri" pitchFamily="34" charset="-122"/>
                <a:cs typeface="Calibri" pitchFamily="34" charset="-120"/>
              </a:rPr>
              <a:t>Linear + softmax</a:t>
            </a:r>
            <a:endParaRPr lang="en-US" sz="1350" dirty="0"/>
          </a:p>
        </p:txBody>
      </p:sp>
      <p:sp>
        <p:nvSpPr>
          <p:cNvPr id="21" name="Text 19"/>
          <p:cNvSpPr/>
          <p:nvPr/>
        </p:nvSpPr>
        <p:spPr>
          <a:xfrm>
            <a:off x="3246120" y="4059936"/>
            <a:ext cx="2331720" cy="512064"/>
          </a:xfrm>
          <a:prstGeom prst="rect">
            <a:avLst/>
          </a:prstGeom>
          <a:noFill/>
          <a:ln/>
        </p:spPr>
        <p:txBody>
          <a:bodyPr wrap="square" lIns="0" tIns="0" rIns="0" bIns="0" rtlCol="0" anchor="ctr"/>
          <a:lstStyle/>
          <a:p>
            <a:pPr indent="0" marL="0">
              <a:buNone/>
            </a:pPr>
            <a:r>
              <a:rPr lang="en-US" sz="1150" dirty="0">
                <a:solidFill>
                  <a:srgbClr val="5E5A7E"/>
                </a:solidFill>
                <a:latin typeface="Calibri" pitchFamily="34" charset="0"/>
                <a:ea typeface="Calibri" pitchFamily="34" charset="-122"/>
                <a:cs typeface="Calibri" pitchFamily="34" charset="-120"/>
              </a:rPr>
              <a:t>peluang tiap fonem (+ blank) per frame</a:t>
            </a:r>
            <a:endParaRPr lang="en-US" sz="1150" dirty="0"/>
          </a:p>
        </p:txBody>
      </p:sp>
      <p:sp>
        <p:nvSpPr>
          <p:cNvPr id="22" name="Shape 20"/>
          <p:cNvSpPr/>
          <p:nvPr/>
        </p:nvSpPr>
        <p:spPr>
          <a:xfrm>
            <a:off x="548640" y="4791456"/>
            <a:ext cx="5120640" cy="621792"/>
          </a:xfrm>
          <a:prstGeom prst="roundRect">
            <a:avLst>
              <a:gd name="adj" fmla="val 14706"/>
            </a:avLst>
          </a:prstGeom>
          <a:solidFill>
            <a:srgbClr val="FFFFFF"/>
          </a:solidFill>
          <a:ln w="25400">
            <a:solidFill>
              <a:srgbClr val="2E9E62"/>
            </a:solidFill>
            <a:prstDash val="solid"/>
          </a:ln>
          <a:effectLst>
            <a:outerShdw sx="100000" sy="100000" kx="0" ky="0" algn="bl" rotWithShape="0" blurRad="127000" dist="38100" dir="5400000">
              <a:srgbClr val="2A2050">
                <a:alpha val="8000"/>
              </a:srgbClr>
            </a:outerShdw>
          </a:effectLst>
        </p:spPr>
      </p:sp>
      <p:sp>
        <p:nvSpPr>
          <p:cNvPr id="23" name="Text 21"/>
          <p:cNvSpPr/>
          <p:nvPr/>
        </p:nvSpPr>
        <p:spPr>
          <a:xfrm>
            <a:off x="658368" y="4919472"/>
            <a:ext cx="365760" cy="365760"/>
          </a:xfrm>
          <a:prstGeom prst="ellipse">
            <a:avLst/>
          </a:prstGeom>
          <a:solidFill>
            <a:srgbClr val="2E9E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p:nvPr/>
        </p:nvSpPr>
        <p:spPr>
          <a:xfrm>
            <a:off x="1170432" y="4846320"/>
            <a:ext cx="2103120" cy="512064"/>
          </a:xfrm>
          <a:prstGeom prst="rect">
            <a:avLst/>
          </a:prstGeom>
          <a:noFill/>
          <a:ln/>
        </p:spPr>
        <p:txBody>
          <a:bodyPr wrap="square" lIns="0" tIns="0" rIns="0" bIns="0" rtlCol="0" anchor="ctr"/>
          <a:lstStyle/>
          <a:p>
            <a:pPr indent="0" marL="0">
              <a:buNone/>
            </a:pPr>
            <a:r>
              <a:rPr lang="en-US" sz="1350" b="1" dirty="0">
                <a:solidFill>
                  <a:srgbClr val="1E1A3C"/>
                </a:solidFill>
                <a:latin typeface="Calibri" pitchFamily="34" charset="0"/>
                <a:ea typeface="Calibri" pitchFamily="34" charset="-122"/>
                <a:cs typeface="Calibri" pitchFamily="34" charset="-120"/>
              </a:rPr>
              <a:t>CTC greedy decode</a:t>
            </a:r>
            <a:endParaRPr lang="en-US" sz="1350" dirty="0"/>
          </a:p>
        </p:txBody>
      </p:sp>
      <p:sp>
        <p:nvSpPr>
          <p:cNvPr id="25" name="Text 23"/>
          <p:cNvSpPr/>
          <p:nvPr/>
        </p:nvSpPr>
        <p:spPr>
          <a:xfrm>
            <a:off x="3246120" y="4846320"/>
            <a:ext cx="2331720" cy="512064"/>
          </a:xfrm>
          <a:prstGeom prst="rect">
            <a:avLst/>
          </a:prstGeom>
          <a:noFill/>
          <a:ln/>
        </p:spPr>
        <p:txBody>
          <a:bodyPr wrap="square" lIns="0" tIns="0" rIns="0" bIns="0" rtlCol="0" anchor="ctr"/>
          <a:lstStyle/>
          <a:p>
            <a:pPr indent="0" marL="0">
              <a:buNone/>
            </a:pPr>
            <a:r>
              <a:rPr lang="en-US" sz="1150" dirty="0">
                <a:solidFill>
                  <a:srgbClr val="5E5A7E"/>
                </a:solidFill>
                <a:latin typeface="Calibri" pitchFamily="34" charset="0"/>
                <a:ea typeface="Calibri" pitchFamily="34" charset="-122"/>
                <a:cs typeface="Calibri" pitchFamily="34" charset="-120"/>
              </a:rPr>
              <a:t>gabung yang berulang, buang blank</a:t>
            </a:r>
            <a:endParaRPr lang="en-US" sz="1150" dirty="0"/>
          </a:p>
        </p:txBody>
      </p:sp>
      <p:sp>
        <p:nvSpPr>
          <p:cNvPr id="26" name="Text 24"/>
          <p:cNvSpPr/>
          <p:nvPr/>
        </p:nvSpPr>
        <p:spPr>
          <a:xfrm>
            <a:off x="548640" y="5650992"/>
            <a:ext cx="1463040" cy="457200"/>
          </a:xfrm>
          <a:prstGeom prst="rect">
            <a:avLst/>
          </a:prstGeom>
          <a:noFill/>
          <a:ln/>
        </p:spPr>
        <p:txBody>
          <a:bodyPr wrap="square" lIns="0" tIns="0" rIns="0" bIns="0" rtlCol="0" anchor="ctr"/>
          <a:lstStyle/>
          <a:p>
            <a:pPr indent="0" marL="0">
              <a:buNone/>
            </a:pPr>
            <a:r>
              <a:rPr lang="en-US" sz="1200" b="1" dirty="0">
                <a:solidFill>
                  <a:srgbClr val="5E5A7E"/>
                </a:solidFill>
                <a:latin typeface="Calibri" pitchFamily="34" charset="0"/>
                <a:ea typeface="Calibri" pitchFamily="34" charset="-122"/>
                <a:cs typeface="Calibri" pitchFamily="34" charset="-120"/>
              </a:rPr>
              <a:t>Contoh (∅ = blank):</a:t>
            </a:r>
            <a:endParaRPr lang="en-US" sz="1200" dirty="0"/>
          </a:p>
        </p:txBody>
      </p:sp>
      <p:sp>
        <p:nvSpPr>
          <p:cNvPr id="27" name="Text 25"/>
          <p:cNvSpPr/>
          <p:nvPr/>
        </p:nvSpPr>
        <p:spPr>
          <a:xfrm>
            <a:off x="2011680" y="5724144"/>
            <a:ext cx="274320" cy="274320"/>
          </a:xfrm>
          <a:prstGeom prst="roundRect">
            <a:avLst>
              <a:gd name="adj" fmla="val 33333"/>
            </a:avLst>
          </a:prstGeom>
          <a:solidFill>
            <a:srgbClr val="FFFFFF"/>
          </a:solidFill>
          <a:ln w="15875">
            <a:solidFill>
              <a:srgbClr val="DCD3FF"/>
            </a:solidFill>
          </a:ln>
        </p:spPr>
        <p:txBody>
          <a:bodyPr wrap="square" lIns="0" tIns="0" rIns="0" bIns="0" rtlCol="0" anchor="ctr"/>
          <a:lstStyle/>
          <a:p>
            <a:pPr algn="ctr" indent="0" marL="0">
              <a:buNone/>
            </a:pPr>
            <a:r>
              <a:rPr lang="en-US" sz="1100" b="1" dirty="0">
                <a:solidFill>
                  <a:srgbClr val="1E1A3C"/>
                </a:solidFill>
                <a:latin typeface="Calibri" pitchFamily="34" charset="0"/>
                <a:ea typeface="Calibri" pitchFamily="34" charset="-122"/>
                <a:cs typeface="Calibri" pitchFamily="34" charset="-120"/>
              </a:rPr>
              <a:t>t</a:t>
            </a:r>
            <a:endParaRPr lang="en-US" sz="1100" dirty="0"/>
          </a:p>
        </p:txBody>
      </p:sp>
      <p:sp>
        <p:nvSpPr>
          <p:cNvPr id="28" name="Text 26"/>
          <p:cNvSpPr/>
          <p:nvPr/>
        </p:nvSpPr>
        <p:spPr>
          <a:xfrm>
            <a:off x="2313432" y="5724144"/>
            <a:ext cx="274320" cy="274320"/>
          </a:xfrm>
          <a:prstGeom prst="roundRect">
            <a:avLst>
              <a:gd name="adj" fmla="val 33333"/>
            </a:avLst>
          </a:prstGeom>
          <a:solidFill>
            <a:srgbClr val="FFFFFF"/>
          </a:solidFill>
          <a:ln w="15875">
            <a:solidFill>
              <a:srgbClr val="DCD3FF"/>
            </a:solidFill>
          </a:ln>
        </p:spPr>
        <p:txBody>
          <a:bodyPr wrap="square" lIns="0" tIns="0" rIns="0" bIns="0" rtlCol="0" anchor="ctr"/>
          <a:lstStyle/>
          <a:p>
            <a:pPr algn="ctr" indent="0" marL="0">
              <a:buNone/>
            </a:pPr>
            <a:r>
              <a:rPr lang="en-US" sz="1100" b="1" dirty="0">
                <a:solidFill>
                  <a:srgbClr val="1E1A3C"/>
                </a:solidFill>
                <a:latin typeface="Calibri" pitchFamily="34" charset="0"/>
                <a:ea typeface="Calibri" pitchFamily="34" charset="-122"/>
                <a:cs typeface="Calibri" pitchFamily="34" charset="-120"/>
              </a:rPr>
              <a:t>t</a:t>
            </a:r>
            <a:endParaRPr lang="en-US" sz="1100" dirty="0"/>
          </a:p>
        </p:txBody>
      </p:sp>
      <p:sp>
        <p:nvSpPr>
          <p:cNvPr id="29" name="Text 27"/>
          <p:cNvSpPr/>
          <p:nvPr/>
        </p:nvSpPr>
        <p:spPr>
          <a:xfrm>
            <a:off x="2615184" y="5724144"/>
            <a:ext cx="274320" cy="274320"/>
          </a:xfrm>
          <a:prstGeom prst="roundRect">
            <a:avLst>
              <a:gd name="adj" fmla="val 33333"/>
            </a:avLst>
          </a:prstGeom>
          <a:solidFill>
            <a:srgbClr val="FFFFFF"/>
          </a:solidFill>
          <a:ln w="15875">
            <a:solidFill>
              <a:srgbClr val="DCD3FF"/>
            </a:solidFill>
          </a:ln>
        </p:spPr>
        <p:txBody>
          <a:bodyPr wrap="square" lIns="0" tIns="0" rIns="0" bIns="0" rtlCol="0" anchor="ctr"/>
          <a:lstStyle/>
          <a:p>
            <a:pPr algn="ctr" indent="0" marL="0">
              <a:buNone/>
            </a:pPr>
            <a:r>
              <a:rPr lang="en-US" sz="1100" b="1" dirty="0">
                <a:solidFill>
                  <a:srgbClr val="1E1A3C"/>
                </a:solidFill>
                <a:latin typeface="Calibri" pitchFamily="34" charset="0"/>
                <a:ea typeface="Calibri" pitchFamily="34" charset="-122"/>
                <a:cs typeface="Calibri" pitchFamily="34" charset="-120"/>
              </a:rPr>
              <a:t>∅</a:t>
            </a:r>
            <a:endParaRPr lang="en-US" sz="1100" dirty="0"/>
          </a:p>
        </p:txBody>
      </p:sp>
      <p:sp>
        <p:nvSpPr>
          <p:cNvPr id="30" name="Text 28"/>
          <p:cNvSpPr/>
          <p:nvPr/>
        </p:nvSpPr>
        <p:spPr>
          <a:xfrm>
            <a:off x="2916936" y="5724144"/>
            <a:ext cx="274320" cy="274320"/>
          </a:xfrm>
          <a:prstGeom prst="roundRect">
            <a:avLst>
              <a:gd name="adj" fmla="val 33333"/>
            </a:avLst>
          </a:prstGeom>
          <a:solidFill>
            <a:srgbClr val="FFFFFF"/>
          </a:solidFill>
          <a:ln w="15875">
            <a:solidFill>
              <a:srgbClr val="DCD3FF"/>
            </a:solidFill>
          </a:ln>
        </p:spPr>
        <p:txBody>
          <a:bodyPr wrap="square" lIns="0" tIns="0" rIns="0" bIns="0" rtlCol="0" anchor="ctr"/>
          <a:lstStyle/>
          <a:p>
            <a:pPr algn="ctr" indent="0" marL="0">
              <a:buNone/>
            </a:pPr>
            <a:r>
              <a:rPr lang="en-US" sz="1100" b="1" dirty="0">
                <a:solidFill>
                  <a:srgbClr val="1E1A3C"/>
                </a:solidFill>
                <a:latin typeface="Calibri" pitchFamily="34" charset="0"/>
                <a:ea typeface="Calibri" pitchFamily="34" charset="-122"/>
                <a:cs typeface="Calibri" pitchFamily="34" charset="-120"/>
              </a:rPr>
              <a:t>ɪ</a:t>
            </a:r>
            <a:endParaRPr lang="en-US" sz="1100" dirty="0"/>
          </a:p>
        </p:txBody>
      </p:sp>
      <p:sp>
        <p:nvSpPr>
          <p:cNvPr id="31" name="Text 29"/>
          <p:cNvSpPr/>
          <p:nvPr/>
        </p:nvSpPr>
        <p:spPr>
          <a:xfrm>
            <a:off x="3218688" y="5724144"/>
            <a:ext cx="274320" cy="274320"/>
          </a:xfrm>
          <a:prstGeom prst="roundRect">
            <a:avLst>
              <a:gd name="adj" fmla="val 33333"/>
            </a:avLst>
          </a:prstGeom>
          <a:solidFill>
            <a:srgbClr val="FFFFFF"/>
          </a:solidFill>
          <a:ln w="15875">
            <a:solidFill>
              <a:srgbClr val="DCD3FF"/>
            </a:solidFill>
          </a:ln>
        </p:spPr>
        <p:txBody>
          <a:bodyPr wrap="square" lIns="0" tIns="0" rIns="0" bIns="0" rtlCol="0" anchor="ctr"/>
          <a:lstStyle/>
          <a:p>
            <a:pPr algn="ctr" indent="0" marL="0">
              <a:buNone/>
            </a:pPr>
            <a:r>
              <a:rPr lang="en-US" sz="1100" b="1" dirty="0">
                <a:solidFill>
                  <a:srgbClr val="1E1A3C"/>
                </a:solidFill>
                <a:latin typeface="Calibri" pitchFamily="34" charset="0"/>
                <a:ea typeface="Calibri" pitchFamily="34" charset="-122"/>
                <a:cs typeface="Calibri" pitchFamily="34" charset="-120"/>
              </a:rPr>
              <a:t>ŋ</a:t>
            </a:r>
            <a:endParaRPr lang="en-US" sz="1100" dirty="0"/>
          </a:p>
        </p:txBody>
      </p:sp>
      <p:sp>
        <p:nvSpPr>
          <p:cNvPr id="32" name="Text 30"/>
          <p:cNvSpPr/>
          <p:nvPr/>
        </p:nvSpPr>
        <p:spPr>
          <a:xfrm>
            <a:off x="3520440" y="5724144"/>
            <a:ext cx="274320" cy="274320"/>
          </a:xfrm>
          <a:prstGeom prst="roundRect">
            <a:avLst>
              <a:gd name="adj" fmla="val 33333"/>
            </a:avLst>
          </a:prstGeom>
          <a:solidFill>
            <a:srgbClr val="FFFFFF"/>
          </a:solidFill>
          <a:ln w="15875">
            <a:solidFill>
              <a:srgbClr val="DCD3FF"/>
            </a:solidFill>
          </a:ln>
        </p:spPr>
        <p:txBody>
          <a:bodyPr wrap="square" lIns="0" tIns="0" rIns="0" bIns="0" rtlCol="0" anchor="ctr"/>
          <a:lstStyle/>
          <a:p>
            <a:pPr algn="ctr" indent="0" marL="0">
              <a:buNone/>
            </a:pPr>
            <a:r>
              <a:rPr lang="en-US" sz="1100" b="1" dirty="0">
                <a:solidFill>
                  <a:srgbClr val="1E1A3C"/>
                </a:solidFill>
                <a:latin typeface="Calibri" pitchFamily="34" charset="0"/>
                <a:ea typeface="Calibri" pitchFamily="34" charset="-122"/>
                <a:cs typeface="Calibri" pitchFamily="34" charset="-120"/>
              </a:rPr>
              <a:t>ŋ</a:t>
            </a:r>
            <a:endParaRPr lang="en-US" sz="1100" dirty="0"/>
          </a:p>
        </p:txBody>
      </p:sp>
      <p:sp>
        <p:nvSpPr>
          <p:cNvPr id="33" name="Text 31"/>
          <p:cNvSpPr/>
          <p:nvPr/>
        </p:nvSpPr>
        <p:spPr>
          <a:xfrm>
            <a:off x="3822192" y="5724144"/>
            <a:ext cx="274320" cy="274320"/>
          </a:xfrm>
          <a:prstGeom prst="roundRect">
            <a:avLst>
              <a:gd name="adj" fmla="val 33333"/>
            </a:avLst>
          </a:prstGeom>
          <a:solidFill>
            <a:srgbClr val="FFFFFF"/>
          </a:solidFill>
          <a:ln w="15875">
            <a:solidFill>
              <a:srgbClr val="DCD3FF"/>
            </a:solidFill>
          </a:ln>
        </p:spPr>
        <p:txBody>
          <a:bodyPr wrap="square" lIns="0" tIns="0" rIns="0" bIns="0" rtlCol="0" anchor="ctr"/>
          <a:lstStyle/>
          <a:p>
            <a:pPr algn="ctr" indent="0" marL="0">
              <a:buNone/>
            </a:pPr>
            <a:r>
              <a:rPr lang="en-US" sz="1100" b="1" dirty="0">
                <a:solidFill>
                  <a:srgbClr val="1E1A3C"/>
                </a:solidFill>
                <a:latin typeface="Calibri" pitchFamily="34" charset="0"/>
                <a:ea typeface="Calibri" pitchFamily="34" charset="-122"/>
                <a:cs typeface="Calibri" pitchFamily="34" charset="-120"/>
              </a:rPr>
              <a:t>∅</a:t>
            </a:r>
            <a:endParaRPr lang="en-US" sz="1100" dirty="0"/>
          </a:p>
        </p:txBody>
      </p:sp>
      <p:sp>
        <p:nvSpPr>
          <p:cNvPr id="34" name="Text 32"/>
          <p:cNvSpPr/>
          <p:nvPr/>
        </p:nvSpPr>
        <p:spPr>
          <a:xfrm>
            <a:off x="4123944" y="5724144"/>
            <a:ext cx="274320" cy="274320"/>
          </a:xfrm>
          <a:prstGeom prst="roundRect">
            <a:avLst>
              <a:gd name="adj" fmla="val 33333"/>
            </a:avLst>
          </a:prstGeom>
          <a:solidFill>
            <a:srgbClr val="FFFFFF"/>
          </a:solidFill>
          <a:ln w="15875">
            <a:solidFill>
              <a:srgbClr val="DCD3FF"/>
            </a:solidFill>
          </a:ln>
        </p:spPr>
        <p:txBody>
          <a:bodyPr wrap="square" lIns="0" tIns="0" rIns="0" bIns="0" rtlCol="0" anchor="ctr"/>
          <a:lstStyle/>
          <a:p>
            <a:pPr algn="ctr" indent="0" marL="0">
              <a:buNone/>
            </a:pPr>
            <a:r>
              <a:rPr lang="en-US" sz="1100" b="1" dirty="0">
                <a:solidFill>
                  <a:srgbClr val="1E1A3C"/>
                </a:solidFill>
                <a:latin typeface="Calibri" pitchFamily="34" charset="0"/>
                <a:ea typeface="Calibri" pitchFamily="34" charset="-122"/>
                <a:cs typeface="Calibri" pitchFamily="34" charset="-120"/>
              </a:rPr>
              <a:t>k</a:t>
            </a:r>
            <a:endParaRPr lang="en-US" sz="1100" dirty="0"/>
          </a:p>
        </p:txBody>
      </p:sp>
      <p:sp>
        <p:nvSpPr>
          <p:cNvPr id="35" name="Text 33"/>
          <p:cNvSpPr/>
          <p:nvPr/>
        </p:nvSpPr>
        <p:spPr>
          <a:xfrm>
            <a:off x="4434840" y="5669280"/>
            <a:ext cx="274320" cy="384048"/>
          </a:xfrm>
          <a:prstGeom prst="rect">
            <a:avLst/>
          </a:prstGeom>
          <a:noFill/>
          <a:ln/>
        </p:spPr>
        <p:txBody>
          <a:bodyPr wrap="square" lIns="0" tIns="0" rIns="0" bIns="0" rtlCol="0" anchor="ctr"/>
          <a:lstStyle/>
          <a:p>
            <a:pPr algn="ctr" indent="0" marL="0">
              <a:buNone/>
            </a:pPr>
            <a:r>
              <a:rPr lang="en-US" sz="1600" dirty="0">
                <a:solidFill>
                  <a:srgbClr val="8C87AD"/>
                </a:solidFill>
              </a:rPr>
              <a:t>→</a:t>
            </a:r>
            <a:endParaRPr lang="en-US" sz="1600" dirty="0"/>
          </a:p>
        </p:txBody>
      </p:sp>
      <p:sp>
        <p:nvSpPr>
          <p:cNvPr id="36" name="Text 34"/>
          <p:cNvSpPr/>
          <p:nvPr/>
        </p:nvSpPr>
        <p:spPr>
          <a:xfrm>
            <a:off x="4754880" y="5724144"/>
            <a:ext cx="274320" cy="274320"/>
          </a:xfrm>
          <a:prstGeom prst="roundRect">
            <a:avLst>
              <a:gd name="adj" fmla="val 33333"/>
            </a:avLst>
          </a:prstGeom>
          <a:solidFill>
            <a:srgbClr val="4C3FB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a:t>
            </a:r>
            <a:endParaRPr lang="en-US" sz="1100" dirty="0"/>
          </a:p>
        </p:txBody>
      </p:sp>
      <p:sp>
        <p:nvSpPr>
          <p:cNvPr id="37" name="Text 35"/>
          <p:cNvSpPr/>
          <p:nvPr/>
        </p:nvSpPr>
        <p:spPr>
          <a:xfrm>
            <a:off x="5056632" y="5724144"/>
            <a:ext cx="274320" cy="274320"/>
          </a:xfrm>
          <a:prstGeom prst="roundRect">
            <a:avLst>
              <a:gd name="adj" fmla="val 33333"/>
            </a:avLst>
          </a:prstGeom>
          <a:solidFill>
            <a:srgbClr val="4C3FB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ɪ</a:t>
            </a:r>
            <a:endParaRPr lang="en-US" sz="1100" dirty="0"/>
          </a:p>
        </p:txBody>
      </p:sp>
      <p:sp>
        <p:nvSpPr>
          <p:cNvPr id="38" name="Text 36"/>
          <p:cNvSpPr/>
          <p:nvPr/>
        </p:nvSpPr>
        <p:spPr>
          <a:xfrm>
            <a:off x="5358384" y="5724144"/>
            <a:ext cx="274320" cy="274320"/>
          </a:xfrm>
          <a:prstGeom prst="roundRect">
            <a:avLst>
              <a:gd name="adj" fmla="val 33333"/>
            </a:avLst>
          </a:prstGeom>
          <a:solidFill>
            <a:srgbClr val="4C3FB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ŋ</a:t>
            </a:r>
            <a:endParaRPr lang="en-US" sz="1100" dirty="0"/>
          </a:p>
        </p:txBody>
      </p:sp>
      <p:sp>
        <p:nvSpPr>
          <p:cNvPr id="39" name="Text 37"/>
          <p:cNvSpPr/>
          <p:nvPr/>
        </p:nvSpPr>
        <p:spPr>
          <a:xfrm>
            <a:off x="5660136" y="5724144"/>
            <a:ext cx="274320" cy="274320"/>
          </a:xfrm>
          <a:prstGeom prst="roundRect">
            <a:avLst>
              <a:gd name="adj" fmla="val 33333"/>
            </a:avLst>
          </a:prstGeom>
          <a:solidFill>
            <a:srgbClr val="4C3FB8"/>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a:t>
            </a:r>
            <a:endParaRPr lang="en-US" sz="1100" dirty="0"/>
          </a:p>
        </p:txBody>
      </p:sp>
      <p:sp>
        <p:nvSpPr>
          <p:cNvPr id="40" name="Shape 38"/>
          <p:cNvSpPr/>
          <p:nvPr/>
        </p:nvSpPr>
        <p:spPr>
          <a:xfrm>
            <a:off x="6172200" y="1645920"/>
            <a:ext cx="5486400" cy="2606040"/>
          </a:xfrm>
          <a:prstGeom prst="roundRect">
            <a:avLst>
              <a:gd name="adj" fmla="val 4912"/>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41" name="Text 39"/>
          <p:cNvSpPr/>
          <p:nvPr/>
        </p:nvSpPr>
        <p:spPr>
          <a:xfrm>
            <a:off x="6400800" y="1810512"/>
            <a:ext cx="5120640" cy="320040"/>
          </a:xfrm>
          <a:prstGeom prst="rect">
            <a:avLst/>
          </a:prstGeom>
          <a:noFill/>
          <a:ln/>
        </p:spPr>
        <p:txBody>
          <a:bodyPr wrap="square" lIns="0" tIns="0" rIns="0" bIns="0" rtlCol="0" anchor="t"/>
          <a:lstStyle/>
          <a:p>
            <a:pPr indent="0" marL="0">
              <a:buNone/>
            </a:pPr>
            <a:r>
              <a:rPr lang="en-US" sz="1400" b="1" dirty="0">
                <a:solidFill>
                  <a:srgbClr val="E07A2E"/>
                </a:solidFill>
                <a:latin typeface="Consolas" pitchFamily="34" charset="0"/>
                <a:ea typeface="Consolas" pitchFamily="34" charset="-122"/>
                <a:cs typeface="Consolas" pitchFamily="34" charset="-120"/>
              </a:rPr>
              <a:t>facebook/wav2vec2-lv-60-espeak-cv-ft</a:t>
            </a:r>
            <a:endParaRPr lang="en-US" sz="1400" dirty="0"/>
          </a:p>
        </p:txBody>
      </p:sp>
      <p:sp>
        <p:nvSpPr>
          <p:cNvPr id="42" name="Text 40"/>
          <p:cNvSpPr/>
          <p:nvPr/>
        </p:nvSpPr>
        <p:spPr>
          <a:xfrm>
            <a:off x="6400800" y="2212848"/>
            <a:ext cx="5074920" cy="2377440"/>
          </a:xfrm>
          <a:prstGeom prst="rect">
            <a:avLst/>
          </a:prstGeom>
          <a:noFill/>
          <a:ln/>
        </p:spPr>
        <p:txBody>
          <a:bodyPr wrap="square" lIns="0" tIns="0" rIns="0" bIns="0" rtlCol="0" anchor="t"/>
          <a:lstStyle/>
          <a:p>
            <a:pPr indent="0" marL="0">
              <a:spcAft>
                <a:spcPts val="600"/>
              </a:spcAft>
              <a:buNone/>
            </a:pPr>
            <a:r>
              <a:rPr lang="en-US" sz="1250" b="1" dirty="0">
                <a:solidFill>
                  <a:srgbClr val="1E1A3C"/>
                </a:solidFill>
                <a:latin typeface="Calibri" pitchFamily="34" charset="0"/>
                <a:ea typeface="Calibri" pitchFamily="34" charset="-122"/>
                <a:cs typeface="Calibri" pitchFamily="34" charset="-120"/>
              </a:rPr>
              <a:t>Pretraining self-supervised</a:t>
            </a:r>
            <a:pPr indent="0" marL="0">
              <a:spcAft>
                <a:spcPts val="600"/>
              </a:spcAft>
              <a:buNone/>
            </a:pPr>
            <a:r>
              <a:rPr lang="en-US" sz="1250" dirty="0">
                <a:solidFill>
                  <a:srgbClr val="1E1A3C"/>
                </a:solidFill>
                <a:latin typeface="Calibri" pitchFamily="34" charset="0"/>
                <a:ea typeface="Calibri" pitchFamily="34" charset="-122"/>
                <a:cs typeface="Calibri" pitchFamily="34" charset="-120"/>
              </a:rPr>
              <a:t> di audio English tanpa label (LibriLight ±60k jam, “lv-60”).</a:t>
            </a:r>
            <a:endParaRPr lang="en-US" sz="1250" dirty="0"/>
          </a:p>
          <a:p>
            <a:pPr indent="0" marL="0">
              <a:spcAft>
                <a:spcPts val="600"/>
              </a:spcAft>
              <a:buNone/>
            </a:pPr>
            <a:r>
              <a:rPr lang="en-US" sz="1250" b="1" dirty="0">
                <a:solidFill>
                  <a:srgbClr val="1E1A3C"/>
                </a:solidFill>
                <a:latin typeface="Calibri" pitchFamily="34" charset="0"/>
                <a:ea typeface="Calibri" pitchFamily="34" charset="-122"/>
                <a:cs typeface="Calibri" pitchFamily="34" charset="-120"/>
              </a:rPr>
              <a:t>Fine-tune CTC</a:t>
            </a:r>
            <a:pPr indent="0" marL="0">
              <a:spcAft>
                <a:spcPts val="600"/>
              </a:spcAft>
              <a:buNone/>
            </a:pPr>
            <a:r>
              <a:rPr lang="en-US" sz="1250" dirty="0">
                <a:solidFill>
                  <a:srgbClr val="1E1A3C"/>
                </a:solidFill>
                <a:latin typeface="Calibri" pitchFamily="34" charset="0"/>
                <a:ea typeface="Calibri" pitchFamily="34" charset="-122"/>
                <a:cs typeface="Calibri" pitchFamily="34" charset="-120"/>
              </a:rPr>
              <a:t> pakai label fonem multibahasa dari Common Voice, alfabet espeak (Xu et al., 2021).</a:t>
            </a:r>
            <a:endParaRPr lang="en-US" sz="1250" dirty="0"/>
          </a:p>
          <a:p>
            <a:pPr indent="0" marL="0">
              <a:spcAft>
                <a:spcPts val="600"/>
              </a:spcAft>
              <a:buNone/>
            </a:pPr>
            <a:r>
              <a:rPr lang="en-US" sz="1250" b="1" dirty="0">
                <a:solidFill>
                  <a:srgbClr val="1E1A3C"/>
                </a:solidFill>
                <a:latin typeface="Calibri" pitchFamily="34" charset="0"/>
                <a:ea typeface="Calibri" pitchFamily="34" charset="-122"/>
                <a:cs typeface="Calibri" pitchFamily="34" charset="-120"/>
              </a:rPr>
              <a:t>Tanpa language model, tanpa biasing.</a:t>
            </a:r>
            <a:pPr indent="0" marL="0">
              <a:spcAft>
                <a:spcPts val="600"/>
              </a:spcAft>
              <a:buNone/>
            </a:pPr>
            <a:r>
              <a:rPr lang="en-US" sz="1250" dirty="0">
                <a:solidFill>
                  <a:srgbClr val="1E1A3C"/>
                </a:solidFill>
                <a:latin typeface="Calibri" pitchFamily="34" charset="0"/>
                <a:ea typeface="Calibri" pitchFamily="34" charset="-122"/>
                <a:cs typeface="Calibri" pitchFamily="34" charset="-120"/>
              </a:rPr>
              <a:t> Model nggak dikasih tahu kata targetnya, jadi yang keluar memang bunyi yang terdengar.</a:t>
            </a:r>
            <a:endParaRPr lang="en-US" sz="1250" dirty="0"/>
          </a:p>
          <a:p>
            <a:pPr indent="0" marL="0">
              <a:spcAft>
                <a:spcPts val="600"/>
              </a:spcAft>
              <a:buNone/>
            </a:pPr>
            <a:r>
              <a:rPr lang="en-US" sz="1250" b="1" dirty="0">
                <a:solidFill>
                  <a:srgbClr val="1E1A3C"/>
                </a:solidFill>
                <a:latin typeface="Calibri" pitchFamily="34" charset="0"/>
                <a:ea typeface="Calibri" pitchFamily="34" charset="-122"/>
                <a:cs typeface="Calibri" pitchFamily="34" charset="-120"/>
              </a:rPr>
              <a:t>Load sekali, proses terpisah.</a:t>
            </a:r>
            <a:pPr indent="0" marL="0">
              <a:spcAft>
                <a:spcPts val="600"/>
              </a:spcAft>
              <a:buNone/>
            </a:pPr>
            <a:r>
              <a:rPr lang="en-US" sz="1250" dirty="0">
                <a:solidFill>
                  <a:srgbClr val="1E1A3C"/>
                </a:solidFill>
                <a:latin typeface="Calibri" pitchFamily="34" charset="0"/>
                <a:ea typeface="Calibri" pitchFamily="34" charset="-122"/>
                <a:cs typeface="Calibri" pitchFamily="34" charset="-120"/>
              </a:rPr>
              <a:t> Model besar dan input-nya satu ucapan utuh.</a:t>
            </a:r>
            <a:endParaRPr lang="en-US" sz="1250" dirty="0"/>
          </a:p>
        </p:txBody>
      </p:sp>
      <p:sp>
        <p:nvSpPr>
          <p:cNvPr id="43" name="Shape 41"/>
          <p:cNvSpPr/>
          <p:nvPr/>
        </p:nvSpPr>
        <p:spPr>
          <a:xfrm>
            <a:off x="6172200" y="4434840"/>
            <a:ext cx="2670048" cy="1737360"/>
          </a:xfrm>
          <a:prstGeom prst="roundRect">
            <a:avLst>
              <a:gd name="adj" fmla="val 7368"/>
            </a:avLst>
          </a:prstGeom>
          <a:solidFill>
            <a:srgbClr val="EEE9FF"/>
          </a:solidFill>
          <a:ln w="12700">
            <a:solidFill>
              <a:srgbClr val="EEE9FF"/>
            </a:solidFill>
            <a:prstDash val="solid"/>
          </a:ln>
        </p:spPr>
      </p:sp>
      <p:sp>
        <p:nvSpPr>
          <p:cNvPr id="44" name="Text 42"/>
          <p:cNvSpPr/>
          <p:nvPr/>
        </p:nvSpPr>
        <p:spPr>
          <a:xfrm>
            <a:off x="6336792" y="4572000"/>
            <a:ext cx="2377440" cy="292608"/>
          </a:xfrm>
          <a:prstGeom prst="rect">
            <a:avLst/>
          </a:prstGeom>
          <a:noFill/>
          <a:ln/>
        </p:spPr>
        <p:txBody>
          <a:bodyPr wrap="square" lIns="0" tIns="0" rIns="0" bIns="0" rtlCol="0" anchor="t"/>
          <a:lstStyle/>
          <a:p>
            <a:pPr indent="0" marL="0">
              <a:buNone/>
            </a:pPr>
            <a:r>
              <a:rPr lang="en-US" sz="1300" b="1" dirty="0">
                <a:solidFill>
                  <a:srgbClr val="1F8F94"/>
                </a:solidFill>
                <a:latin typeface="Calibri" pitchFamily="34" charset="0"/>
                <a:ea typeface="Calibri" pitchFamily="34" charset="-122"/>
                <a:cs typeface="Calibri" pitchFamily="34" charset="-120"/>
              </a:rPr>
              <a:t>Zipformer (Jalur A)</a:t>
            </a:r>
            <a:endParaRPr lang="en-US" sz="1300" dirty="0"/>
          </a:p>
        </p:txBody>
      </p:sp>
      <p:sp>
        <p:nvSpPr>
          <p:cNvPr id="45" name="Text 43"/>
          <p:cNvSpPr/>
          <p:nvPr/>
        </p:nvSpPr>
        <p:spPr>
          <a:xfrm>
            <a:off x="6336792" y="4937760"/>
            <a:ext cx="2377440" cy="1143000"/>
          </a:xfrm>
          <a:prstGeom prst="rect">
            <a:avLst/>
          </a:prstGeom>
          <a:noFill/>
          <a:ln/>
        </p:spPr>
        <p:txBody>
          <a:bodyPr wrap="square" lIns="0" tIns="0" rIns="0" bIns="0" rtlCol="0" anchor="t"/>
          <a:lstStyle/>
          <a:p>
            <a:pPr indent="0" marL="0">
              <a:buNone/>
            </a:pPr>
            <a:r>
              <a:rPr lang="en-US" sz="1200" dirty="0">
                <a:solidFill>
                  <a:srgbClr val="5E5A7E"/>
                </a:solidFill>
                <a:latin typeface="Calibri" pitchFamily="34" charset="0"/>
                <a:ea typeface="Calibri" pitchFamily="34" charset="-122"/>
                <a:cs typeface="Calibri" pitchFamily="34" charset="-120"/>
              </a:rPr>
              <a:t>Transducer streaming berbasis chunk, jadi bisa ngeluarin partial selagi audio masuk.</a:t>
            </a:r>
            <a:endParaRPr lang="en-US" sz="1200" dirty="0"/>
          </a:p>
        </p:txBody>
      </p:sp>
      <p:sp>
        <p:nvSpPr>
          <p:cNvPr id="46" name="Shape 44"/>
          <p:cNvSpPr/>
          <p:nvPr/>
        </p:nvSpPr>
        <p:spPr>
          <a:xfrm>
            <a:off x="8988552" y="4434840"/>
            <a:ext cx="2670048" cy="1737360"/>
          </a:xfrm>
          <a:prstGeom prst="roundRect">
            <a:avLst>
              <a:gd name="adj" fmla="val 7368"/>
            </a:avLst>
          </a:prstGeom>
          <a:solidFill>
            <a:srgbClr val="EEE9FF"/>
          </a:solidFill>
          <a:ln w="12700">
            <a:solidFill>
              <a:srgbClr val="EEE9FF"/>
            </a:solidFill>
            <a:prstDash val="solid"/>
          </a:ln>
        </p:spPr>
      </p:sp>
      <p:sp>
        <p:nvSpPr>
          <p:cNvPr id="47" name="Text 45"/>
          <p:cNvSpPr/>
          <p:nvPr/>
        </p:nvSpPr>
        <p:spPr>
          <a:xfrm>
            <a:off x="9153144" y="4572000"/>
            <a:ext cx="2377440" cy="292608"/>
          </a:xfrm>
          <a:prstGeom prst="rect">
            <a:avLst/>
          </a:prstGeom>
          <a:noFill/>
          <a:ln/>
        </p:spPr>
        <p:txBody>
          <a:bodyPr wrap="square" lIns="0" tIns="0" rIns="0" bIns="0" rtlCol="0" anchor="t"/>
          <a:lstStyle/>
          <a:p>
            <a:pPr indent="0" marL="0">
              <a:buNone/>
            </a:pPr>
            <a:r>
              <a:rPr lang="en-US" sz="1300" b="1" dirty="0">
                <a:solidFill>
                  <a:srgbClr val="4C3FB8"/>
                </a:solidFill>
                <a:latin typeface="Calibri" pitchFamily="34" charset="0"/>
                <a:ea typeface="Calibri" pitchFamily="34" charset="-122"/>
                <a:cs typeface="Calibri" pitchFamily="34" charset="-120"/>
              </a:rPr>
              <a:t>Silero VAD</a:t>
            </a:r>
            <a:endParaRPr lang="en-US" sz="1300" dirty="0"/>
          </a:p>
        </p:txBody>
      </p:sp>
      <p:sp>
        <p:nvSpPr>
          <p:cNvPr id="48" name="Text 46"/>
          <p:cNvSpPr/>
          <p:nvPr/>
        </p:nvSpPr>
        <p:spPr>
          <a:xfrm>
            <a:off x="9153144" y="4937760"/>
            <a:ext cx="2377440" cy="1143000"/>
          </a:xfrm>
          <a:prstGeom prst="rect">
            <a:avLst/>
          </a:prstGeom>
          <a:noFill/>
          <a:ln/>
        </p:spPr>
        <p:txBody>
          <a:bodyPr wrap="square" lIns="0" tIns="0" rIns="0" bIns="0" rtlCol="0" anchor="t"/>
          <a:lstStyle/>
          <a:p>
            <a:pPr indent="0" marL="0">
              <a:buNone/>
            </a:pPr>
            <a:r>
              <a:rPr lang="en-US" sz="1200" dirty="0">
                <a:solidFill>
                  <a:srgbClr val="5E5A7E"/>
                </a:solidFill>
                <a:latin typeface="Calibri" pitchFamily="34" charset="0"/>
                <a:ea typeface="Calibri" pitchFamily="34" charset="-122"/>
                <a:cs typeface="Calibri" pitchFamily="34" charset="-120"/>
              </a:rPr>
              <a:t>Model kecil yang ngasih peluang “ada suara” per potongan audio. Dipakai buat endpoint.</a:t>
            </a:r>
            <a:endParaRPr lang="en-US" sz="12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810512" cy="292608"/>
          </a:xfrm>
          <a:prstGeom prst="roundRect">
            <a:avLst>
              <a:gd name="adj" fmla="val 50000"/>
            </a:avLst>
          </a:prstGeom>
          <a:solidFill>
            <a:srgbClr val="E07A2E"/>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II · SCORING</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2700" b="1" dirty="0">
                <a:solidFill>
                  <a:srgbClr val="1E1A3C"/>
                </a:solidFill>
                <a:latin typeface="Georgia" pitchFamily="34" charset="0"/>
                <a:ea typeface="Georgia" pitchFamily="34" charset="-122"/>
                <a:cs typeface="Georgia" pitchFamily="34" charset="-120"/>
              </a:rPr>
              <a:t>Skornya dihitung pakai Phoneme Error Rate (PER)</a:t>
            </a:r>
            <a:endParaRPr lang="en-US" sz="27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40" y="1645920"/>
            <a:ext cx="6583680" cy="4526280"/>
          </a:xfrm>
          <a:prstGeom prst="roundRect">
            <a:avLst>
              <a:gd name="adj" fmla="val 2828"/>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7" name="Text 5"/>
          <p:cNvSpPr/>
          <p:nvPr/>
        </p:nvSpPr>
        <p:spPr>
          <a:xfrm>
            <a:off x="822960" y="1828800"/>
            <a:ext cx="3657600" cy="274320"/>
          </a:xfrm>
          <a:prstGeom prst="rect">
            <a:avLst/>
          </a:prstGeom>
          <a:noFill/>
          <a:ln/>
        </p:spPr>
        <p:txBody>
          <a:bodyPr wrap="square" lIns="0" tIns="0" rIns="0" bIns="0" rtlCol="0" anchor="t"/>
          <a:lstStyle/>
          <a:p>
            <a:pPr indent="0" marL="0">
              <a:buNone/>
            </a:pPr>
            <a:r>
              <a:rPr lang="en-US" sz="1250" b="1" dirty="0">
                <a:solidFill>
                  <a:srgbClr val="5E5A7E"/>
                </a:solidFill>
                <a:latin typeface="Calibri" pitchFamily="34" charset="0"/>
                <a:ea typeface="Calibri" pitchFamily="34" charset="-122"/>
                <a:cs typeface="Calibri" pitchFamily="34" charset="-120"/>
              </a:rPr>
              <a:t>Target (dari kata “think”)</a:t>
            </a:r>
            <a:endParaRPr lang="en-US" sz="1250" dirty="0"/>
          </a:p>
        </p:txBody>
      </p:sp>
      <p:sp>
        <p:nvSpPr>
          <p:cNvPr id="8" name="Text 6"/>
          <p:cNvSpPr/>
          <p:nvPr/>
        </p:nvSpPr>
        <p:spPr>
          <a:xfrm>
            <a:off x="822960" y="2176272"/>
            <a:ext cx="731520" cy="731520"/>
          </a:xfrm>
          <a:prstGeom prst="roundRect">
            <a:avLst>
              <a:gd name="adj" fmla="val 12500"/>
            </a:avLst>
          </a:prstGeom>
          <a:solidFill>
            <a:srgbClr val="4C3FB8"/>
          </a:solid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θ</a:t>
            </a:r>
            <a:endParaRPr lang="en-US" sz="2600" dirty="0"/>
          </a:p>
        </p:txBody>
      </p:sp>
      <p:sp>
        <p:nvSpPr>
          <p:cNvPr id="9" name="Text 7"/>
          <p:cNvSpPr/>
          <p:nvPr/>
        </p:nvSpPr>
        <p:spPr>
          <a:xfrm>
            <a:off x="1737360" y="2176272"/>
            <a:ext cx="731520" cy="731520"/>
          </a:xfrm>
          <a:prstGeom prst="roundRect">
            <a:avLst>
              <a:gd name="adj" fmla="val 12500"/>
            </a:avLst>
          </a:prstGeom>
          <a:solidFill>
            <a:srgbClr val="4C3FB8"/>
          </a:solid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ɪ</a:t>
            </a:r>
            <a:endParaRPr lang="en-US" sz="2600" dirty="0"/>
          </a:p>
        </p:txBody>
      </p:sp>
      <p:sp>
        <p:nvSpPr>
          <p:cNvPr id="10" name="Text 8"/>
          <p:cNvSpPr/>
          <p:nvPr/>
        </p:nvSpPr>
        <p:spPr>
          <a:xfrm>
            <a:off x="2651760" y="2176272"/>
            <a:ext cx="731520" cy="731520"/>
          </a:xfrm>
          <a:prstGeom prst="roundRect">
            <a:avLst>
              <a:gd name="adj" fmla="val 12500"/>
            </a:avLst>
          </a:prstGeom>
          <a:solidFill>
            <a:srgbClr val="4C3FB8"/>
          </a:solid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ŋ</a:t>
            </a:r>
            <a:endParaRPr lang="en-US" sz="2600" dirty="0"/>
          </a:p>
        </p:txBody>
      </p:sp>
      <p:sp>
        <p:nvSpPr>
          <p:cNvPr id="11" name="Text 9"/>
          <p:cNvSpPr/>
          <p:nvPr/>
        </p:nvSpPr>
        <p:spPr>
          <a:xfrm>
            <a:off x="3566160" y="2176272"/>
            <a:ext cx="731520" cy="731520"/>
          </a:xfrm>
          <a:prstGeom prst="roundRect">
            <a:avLst>
              <a:gd name="adj" fmla="val 12500"/>
            </a:avLst>
          </a:prstGeom>
          <a:solidFill>
            <a:srgbClr val="4C3FB8"/>
          </a:solid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k</a:t>
            </a:r>
            <a:endParaRPr lang="en-US" sz="2600" dirty="0"/>
          </a:p>
        </p:txBody>
      </p:sp>
      <p:sp>
        <p:nvSpPr>
          <p:cNvPr id="12" name="Text 10"/>
          <p:cNvSpPr/>
          <p:nvPr/>
        </p:nvSpPr>
        <p:spPr>
          <a:xfrm>
            <a:off x="822960" y="4389120"/>
            <a:ext cx="3657600" cy="274320"/>
          </a:xfrm>
          <a:prstGeom prst="rect">
            <a:avLst/>
          </a:prstGeom>
          <a:noFill/>
          <a:ln/>
        </p:spPr>
        <p:txBody>
          <a:bodyPr wrap="square" lIns="0" tIns="0" rIns="0" bIns="0" rtlCol="0" anchor="t"/>
          <a:lstStyle/>
          <a:p>
            <a:pPr indent="0" marL="0">
              <a:buNone/>
            </a:pPr>
            <a:r>
              <a:rPr lang="en-US" sz="1250" b="1" dirty="0">
                <a:solidFill>
                  <a:srgbClr val="5E5A7E"/>
                </a:solidFill>
                <a:latin typeface="Calibri" pitchFamily="34" charset="0"/>
                <a:ea typeface="Calibri" pitchFamily="34" charset="-122"/>
                <a:cs typeface="Calibri" pitchFamily="34" charset="-120"/>
              </a:rPr>
              <a:t>Terdengar (output Jalur B)</a:t>
            </a:r>
            <a:endParaRPr lang="en-US" sz="1250" dirty="0"/>
          </a:p>
        </p:txBody>
      </p:sp>
      <p:sp>
        <p:nvSpPr>
          <p:cNvPr id="13" name="Text 11"/>
          <p:cNvSpPr/>
          <p:nvPr/>
        </p:nvSpPr>
        <p:spPr>
          <a:xfrm>
            <a:off x="822960" y="3593592"/>
            <a:ext cx="731520" cy="731520"/>
          </a:xfrm>
          <a:prstGeom prst="roundRect">
            <a:avLst>
              <a:gd name="adj" fmla="val 12500"/>
            </a:avLst>
          </a:prstGeom>
          <a:solidFill>
            <a:srgbClr val="E07A2E"/>
          </a:solid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t</a:t>
            </a:r>
            <a:endParaRPr lang="en-US" sz="2600" dirty="0"/>
          </a:p>
        </p:txBody>
      </p:sp>
      <p:sp>
        <p:nvSpPr>
          <p:cNvPr id="14" name="Text 12"/>
          <p:cNvSpPr/>
          <p:nvPr/>
        </p:nvSpPr>
        <p:spPr>
          <a:xfrm>
            <a:off x="1737360" y="3593592"/>
            <a:ext cx="731520" cy="731520"/>
          </a:xfrm>
          <a:prstGeom prst="roundRect">
            <a:avLst>
              <a:gd name="adj" fmla="val 12500"/>
            </a:avLst>
          </a:prstGeom>
          <a:solidFill>
            <a:srgbClr val="2E9E62"/>
          </a:solid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ɪ</a:t>
            </a:r>
            <a:endParaRPr lang="en-US" sz="2600" dirty="0"/>
          </a:p>
        </p:txBody>
      </p:sp>
      <p:sp>
        <p:nvSpPr>
          <p:cNvPr id="15" name="Text 13"/>
          <p:cNvSpPr/>
          <p:nvPr/>
        </p:nvSpPr>
        <p:spPr>
          <a:xfrm>
            <a:off x="2651760" y="3593592"/>
            <a:ext cx="731520" cy="731520"/>
          </a:xfrm>
          <a:prstGeom prst="roundRect">
            <a:avLst>
              <a:gd name="adj" fmla="val 12500"/>
            </a:avLst>
          </a:prstGeom>
          <a:solidFill>
            <a:srgbClr val="2E9E62"/>
          </a:solid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ŋ</a:t>
            </a:r>
            <a:endParaRPr lang="en-US" sz="2600" dirty="0"/>
          </a:p>
        </p:txBody>
      </p:sp>
      <p:sp>
        <p:nvSpPr>
          <p:cNvPr id="16" name="Text 14"/>
          <p:cNvSpPr/>
          <p:nvPr/>
        </p:nvSpPr>
        <p:spPr>
          <a:xfrm>
            <a:off x="3566160" y="3593592"/>
            <a:ext cx="731520" cy="731520"/>
          </a:xfrm>
          <a:prstGeom prst="roundRect">
            <a:avLst>
              <a:gd name="adj" fmla="val 12500"/>
            </a:avLst>
          </a:prstGeom>
          <a:solidFill>
            <a:srgbClr val="2E9E62"/>
          </a:solid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k</a:t>
            </a:r>
            <a:endParaRPr lang="en-US" sz="2600" dirty="0"/>
          </a:p>
        </p:txBody>
      </p:sp>
      <p:sp>
        <p:nvSpPr>
          <p:cNvPr id="17" name="Shape 15"/>
          <p:cNvSpPr/>
          <p:nvPr/>
        </p:nvSpPr>
        <p:spPr>
          <a:xfrm>
            <a:off x="1188720" y="2926080"/>
            <a:ext cx="0" cy="658368"/>
          </a:xfrm>
          <a:prstGeom prst="line">
            <a:avLst/>
          </a:prstGeom>
          <a:noFill/>
          <a:ln w="25400">
            <a:solidFill>
              <a:srgbClr val="E07A2E"/>
            </a:solidFill>
            <a:prstDash val="dash"/>
          </a:ln>
        </p:spPr>
      </p:sp>
      <p:sp>
        <p:nvSpPr>
          <p:cNvPr id="18" name="Shape 16"/>
          <p:cNvSpPr/>
          <p:nvPr/>
        </p:nvSpPr>
        <p:spPr>
          <a:xfrm>
            <a:off x="2103120" y="2926080"/>
            <a:ext cx="0" cy="658368"/>
          </a:xfrm>
          <a:prstGeom prst="line">
            <a:avLst/>
          </a:prstGeom>
          <a:noFill/>
          <a:ln w="25400">
            <a:solidFill>
              <a:srgbClr val="2E9E62"/>
            </a:solidFill>
            <a:prstDash val="solid"/>
          </a:ln>
        </p:spPr>
      </p:sp>
      <p:sp>
        <p:nvSpPr>
          <p:cNvPr id="19" name="Shape 17"/>
          <p:cNvSpPr/>
          <p:nvPr/>
        </p:nvSpPr>
        <p:spPr>
          <a:xfrm>
            <a:off x="3017520" y="2926080"/>
            <a:ext cx="0" cy="658368"/>
          </a:xfrm>
          <a:prstGeom prst="line">
            <a:avLst/>
          </a:prstGeom>
          <a:noFill/>
          <a:ln w="25400">
            <a:solidFill>
              <a:srgbClr val="2E9E62"/>
            </a:solidFill>
            <a:prstDash val="solid"/>
          </a:ln>
        </p:spPr>
      </p:sp>
      <p:sp>
        <p:nvSpPr>
          <p:cNvPr id="20" name="Shape 18"/>
          <p:cNvSpPr/>
          <p:nvPr/>
        </p:nvSpPr>
        <p:spPr>
          <a:xfrm>
            <a:off x="3931920" y="2926080"/>
            <a:ext cx="0" cy="658368"/>
          </a:xfrm>
          <a:prstGeom prst="line">
            <a:avLst/>
          </a:prstGeom>
          <a:noFill/>
          <a:ln w="25400">
            <a:solidFill>
              <a:srgbClr val="2E9E62"/>
            </a:solidFill>
            <a:prstDash val="solid"/>
          </a:ln>
        </p:spPr>
      </p:sp>
      <p:sp>
        <p:nvSpPr>
          <p:cNvPr id="21" name="Text 19"/>
          <p:cNvSpPr/>
          <p:nvPr/>
        </p:nvSpPr>
        <p:spPr>
          <a:xfrm>
            <a:off x="4663440" y="2011680"/>
            <a:ext cx="1097280" cy="502920"/>
          </a:xfrm>
          <a:prstGeom prst="rect">
            <a:avLst/>
          </a:prstGeom>
          <a:noFill/>
          <a:ln/>
        </p:spPr>
        <p:txBody>
          <a:bodyPr wrap="square" lIns="0" tIns="0" rIns="0" bIns="0" rtlCol="0" anchor="ctr"/>
          <a:lstStyle/>
          <a:p>
            <a:pPr algn="ctr" indent="0" marL="0">
              <a:buNone/>
            </a:pPr>
            <a:r>
              <a:rPr lang="en-US" sz="2000" b="1" dirty="0">
                <a:solidFill>
                  <a:srgbClr val="E07A2E"/>
                </a:solidFill>
                <a:latin typeface="Georgia" pitchFamily="34" charset="0"/>
                <a:ea typeface="Georgia" pitchFamily="34" charset="-122"/>
                <a:cs typeface="Georgia" pitchFamily="34" charset="-120"/>
              </a:rPr>
              <a:t>S = 1</a:t>
            </a:r>
            <a:endParaRPr lang="en-US" sz="2000" dirty="0"/>
          </a:p>
        </p:txBody>
      </p:sp>
      <p:sp>
        <p:nvSpPr>
          <p:cNvPr id="22" name="Text 20"/>
          <p:cNvSpPr/>
          <p:nvPr/>
        </p:nvSpPr>
        <p:spPr>
          <a:xfrm>
            <a:off x="4663440" y="2514600"/>
            <a:ext cx="1097280" cy="274320"/>
          </a:xfrm>
          <a:prstGeom prst="rect">
            <a:avLst/>
          </a:prstGeom>
          <a:noFill/>
          <a:ln/>
        </p:spPr>
        <p:txBody>
          <a:bodyPr wrap="square" lIns="0" tIns="0" rIns="0" bIns="0" rtlCol="0" anchor="ctr"/>
          <a:lstStyle/>
          <a:p>
            <a:pPr algn="ctr" indent="0" marL="0">
              <a:buNone/>
            </a:pPr>
            <a:r>
              <a:rPr lang="en-US" sz="1050" dirty="0">
                <a:solidFill>
                  <a:srgbClr val="5E5A7E"/>
                </a:solidFill>
                <a:latin typeface="Calibri" pitchFamily="34" charset="0"/>
                <a:ea typeface="Calibri" pitchFamily="34" charset="-122"/>
                <a:cs typeface="Calibri" pitchFamily="34" charset="-120"/>
              </a:rPr>
              <a:t>substitusi</a:t>
            </a:r>
            <a:endParaRPr lang="en-US" sz="1050" dirty="0"/>
          </a:p>
        </p:txBody>
      </p:sp>
      <p:sp>
        <p:nvSpPr>
          <p:cNvPr id="23" name="Text 21"/>
          <p:cNvSpPr/>
          <p:nvPr/>
        </p:nvSpPr>
        <p:spPr>
          <a:xfrm>
            <a:off x="5852160" y="2011680"/>
            <a:ext cx="1097280" cy="502920"/>
          </a:xfrm>
          <a:prstGeom prst="rect">
            <a:avLst/>
          </a:prstGeom>
          <a:noFill/>
          <a:ln/>
        </p:spPr>
        <p:txBody>
          <a:bodyPr wrap="square" lIns="0" tIns="0" rIns="0" bIns="0" rtlCol="0" anchor="ctr"/>
          <a:lstStyle/>
          <a:p>
            <a:pPr algn="ctr" indent="0" marL="0">
              <a:buNone/>
            </a:pPr>
            <a:r>
              <a:rPr lang="en-US" sz="2000" b="1" dirty="0">
                <a:solidFill>
                  <a:srgbClr val="D64545"/>
                </a:solidFill>
                <a:latin typeface="Georgia" pitchFamily="34" charset="0"/>
                <a:ea typeface="Georgia" pitchFamily="34" charset="-122"/>
                <a:cs typeface="Georgia" pitchFamily="34" charset="-120"/>
              </a:rPr>
              <a:t>D = 0</a:t>
            </a:r>
            <a:endParaRPr lang="en-US" sz="2000" dirty="0"/>
          </a:p>
        </p:txBody>
      </p:sp>
      <p:sp>
        <p:nvSpPr>
          <p:cNvPr id="24" name="Text 22"/>
          <p:cNvSpPr/>
          <p:nvPr/>
        </p:nvSpPr>
        <p:spPr>
          <a:xfrm>
            <a:off x="5852160" y="2514600"/>
            <a:ext cx="1097280" cy="274320"/>
          </a:xfrm>
          <a:prstGeom prst="rect">
            <a:avLst/>
          </a:prstGeom>
          <a:noFill/>
          <a:ln/>
        </p:spPr>
        <p:txBody>
          <a:bodyPr wrap="square" lIns="0" tIns="0" rIns="0" bIns="0" rtlCol="0" anchor="ctr"/>
          <a:lstStyle/>
          <a:p>
            <a:pPr algn="ctr" indent="0" marL="0">
              <a:buNone/>
            </a:pPr>
            <a:r>
              <a:rPr lang="en-US" sz="1050" dirty="0">
                <a:solidFill>
                  <a:srgbClr val="5E5A7E"/>
                </a:solidFill>
                <a:latin typeface="Calibri" pitchFamily="34" charset="0"/>
                <a:ea typeface="Calibri" pitchFamily="34" charset="-122"/>
                <a:cs typeface="Calibri" pitchFamily="34" charset="-120"/>
              </a:rPr>
              <a:t>deletion</a:t>
            </a:r>
            <a:endParaRPr lang="en-US" sz="1050" dirty="0"/>
          </a:p>
        </p:txBody>
      </p:sp>
      <p:sp>
        <p:nvSpPr>
          <p:cNvPr id="25" name="Text 23"/>
          <p:cNvSpPr/>
          <p:nvPr/>
        </p:nvSpPr>
        <p:spPr>
          <a:xfrm>
            <a:off x="4663440" y="3246120"/>
            <a:ext cx="1097280" cy="502920"/>
          </a:xfrm>
          <a:prstGeom prst="rect">
            <a:avLst/>
          </a:prstGeom>
          <a:noFill/>
          <a:ln/>
        </p:spPr>
        <p:txBody>
          <a:bodyPr wrap="square" lIns="0" tIns="0" rIns="0" bIns="0" rtlCol="0" anchor="ctr"/>
          <a:lstStyle/>
          <a:p>
            <a:pPr algn="ctr" indent="0" marL="0">
              <a:buNone/>
            </a:pPr>
            <a:r>
              <a:rPr lang="en-US" sz="2000" b="1" dirty="0">
                <a:solidFill>
                  <a:srgbClr val="D64545"/>
                </a:solidFill>
                <a:latin typeface="Georgia" pitchFamily="34" charset="0"/>
                <a:ea typeface="Georgia" pitchFamily="34" charset="-122"/>
                <a:cs typeface="Georgia" pitchFamily="34" charset="-120"/>
              </a:rPr>
              <a:t>I = 0</a:t>
            </a:r>
            <a:endParaRPr lang="en-US" sz="2000" dirty="0"/>
          </a:p>
        </p:txBody>
      </p:sp>
      <p:sp>
        <p:nvSpPr>
          <p:cNvPr id="26" name="Text 24"/>
          <p:cNvSpPr/>
          <p:nvPr/>
        </p:nvSpPr>
        <p:spPr>
          <a:xfrm>
            <a:off x="4663440" y="3749040"/>
            <a:ext cx="1097280" cy="274320"/>
          </a:xfrm>
          <a:prstGeom prst="rect">
            <a:avLst/>
          </a:prstGeom>
          <a:noFill/>
          <a:ln/>
        </p:spPr>
        <p:txBody>
          <a:bodyPr wrap="square" lIns="0" tIns="0" rIns="0" bIns="0" rtlCol="0" anchor="ctr"/>
          <a:lstStyle/>
          <a:p>
            <a:pPr algn="ctr" indent="0" marL="0">
              <a:buNone/>
            </a:pPr>
            <a:r>
              <a:rPr lang="en-US" sz="1050" dirty="0">
                <a:solidFill>
                  <a:srgbClr val="5E5A7E"/>
                </a:solidFill>
                <a:latin typeface="Calibri" pitchFamily="34" charset="0"/>
                <a:ea typeface="Calibri" pitchFamily="34" charset="-122"/>
                <a:cs typeface="Calibri" pitchFamily="34" charset="-120"/>
              </a:rPr>
              <a:t>insertion</a:t>
            </a:r>
            <a:endParaRPr lang="en-US" sz="1050" dirty="0"/>
          </a:p>
        </p:txBody>
      </p:sp>
      <p:sp>
        <p:nvSpPr>
          <p:cNvPr id="27" name="Text 25"/>
          <p:cNvSpPr/>
          <p:nvPr/>
        </p:nvSpPr>
        <p:spPr>
          <a:xfrm>
            <a:off x="5852160" y="3246120"/>
            <a:ext cx="1097280" cy="502920"/>
          </a:xfrm>
          <a:prstGeom prst="rect">
            <a:avLst/>
          </a:prstGeom>
          <a:noFill/>
          <a:ln/>
        </p:spPr>
        <p:txBody>
          <a:bodyPr wrap="square" lIns="0" tIns="0" rIns="0" bIns="0" rtlCol="0" anchor="ctr"/>
          <a:lstStyle/>
          <a:p>
            <a:pPr algn="ctr" indent="0" marL="0">
              <a:buNone/>
            </a:pPr>
            <a:r>
              <a:rPr lang="en-US" sz="2000" b="1" dirty="0">
                <a:solidFill>
                  <a:srgbClr val="4C3FB8"/>
                </a:solidFill>
                <a:latin typeface="Georgia" pitchFamily="34" charset="0"/>
                <a:ea typeface="Georgia" pitchFamily="34" charset="-122"/>
                <a:cs typeface="Georgia" pitchFamily="34" charset="-120"/>
              </a:rPr>
              <a:t>N = 4</a:t>
            </a:r>
            <a:endParaRPr lang="en-US" sz="2000" dirty="0"/>
          </a:p>
        </p:txBody>
      </p:sp>
      <p:sp>
        <p:nvSpPr>
          <p:cNvPr id="28" name="Text 26"/>
          <p:cNvSpPr/>
          <p:nvPr/>
        </p:nvSpPr>
        <p:spPr>
          <a:xfrm>
            <a:off x="5852160" y="3749040"/>
            <a:ext cx="1097280" cy="274320"/>
          </a:xfrm>
          <a:prstGeom prst="rect">
            <a:avLst/>
          </a:prstGeom>
          <a:noFill/>
          <a:ln/>
        </p:spPr>
        <p:txBody>
          <a:bodyPr wrap="square" lIns="0" tIns="0" rIns="0" bIns="0" rtlCol="0" anchor="ctr"/>
          <a:lstStyle/>
          <a:p>
            <a:pPr algn="ctr" indent="0" marL="0">
              <a:buNone/>
            </a:pPr>
            <a:r>
              <a:rPr lang="en-US" sz="1050" dirty="0">
                <a:solidFill>
                  <a:srgbClr val="5E5A7E"/>
                </a:solidFill>
                <a:latin typeface="Calibri" pitchFamily="34" charset="0"/>
                <a:ea typeface="Calibri" pitchFamily="34" charset="-122"/>
                <a:cs typeface="Calibri" pitchFamily="34" charset="-120"/>
              </a:rPr>
              <a:t>fonem target</a:t>
            </a:r>
            <a:endParaRPr lang="en-US" sz="1050" dirty="0"/>
          </a:p>
        </p:txBody>
      </p:sp>
      <p:sp>
        <p:nvSpPr>
          <p:cNvPr id="29" name="Shape 27"/>
          <p:cNvSpPr/>
          <p:nvPr/>
        </p:nvSpPr>
        <p:spPr>
          <a:xfrm>
            <a:off x="822960" y="4800600"/>
            <a:ext cx="6035040" cy="731520"/>
          </a:xfrm>
          <a:prstGeom prst="roundRect">
            <a:avLst>
              <a:gd name="adj" fmla="val 15000"/>
            </a:avLst>
          </a:prstGeom>
          <a:solidFill>
            <a:srgbClr val="EEE9FF"/>
          </a:solidFill>
          <a:ln w="12700">
            <a:solidFill>
              <a:srgbClr val="EEE9FF"/>
            </a:solidFill>
            <a:prstDash val="solid"/>
          </a:ln>
        </p:spPr>
      </p:sp>
      <p:sp>
        <p:nvSpPr>
          <p:cNvPr id="30" name="Text 28"/>
          <p:cNvSpPr/>
          <p:nvPr/>
        </p:nvSpPr>
        <p:spPr>
          <a:xfrm>
            <a:off x="822960" y="4800600"/>
            <a:ext cx="6035040" cy="731520"/>
          </a:xfrm>
          <a:prstGeom prst="rect">
            <a:avLst/>
          </a:prstGeom>
          <a:noFill/>
          <a:ln/>
        </p:spPr>
        <p:txBody>
          <a:bodyPr wrap="square" lIns="0" tIns="0" rIns="0" bIns="0" rtlCol="0" anchor="ctr"/>
          <a:lstStyle/>
          <a:p>
            <a:pPr algn="ctr" indent="0" marL="0">
              <a:buNone/>
            </a:pPr>
            <a:r>
              <a:rPr lang="en-US" sz="2200" dirty="0">
                <a:solidFill>
                  <a:srgbClr val="1E1A3C"/>
                </a:solidFill>
                <a:latin typeface="Georgia" pitchFamily="34" charset="0"/>
                <a:ea typeface="Georgia" pitchFamily="34" charset="-122"/>
                <a:cs typeface="Georgia" pitchFamily="34" charset="-120"/>
              </a:rPr>
              <a:t>PER = (S + D + I) / N = 1 / 4 = </a:t>
            </a:r>
            <a:pPr algn="ctr" indent="0" marL="0">
              <a:buNone/>
            </a:pPr>
            <a:r>
              <a:rPr lang="en-US" sz="2200" b="1" dirty="0">
                <a:solidFill>
                  <a:srgbClr val="E07A2E"/>
                </a:solidFill>
                <a:latin typeface="Georgia" pitchFamily="34" charset="0"/>
                <a:ea typeface="Georgia" pitchFamily="34" charset="-122"/>
                <a:cs typeface="Georgia" pitchFamily="34" charset="-120"/>
              </a:rPr>
              <a:t>0.25</a:t>
            </a:r>
            <a:endParaRPr lang="en-US" sz="2200" dirty="0"/>
          </a:p>
        </p:txBody>
      </p:sp>
      <p:sp>
        <p:nvSpPr>
          <p:cNvPr id="31" name="Text 29"/>
          <p:cNvSpPr/>
          <p:nvPr/>
        </p:nvSpPr>
        <p:spPr>
          <a:xfrm>
            <a:off x="822960" y="5669280"/>
            <a:ext cx="6035040" cy="274320"/>
          </a:xfrm>
          <a:prstGeom prst="rect">
            <a:avLst/>
          </a:prstGeom>
          <a:noFill/>
          <a:ln/>
        </p:spPr>
        <p:txBody>
          <a:bodyPr wrap="square" lIns="0" tIns="0" rIns="0" bIns="0" rtlCol="0" anchor="t"/>
          <a:lstStyle/>
          <a:p>
            <a:pPr indent="0" marL="0">
              <a:buNone/>
            </a:pPr>
            <a:r>
              <a:rPr lang="en-US" sz="1050" i="1" dirty="0">
                <a:solidFill>
                  <a:srgbClr val="8C87AD"/>
                </a:solidFill>
                <a:latin typeface="Calibri" pitchFamily="34" charset="0"/>
                <a:ea typeface="Calibri" pitchFamily="34" charset="-122"/>
                <a:cs typeface="Calibri" pitchFamily="34" charset="-120"/>
              </a:rPr>
              <a:t>Contoh ilustrasi rumus, bukan hasil eksperimen.</a:t>
            </a:r>
            <a:endParaRPr lang="en-US" sz="1050" dirty="0"/>
          </a:p>
        </p:txBody>
      </p:sp>
      <p:sp>
        <p:nvSpPr>
          <p:cNvPr id="32" name="Text 30"/>
          <p:cNvSpPr/>
          <p:nvPr/>
        </p:nvSpPr>
        <p:spPr>
          <a:xfrm>
            <a:off x="7452360" y="1645920"/>
            <a:ext cx="4206240" cy="365760"/>
          </a:xfrm>
          <a:prstGeom prst="rect">
            <a:avLst/>
          </a:prstGeom>
          <a:noFill/>
          <a:ln/>
        </p:spPr>
        <p:txBody>
          <a:bodyPr wrap="square" lIns="0" tIns="0" rIns="0" bIns="0" rtlCol="0" anchor="t"/>
          <a:lstStyle/>
          <a:p>
            <a:pPr indent="0" marL="0">
              <a:buNone/>
            </a:pPr>
            <a:r>
              <a:rPr lang="en-US" sz="1600" b="1" dirty="0">
                <a:solidFill>
                  <a:srgbClr val="4C3FB8"/>
                </a:solidFill>
                <a:latin typeface="Calibri" pitchFamily="34" charset="0"/>
                <a:ea typeface="Calibri" pitchFamily="34" charset="-122"/>
                <a:cs typeface="Calibri" pitchFamily="34" charset="-120"/>
              </a:rPr>
              <a:t>Dari skor ke game</a:t>
            </a:r>
            <a:endParaRPr lang="en-US" sz="1600" dirty="0"/>
          </a:p>
        </p:txBody>
      </p:sp>
      <p:sp>
        <p:nvSpPr>
          <p:cNvPr id="33" name="Shape 31"/>
          <p:cNvSpPr/>
          <p:nvPr/>
        </p:nvSpPr>
        <p:spPr>
          <a:xfrm>
            <a:off x="7452360" y="2148840"/>
            <a:ext cx="384048" cy="384048"/>
          </a:xfrm>
          <a:prstGeom prst="roundRect">
            <a:avLst>
              <a:gd name="adj" fmla="val 19048"/>
            </a:avLst>
          </a:prstGeom>
          <a:solidFill>
            <a:srgbClr val="2E9E62"/>
          </a:solidFill>
          <a:ln w="12700">
            <a:solidFill>
              <a:srgbClr val="2E9E62"/>
            </a:solidFill>
            <a:prstDash val="solid"/>
          </a:ln>
        </p:spPr>
      </p:sp>
      <p:sp>
        <p:nvSpPr>
          <p:cNvPr id="34" name="Text 32"/>
          <p:cNvSpPr/>
          <p:nvPr/>
        </p:nvSpPr>
        <p:spPr>
          <a:xfrm>
            <a:off x="8001000" y="2148840"/>
            <a:ext cx="3657600" cy="384048"/>
          </a:xfrm>
          <a:prstGeom prst="rect">
            <a:avLst/>
          </a:prstGeom>
          <a:noFill/>
          <a:ln/>
        </p:spPr>
        <p:txBody>
          <a:bodyPr wrap="square" lIns="0" tIns="0" rIns="0" bIns="0" rtlCol="0" anchor="ctr"/>
          <a:lstStyle/>
          <a:p>
            <a:pPr indent="0" marL="0">
              <a:buNone/>
            </a:pPr>
            <a:r>
              <a:rPr lang="en-US" sz="1300" b="1" dirty="0">
                <a:solidFill>
                  <a:srgbClr val="1E1A3C"/>
                </a:solidFill>
                <a:latin typeface="Calibri" pitchFamily="34" charset="0"/>
                <a:ea typeface="Calibri" pitchFamily="34" charset="-122"/>
                <a:cs typeface="Calibri" pitchFamily="34" charset="-120"/>
              </a:rPr>
              <a:t>Rune hijau  </a:t>
            </a:r>
            <a:pPr indent="0" marL="0">
              <a:buNone/>
            </a:pPr>
            <a:r>
              <a:rPr lang="en-US" sz="1300" dirty="0">
                <a:solidFill>
                  <a:srgbClr val="5E5A7E"/>
                </a:solidFill>
                <a:latin typeface="Calibri" pitchFamily="34" charset="0"/>
                <a:ea typeface="Calibri" pitchFamily="34" charset="-122"/>
                <a:cs typeface="Calibri" pitchFamily="34" charset="-120"/>
              </a:rPr>
              <a:t>bunyi cocok</a:t>
            </a:r>
            <a:endParaRPr lang="en-US" sz="1300" dirty="0"/>
          </a:p>
        </p:txBody>
      </p:sp>
      <p:sp>
        <p:nvSpPr>
          <p:cNvPr id="35" name="Shape 33"/>
          <p:cNvSpPr/>
          <p:nvPr/>
        </p:nvSpPr>
        <p:spPr>
          <a:xfrm>
            <a:off x="7452360" y="2715768"/>
            <a:ext cx="384048" cy="384048"/>
          </a:xfrm>
          <a:prstGeom prst="roundRect">
            <a:avLst>
              <a:gd name="adj" fmla="val 19048"/>
            </a:avLst>
          </a:prstGeom>
          <a:solidFill>
            <a:srgbClr val="E07A2E"/>
          </a:solidFill>
          <a:ln w="12700">
            <a:solidFill>
              <a:srgbClr val="E07A2E"/>
            </a:solidFill>
            <a:prstDash val="solid"/>
          </a:ln>
        </p:spPr>
      </p:sp>
      <p:sp>
        <p:nvSpPr>
          <p:cNvPr id="36" name="Text 34"/>
          <p:cNvSpPr/>
          <p:nvPr/>
        </p:nvSpPr>
        <p:spPr>
          <a:xfrm>
            <a:off x="8001000" y="2715768"/>
            <a:ext cx="3657600" cy="384048"/>
          </a:xfrm>
          <a:prstGeom prst="rect">
            <a:avLst/>
          </a:prstGeom>
          <a:noFill/>
          <a:ln/>
        </p:spPr>
        <p:txBody>
          <a:bodyPr wrap="square" lIns="0" tIns="0" rIns="0" bIns="0" rtlCol="0" anchor="ctr"/>
          <a:lstStyle/>
          <a:p>
            <a:pPr indent="0" marL="0">
              <a:buNone/>
            </a:pPr>
            <a:r>
              <a:rPr lang="en-US" sz="1300" b="1" dirty="0">
                <a:solidFill>
                  <a:srgbClr val="1E1A3C"/>
                </a:solidFill>
                <a:latin typeface="Calibri" pitchFamily="34" charset="0"/>
                <a:ea typeface="Calibri" pitchFamily="34" charset="-122"/>
                <a:cs typeface="Calibri" pitchFamily="34" charset="-120"/>
              </a:rPr>
              <a:t>Rune oranye  </a:t>
            </a:r>
            <a:pPr indent="0" marL="0">
              <a:buNone/>
            </a:pPr>
            <a:r>
              <a:rPr lang="en-US" sz="1300" dirty="0">
                <a:solidFill>
                  <a:srgbClr val="5E5A7E"/>
                </a:solidFill>
                <a:latin typeface="Calibri" pitchFamily="34" charset="0"/>
                <a:ea typeface="Calibri" pitchFamily="34" charset="-122"/>
                <a:cs typeface="Calibri" pitchFamily="34" charset="-120"/>
              </a:rPr>
              <a:t>bunyi tertukar (θ→t)</a:t>
            </a:r>
            <a:endParaRPr lang="en-US" sz="1300" dirty="0"/>
          </a:p>
        </p:txBody>
      </p:sp>
      <p:sp>
        <p:nvSpPr>
          <p:cNvPr id="37" name="Shape 35"/>
          <p:cNvSpPr/>
          <p:nvPr/>
        </p:nvSpPr>
        <p:spPr>
          <a:xfrm>
            <a:off x="7452360" y="3282696"/>
            <a:ext cx="384048" cy="384048"/>
          </a:xfrm>
          <a:prstGeom prst="roundRect">
            <a:avLst>
              <a:gd name="adj" fmla="val 19048"/>
            </a:avLst>
          </a:prstGeom>
          <a:solidFill>
            <a:srgbClr val="D64545"/>
          </a:solidFill>
          <a:ln w="12700">
            <a:solidFill>
              <a:srgbClr val="D64545"/>
            </a:solidFill>
            <a:prstDash val="solid"/>
          </a:ln>
        </p:spPr>
      </p:sp>
      <p:sp>
        <p:nvSpPr>
          <p:cNvPr id="38" name="Text 36"/>
          <p:cNvSpPr/>
          <p:nvPr/>
        </p:nvSpPr>
        <p:spPr>
          <a:xfrm>
            <a:off x="8001000" y="3282696"/>
            <a:ext cx="3657600" cy="384048"/>
          </a:xfrm>
          <a:prstGeom prst="rect">
            <a:avLst/>
          </a:prstGeom>
          <a:noFill/>
          <a:ln/>
        </p:spPr>
        <p:txBody>
          <a:bodyPr wrap="square" lIns="0" tIns="0" rIns="0" bIns="0" rtlCol="0" anchor="ctr"/>
          <a:lstStyle/>
          <a:p>
            <a:pPr indent="0" marL="0">
              <a:buNone/>
            </a:pPr>
            <a:r>
              <a:rPr lang="en-US" sz="1300" b="1" dirty="0">
                <a:solidFill>
                  <a:srgbClr val="1E1A3C"/>
                </a:solidFill>
                <a:latin typeface="Calibri" pitchFamily="34" charset="0"/>
                <a:ea typeface="Calibri" pitchFamily="34" charset="-122"/>
                <a:cs typeface="Calibri" pitchFamily="34" charset="-120"/>
              </a:rPr>
              <a:t>Rune merah  </a:t>
            </a:r>
            <a:pPr indent="0" marL="0">
              <a:buNone/>
            </a:pPr>
            <a:r>
              <a:rPr lang="en-US" sz="1300" dirty="0">
                <a:solidFill>
                  <a:srgbClr val="5E5A7E"/>
                </a:solidFill>
                <a:latin typeface="Calibri" pitchFamily="34" charset="0"/>
                <a:ea typeface="Calibri" pitchFamily="34" charset="-122"/>
                <a:cs typeface="Calibri" pitchFamily="34" charset="-120"/>
              </a:rPr>
              <a:t>bunyi hilang atau kelebihan</a:t>
            </a:r>
            <a:endParaRPr lang="en-US" sz="1300" dirty="0"/>
          </a:p>
        </p:txBody>
      </p:sp>
      <p:sp>
        <p:nvSpPr>
          <p:cNvPr id="39" name="Shape 37"/>
          <p:cNvSpPr/>
          <p:nvPr/>
        </p:nvSpPr>
        <p:spPr>
          <a:xfrm>
            <a:off x="7452360" y="3977640"/>
            <a:ext cx="4206240" cy="1051560"/>
          </a:xfrm>
          <a:prstGeom prst="roundRect">
            <a:avLst>
              <a:gd name="adj" fmla="val 12174"/>
            </a:avLst>
          </a:prstGeom>
          <a:solidFill>
            <a:srgbClr val="FFF4D6"/>
          </a:solidFill>
          <a:ln w="12700">
            <a:solidFill>
              <a:srgbClr val="FFF4D6"/>
            </a:solidFill>
            <a:prstDash val="solid"/>
          </a:ln>
        </p:spPr>
      </p:sp>
      <p:sp>
        <p:nvSpPr>
          <p:cNvPr id="40" name="Text 38"/>
          <p:cNvSpPr/>
          <p:nvPr/>
        </p:nvSpPr>
        <p:spPr>
          <a:xfrm>
            <a:off x="7635240" y="4069080"/>
            <a:ext cx="3840480" cy="868680"/>
          </a:xfrm>
          <a:prstGeom prst="rect">
            <a:avLst/>
          </a:prstGeom>
          <a:noFill/>
          <a:ln/>
        </p:spPr>
        <p:txBody>
          <a:bodyPr wrap="square" lIns="0" tIns="0" rIns="0" bIns="0" rtlCol="0" anchor="ctr"/>
          <a:lstStyle/>
          <a:p>
            <a:pPr indent="0" marL="0">
              <a:buNone/>
            </a:pPr>
            <a:r>
              <a:rPr lang="en-US" sz="1250" b="1" dirty="0">
                <a:solidFill>
                  <a:srgbClr val="1E1A3C"/>
                </a:solidFill>
                <a:latin typeface="Calibri" pitchFamily="34" charset="0"/>
                <a:ea typeface="Calibri" pitchFamily="34" charset="-122"/>
                <a:cs typeface="Calibri" pitchFamily="34" charset="-120"/>
              </a:rPr>
              <a:t>Threshold damage </a:t>
            </a:r>
            <a:pPr indent="0" marL="0">
              <a:buNone/>
            </a:pPr>
            <a:r>
              <a:rPr lang="en-US" sz="1250" dirty="0">
                <a:solidFill>
                  <a:srgbClr val="1E1A3C"/>
                </a:solidFill>
                <a:latin typeface="Calibri" pitchFamily="34" charset="0"/>
                <a:ea typeface="Calibri" pitchFamily="34" charset="-122"/>
                <a:cs typeface="Calibri" pitchFamily="34" charset="-120"/>
              </a:rPr>
              <a:t>ditentukan dari rekaman kita sendiri, nggak ditebak. Sekarang masih placeholder.</a:t>
            </a:r>
            <a:endParaRPr lang="en-US" sz="1250" dirty="0"/>
          </a:p>
        </p:txBody>
      </p:sp>
      <p:sp>
        <p:nvSpPr>
          <p:cNvPr id="41" name="Shape 39"/>
          <p:cNvSpPr/>
          <p:nvPr/>
        </p:nvSpPr>
        <p:spPr>
          <a:xfrm>
            <a:off x="7452360" y="5166360"/>
            <a:ext cx="4206240" cy="1005840"/>
          </a:xfrm>
          <a:prstGeom prst="roundRect">
            <a:avLst>
              <a:gd name="adj" fmla="val 12727"/>
            </a:avLst>
          </a:prstGeom>
          <a:solidFill>
            <a:srgbClr val="E0F5E9"/>
          </a:solidFill>
          <a:ln w="12700">
            <a:solidFill>
              <a:srgbClr val="E0F5E9"/>
            </a:solidFill>
            <a:prstDash val="solid"/>
          </a:ln>
        </p:spPr>
      </p:sp>
      <p:sp>
        <p:nvSpPr>
          <p:cNvPr id="42" name="Text 40"/>
          <p:cNvSpPr/>
          <p:nvPr/>
        </p:nvSpPr>
        <p:spPr>
          <a:xfrm>
            <a:off x="7635240" y="5230368"/>
            <a:ext cx="3840480" cy="868680"/>
          </a:xfrm>
          <a:prstGeom prst="rect">
            <a:avLst/>
          </a:prstGeom>
          <a:noFill/>
          <a:ln/>
        </p:spPr>
        <p:txBody>
          <a:bodyPr wrap="square" lIns="0" tIns="0" rIns="0" bIns="0" rtlCol="0" anchor="ctr"/>
          <a:lstStyle/>
          <a:p>
            <a:pPr indent="0" marL="0">
              <a:buNone/>
            </a:pPr>
            <a:r>
              <a:rPr lang="en-US" sz="1250" b="1" dirty="0">
                <a:solidFill>
                  <a:srgbClr val="2E9E62"/>
                </a:solidFill>
                <a:latin typeface="Calibri" pitchFamily="34" charset="0"/>
                <a:ea typeface="Calibri" pitchFamily="34" charset="-122"/>
                <a:cs typeface="Calibri" pitchFamily="34" charset="-120"/>
              </a:rPr>
              <a:t>Tips /θ/: </a:t>
            </a:r>
            <a:pPr indent="0" marL="0">
              <a:buNone/>
            </a:pPr>
            <a:r>
              <a:rPr lang="en-US" sz="1250" i="1" dirty="0">
                <a:solidFill>
                  <a:srgbClr val="1E1A3C"/>
                </a:solidFill>
                <a:latin typeface="Calibri" pitchFamily="34" charset="0"/>
                <a:ea typeface="Calibri" pitchFamily="34" charset="-122"/>
                <a:cs typeface="Calibri" pitchFamily="34" charset="-120"/>
              </a:rPr>
              <a:t>ujung lidah di antara gigi, tanpa getaran suara. (draf, masih diverifikasi)</a:t>
            </a:r>
            <a:endParaRPr lang="en-US" sz="12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888236" cy="292608"/>
          </a:xfrm>
          <a:prstGeom prst="roundRect">
            <a:avLst>
              <a:gd name="adj" fmla="val 50000"/>
            </a:avLst>
          </a:prstGeom>
          <a:solidFill>
            <a:srgbClr val="E07A2E"/>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II · TRAINING</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1E1A3C"/>
                </a:solidFill>
                <a:latin typeface="Georgia" pitchFamily="34" charset="0"/>
                <a:ea typeface="Georgia" pitchFamily="34" charset="-122"/>
                <a:cs typeface="Georgia" pitchFamily="34" charset="-120"/>
              </a:rPr>
              <a:t>Train dari nol atau pretrained? Dua-duanya</a:t>
            </a:r>
            <a:endParaRPr lang="en-US" sz="30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548640" y="1645920"/>
            <a:ext cx="3566160" cy="3886200"/>
          </a:xfrm>
          <a:prstGeom prst="roundRect">
            <a:avLst>
              <a:gd name="adj" fmla="val 3590"/>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7" name="Text 5"/>
          <p:cNvSpPr/>
          <p:nvPr/>
        </p:nvSpPr>
        <p:spPr>
          <a:xfrm>
            <a:off x="777240" y="1828800"/>
            <a:ext cx="1097280" cy="274320"/>
          </a:xfrm>
          <a:prstGeom prst="roundRect">
            <a:avLst>
              <a:gd name="adj" fmla="val 50000"/>
            </a:avLst>
          </a:prstGeom>
          <a:solidFill>
            <a:srgbClr val="4C3FB8"/>
          </a:solid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UTAMA</a:t>
            </a:r>
            <a:endParaRPr lang="en-US" sz="950" dirty="0"/>
          </a:p>
        </p:txBody>
      </p:sp>
      <p:sp>
        <p:nvSpPr>
          <p:cNvPr id="8" name="Text 6"/>
          <p:cNvSpPr/>
          <p:nvPr/>
        </p:nvSpPr>
        <p:spPr>
          <a:xfrm>
            <a:off x="3200400" y="1828800"/>
            <a:ext cx="685800" cy="274320"/>
          </a:xfrm>
          <a:prstGeom prst="rect">
            <a:avLst/>
          </a:prstGeom>
          <a:noFill/>
          <a:ln/>
        </p:spPr>
        <p:txBody>
          <a:bodyPr wrap="square" lIns="0" tIns="0" rIns="0" bIns="0" rtlCol="0" anchor="ctr"/>
          <a:lstStyle/>
          <a:p>
            <a:pPr algn="r" indent="0" marL="0">
              <a:buNone/>
            </a:pPr>
            <a:r>
              <a:rPr lang="en-US" sz="1100" b="1" dirty="0">
                <a:solidFill>
                  <a:srgbClr val="8C87AD"/>
                </a:solidFill>
                <a:latin typeface="Consolas" pitchFamily="34" charset="0"/>
                <a:ea typeface="Consolas" pitchFamily="34" charset="-122"/>
                <a:cs typeface="Consolas" pitchFamily="34" charset="-120"/>
              </a:rPr>
              <a:t>NB01</a:t>
            </a:r>
            <a:endParaRPr lang="en-US" sz="1100" dirty="0"/>
          </a:p>
        </p:txBody>
      </p:sp>
      <p:sp>
        <p:nvSpPr>
          <p:cNvPr id="9" name="Text 7"/>
          <p:cNvSpPr/>
          <p:nvPr/>
        </p:nvSpPr>
        <p:spPr>
          <a:xfrm>
            <a:off x="777240" y="2240280"/>
            <a:ext cx="3108960" cy="411480"/>
          </a:xfrm>
          <a:prstGeom prst="rect">
            <a:avLst/>
          </a:prstGeom>
          <a:noFill/>
          <a:ln/>
        </p:spPr>
        <p:txBody>
          <a:bodyPr wrap="square" lIns="0" tIns="0" rIns="0" bIns="0" rtlCol="0" anchor="t"/>
          <a:lstStyle/>
          <a:p>
            <a:pPr indent="0" marL="0">
              <a:buNone/>
            </a:pPr>
            <a:r>
              <a:rPr lang="en-US" sz="1800" b="1" dirty="0">
                <a:solidFill>
                  <a:srgbClr val="4C3FB8"/>
                </a:solidFill>
                <a:latin typeface="Georgia" pitchFamily="34" charset="0"/>
                <a:ea typeface="Georgia" pitchFamily="34" charset="-122"/>
                <a:cs typeface="Georgia" pitchFamily="34" charset="-120"/>
              </a:rPr>
              <a:t>Pretrained, zero-shot</a:t>
            </a:r>
            <a:endParaRPr lang="en-US" sz="1800" dirty="0"/>
          </a:p>
        </p:txBody>
      </p:sp>
      <p:sp>
        <p:nvSpPr>
          <p:cNvPr id="10" name="Text 8"/>
          <p:cNvSpPr/>
          <p:nvPr/>
        </p:nvSpPr>
        <p:spPr>
          <a:xfrm>
            <a:off x="777240" y="2788920"/>
            <a:ext cx="3154680" cy="210312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E1A3C"/>
                </a:solidFill>
                <a:latin typeface="Calibri" pitchFamily="34" charset="0"/>
                <a:ea typeface="Calibri" pitchFamily="34" charset="-122"/>
                <a:cs typeface="Calibri" pitchFamily="34" charset="-120"/>
              </a:rPr>
              <a:t>wav2vec2 phoneme CTC langsung dipakai, tanpa training.</a:t>
            </a:r>
            <a:endParaRPr lang="en-US" sz="1250" dirty="0"/>
          </a:p>
          <a:p>
            <a:pPr marL="342900" indent="-342900">
              <a:spcAft>
                <a:spcPts val="700"/>
              </a:spcAft>
              <a:buSzPct val="100000"/>
              <a:buChar char="•"/>
            </a:pPr>
            <a:r>
              <a:rPr lang="en-US" sz="1250" dirty="0">
                <a:solidFill>
                  <a:srgbClr val="1E1A3C"/>
                </a:solidFill>
                <a:latin typeface="Calibri" pitchFamily="34" charset="0"/>
                <a:ea typeface="Calibri" pitchFamily="34" charset="-122"/>
                <a:cs typeface="Calibri" pitchFamily="34" charset="-120"/>
              </a:rPr>
              <a:t>Alasannya: belum ketemu korpus English aksen Indonesia yang punya label fonem, dan data kita masih kecil.</a:t>
            </a:r>
            <a:endParaRPr lang="en-US" sz="1250" dirty="0"/>
          </a:p>
          <a:p>
            <a:pPr marL="342900" indent="-342900">
              <a:spcAft>
                <a:spcPts val="700"/>
              </a:spcAft>
              <a:buSzPct val="100000"/>
              <a:buChar char="•"/>
            </a:pPr>
            <a:r>
              <a:rPr lang="en-US" sz="1250" dirty="0">
                <a:solidFill>
                  <a:srgbClr val="1E1A3C"/>
                </a:solidFill>
                <a:latin typeface="Calibri" pitchFamily="34" charset="0"/>
                <a:ea typeface="Calibri" pitchFamily="34" charset="-122"/>
                <a:cs typeface="Calibri" pitchFamily="34" charset="-120"/>
              </a:rPr>
              <a:t>Diukur: PER di L2-ARCTIC dan rekaman sendiri, plus RTF di CPU.</a:t>
            </a:r>
            <a:endParaRPr lang="en-US" sz="1250" dirty="0"/>
          </a:p>
        </p:txBody>
      </p:sp>
      <p:sp>
        <p:nvSpPr>
          <p:cNvPr id="11" name="Shape 9"/>
          <p:cNvSpPr/>
          <p:nvPr/>
        </p:nvSpPr>
        <p:spPr>
          <a:xfrm>
            <a:off x="777240" y="4937760"/>
            <a:ext cx="3108960" cy="384048"/>
          </a:xfrm>
          <a:prstGeom prst="roundRect">
            <a:avLst>
              <a:gd name="adj" fmla="val 23810"/>
            </a:avLst>
          </a:prstGeom>
          <a:solidFill>
            <a:srgbClr val="EEE9FF"/>
          </a:solidFill>
          <a:ln w="12700">
            <a:solidFill>
              <a:srgbClr val="EEE9FF"/>
            </a:solidFill>
            <a:prstDash val="solid"/>
          </a:ln>
        </p:spPr>
      </p:sp>
      <p:pic>
        <p:nvPicPr>
          <p:cNvPr id="12" name="Image 0" descr="preencoded.png">    </p:cNvPr>
          <p:cNvPicPr>
            <a:picLocks noChangeAspect="1"/>
          </p:cNvPicPr>
          <p:nvPr/>
        </p:nvPicPr>
        <p:blipFill>
          <a:blip r:embed="rId2"/>
          <a:stretch>
            <a:fillRect/>
          </a:stretch>
        </p:blipFill>
        <p:spPr>
          <a:xfrm>
            <a:off x="896112" y="5029200"/>
            <a:ext cx="201168" cy="201168"/>
          </a:xfrm>
          <a:prstGeom prst="rect">
            <a:avLst/>
          </a:prstGeom>
        </p:spPr>
      </p:pic>
      <p:sp>
        <p:nvSpPr>
          <p:cNvPr id="13" name="Text 10"/>
          <p:cNvSpPr/>
          <p:nvPr/>
        </p:nvSpPr>
        <p:spPr>
          <a:xfrm>
            <a:off x="1188720" y="4937760"/>
            <a:ext cx="2651760" cy="384048"/>
          </a:xfrm>
          <a:prstGeom prst="rect">
            <a:avLst/>
          </a:prstGeom>
          <a:noFill/>
          <a:ln/>
        </p:spPr>
        <p:txBody>
          <a:bodyPr wrap="square" lIns="0" tIns="0" rIns="0" bIns="0" rtlCol="0" anchor="ctr"/>
          <a:lstStyle/>
          <a:p>
            <a:pPr indent="0" marL="0">
              <a:buNone/>
            </a:pPr>
            <a:r>
              <a:rPr lang="en-US" sz="1150" b="1" dirty="0">
                <a:solidFill>
                  <a:srgbClr val="4C3FB8"/>
                </a:solidFill>
                <a:latin typeface="Calibri" pitchFamily="34" charset="0"/>
                <a:ea typeface="Calibri" pitchFamily="34" charset="-122"/>
                <a:cs typeface="Calibri" pitchFamily="34" charset="-120"/>
              </a:rPr>
              <a:t>Status: notebook siap, belum di-run</a:t>
            </a:r>
            <a:endParaRPr lang="en-US" sz="1150" dirty="0"/>
          </a:p>
        </p:txBody>
      </p:sp>
      <p:sp>
        <p:nvSpPr>
          <p:cNvPr id="14" name="Shape 11"/>
          <p:cNvSpPr/>
          <p:nvPr/>
        </p:nvSpPr>
        <p:spPr>
          <a:xfrm>
            <a:off x="4297680" y="1645920"/>
            <a:ext cx="3566160" cy="3886200"/>
          </a:xfrm>
          <a:prstGeom prst="roundRect">
            <a:avLst>
              <a:gd name="adj" fmla="val 3590"/>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15" name="Text 12"/>
          <p:cNvSpPr/>
          <p:nvPr/>
        </p:nvSpPr>
        <p:spPr>
          <a:xfrm>
            <a:off x="4526280" y="1828800"/>
            <a:ext cx="1097280" cy="274320"/>
          </a:xfrm>
          <a:prstGeom prst="roundRect">
            <a:avLst>
              <a:gd name="adj" fmla="val 50000"/>
            </a:avLst>
          </a:prstGeom>
          <a:solidFill>
            <a:srgbClr val="1F8F94"/>
          </a:solid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BASELINE</a:t>
            </a:r>
            <a:endParaRPr lang="en-US" sz="950" dirty="0"/>
          </a:p>
        </p:txBody>
      </p:sp>
      <p:sp>
        <p:nvSpPr>
          <p:cNvPr id="16" name="Text 13"/>
          <p:cNvSpPr/>
          <p:nvPr/>
        </p:nvSpPr>
        <p:spPr>
          <a:xfrm>
            <a:off x="6949440" y="1828800"/>
            <a:ext cx="685800" cy="274320"/>
          </a:xfrm>
          <a:prstGeom prst="rect">
            <a:avLst/>
          </a:prstGeom>
          <a:noFill/>
          <a:ln/>
        </p:spPr>
        <p:txBody>
          <a:bodyPr wrap="square" lIns="0" tIns="0" rIns="0" bIns="0" rtlCol="0" anchor="ctr"/>
          <a:lstStyle/>
          <a:p>
            <a:pPr algn="r" indent="0" marL="0">
              <a:buNone/>
            </a:pPr>
            <a:r>
              <a:rPr lang="en-US" sz="1100" b="1" dirty="0">
                <a:solidFill>
                  <a:srgbClr val="8C87AD"/>
                </a:solidFill>
                <a:latin typeface="Consolas" pitchFamily="34" charset="0"/>
                <a:ea typeface="Consolas" pitchFamily="34" charset="-122"/>
                <a:cs typeface="Consolas" pitchFamily="34" charset="-120"/>
              </a:rPr>
              <a:t>NB02</a:t>
            </a:r>
            <a:endParaRPr lang="en-US" sz="1100" dirty="0"/>
          </a:p>
        </p:txBody>
      </p:sp>
      <p:sp>
        <p:nvSpPr>
          <p:cNvPr id="17" name="Text 14"/>
          <p:cNvSpPr/>
          <p:nvPr/>
        </p:nvSpPr>
        <p:spPr>
          <a:xfrm>
            <a:off x="4526280" y="2240280"/>
            <a:ext cx="3108960" cy="411480"/>
          </a:xfrm>
          <a:prstGeom prst="rect">
            <a:avLst/>
          </a:prstGeom>
          <a:noFill/>
          <a:ln/>
        </p:spPr>
        <p:txBody>
          <a:bodyPr wrap="square" lIns="0" tIns="0" rIns="0" bIns="0" rtlCol="0" anchor="t"/>
          <a:lstStyle/>
          <a:p>
            <a:pPr indent="0" marL="0">
              <a:buNone/>
            </a:pPr>
            <a:r>
              <a:rPr lang="en-US" sz="1800" b="1" dirty="0">
                <a:solidFill>
                  <a:srgbClr val="1F8F94"/>
                </a:solidFill>
                <a:latin typeface="Georgia" pitchFamily="34" charset="0"/>
                <a:ea typeface="Georgia" pitchFamily="34" charset="-122"/>
                <a:cs typeface="Georgia" pitchFamily="34" charset="-120"/>
              </a:rPr>
              <a:t>Scratch: CNN dari nol</a:t>
            </a:r>
            <a:endParaRPr lang="en-US" sz="1800" dirty="0"/>
          </a:p>
        </p:txBody>
      </p:sp>
      <p:sp>
        <p:nvSpPr>
          <p:cNvPr id="18" name="Text 15"/>
          <p:cNvSpPr/>
          <p:nvPr/>
        </p:nvSpPr>
        <p:spPr>
          <a:xfrm>
            <a:off x="4526280" y="2788920"/>
            <a:ext cx="3154680" cy="210312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E1A3C"/>
                </a:solidFill>
                <a:latin typeface="Calibri" pitchFamily="34" charset="0"/>
                <a:ea typeface="Calibri" pitchFamily="34" charset="-122"/>
                <a:cs typeface="Calibri" pitchFamily="34" charset="-120"/>
              </a:rPr>
              <a:t>CNN kecil keyword spotting, dilatih dari nol di Kaggle (GPU T4).</a:t>
            </a:r>
            <a:endParaRPr lang="en-US" sz="1250" dirty="0"/>
          </a:p>
          <a:p>
            <a:pPr marL="342900" indent="-342900">
              <a:spcAft>
                <a:spcPts val="700"/>
              </a:spcAft>
              <a:buSzPct val="100000"/>
              <a:buChar char="•"/>
            </a:pPr>
            <a:r>
              <a:rPr lang="en-US" sz="1250" dirty="0">
                <a:solidFill>
                  <a:srgbClr val="1E1A3C"/>
                </a:solidFill>
                <a:latin typeface="Calibri" pitchFamily="34" charset="0"/>
                <a:ea typeface="Calibri" pitchFamily="34" charset="-122"/>
                <a:cs typeface="Calibri" pitchFamily="34" charset="-120"/>
              </a:rPr>
              <a:t>Data: Google Speech Commands v0.02, 35 kata, 105.829 clip.</a:t>
            </a:r>
            <a:endParaRPr lang="en-US" sz="1250" dirty="0"/>
          </a:p>
          <a:p>
            <a:pPr marL="342900" indent="-342900">
              <a:spcAft>
                <a:spcPts val="700"/>
              </a:spcAft>
              <a:buSzPct val="100000"/>
              <a:buChar char="•"/>
            </a:pPr>
            <a:r>
              <a:rPr lang="en-US" sz="1250" dirty="0">
                <a:solidFill>
                  <a:srgbClr val="1E1A3C"/>
                </a:solidFill>
                <a:latin typeface="Calibri" pitchFamily="34" charset="0"/>
                <a:ea typeface="Calibri" pitchFamily="34" charset="-122"/>
                <a:cs typeface="Calibri" pitchFamily="34" charset="-120"/>
              </a:rPr>
              <a:t>Buat pembanding dan bukti alur training. Cuma tahu kata, nggak bisa nunjuk bunyi.</a:t>
            </a:r>
            <a:endParaRPr lang="en-US" sz="1250" dirty="0"/>
          </a:p>
        </p:txBody>
      </p:sp>
      <p:sp>
        <p:nvSpPr>
          <p:cNvPr id="19" name="Shape 16"/>
          <p:cNvSpPr/>
          <p:nvPr/>
        </p:nvSpPr>
        <p:spPr>
          <a:xfrm>
            <a:off x="4526280" y="4937760"/>
            <a:ext cx="3108960" cy="384048"/>
          </a:xfrm>
          <a:prstGeom prst="roundRect">
            <a:avLst>
              <a:gd name="adj" fmla="val 23810"/>
            </a:avLst>
          </a:prstGeom>
          <a:solidFill>
            <a:srgbClr val="EEE9FF"/>
          </a:solidFill>
          <a:ln w="12700">
            <a:solidFill>
              <a:srgbClr val="EEE9FF"/>
            </a:solidFill>
            <a:prstDash val="solid"/>
          </a:ln>
        </p:spPr>
      </p:sp>
      <p:pic>
        <p:nvPicPr>
          <p:cNvPr id="20" name="Image 1" descr="preencoded.png">    </p:cNvPr>
          <p:cNvPicPr>
            <a:picLocks noChangeAspect="1"/>
          </p:cNvPicPr>
          <p:nvPr/>
        </p:nvPicPr>
        <p:blipFill>
          <a:blip r:embed="rId3"/>
          <a:stretch>
            <a:fillRect/>
          </a:stretch>
        </p:blipFill>
        <p:spPr>
          <a:xfrm>
            <a:off x="4645152" y="5029200"/>
            <a:ext cx="201168" cy="201168"/>
          </a:xfrm>
          <a:prstGeom prst="rect">
            <a:avLst/>
          </a:prstGeom>
        </p:spPr>
      </p:pic>
      <p:sp>
        <p:nvSpPr>
          <p:cNvPr id="21" name="Text 17"/>
          <p:cNvSpPr/>
          <p:nvPr/>
        </p:nvSpPr>
        <p:spPr>
          <a:xfrm>
            <a:off x="4937760" y="4937760"/>
            <a:ext cx="2651760" cy="384048"/>
          </a:xfrm>
          <a:prstGeom prst="rect">
            <a:avLst/>
          </a:prstGeom>
          <a:noFill/>
          <a:ln/>
        </p:spPr>
        <p:txBody>
          <a:bodyPr wrap="square" lIns="0" tIns="0" rIns="0" bIns="0" rtlCol="0" anchor="ctr"/>
          <a:lstStyle/>
          <a:p>
            <a:pPr indent="0" marL="0">
              <a:buNone/>
            </a:pPr>
            <a:r>
              <a:rPr lang="en-US" sz="1150" b="1" dirty="0">
                <a:solidFill>
                  <a:srgbClr val="4C3FB8"/>
                </a:solidFill>
                <a:latin typeface="Calibri" pitchFamily="34" charset="0"/>
                <a:ea typeface="Calibri" pitchFamily="34" charset="-122"/>
                <a:cs typeface="Calibri" pitchFamily="34" charset="-120"/>
              </a:rPr>
              <a:t>Status: notebook siap, belum di-run</a:t>
            </a:r>
            <a:endParaRPr lang="en-US" sz="1150" dirty="0"/>
          </a:p>
        </p:txBody>
      </p:sp>
      <p:sp>
        <p:nvSpPr>
          <p:cNvPr id="22" name="Shape 18"/>
          <p:cNvSpPr/>
          <p:nvPr/>
        </p:nvSpPr>
        <p:spPr>
          <a:xfrm>
            <a:off x="8046720" y="1645920"/>
            <a:ext cx="3566160" cy="3886200"/>
          </a:xfrm>
          <a:prstGeom prst="roundRect">
            <a:avLst>
              <a:gd name="adj" fmla="val 3590"/>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23" name="Text 19"/>
          <p:cNvSpPr/>
          <p:nvPr/>
        </p:nvSpPr>
        <p:spPr>
          <a:xfrm>
            <a:off x="8275320" y="1828800"/>
            <a:ext cx="1097280" cy="274320"/>
          </a:xfrm>
          <a:prstGeom prst="roundRect">
            <a:avLst>
              <a:gd name="adj" fmla="val 50000"/>
            </a:avLst>
          </a:prstGeom>
          <a:solidFill>
            <a:srgbClr val="E9A92B"/>
          </a:solid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24" name="Text 20"/>
          <p:cNvSpPr/>
          <p:nvPr/>
        </p:nvSpPr>
        <p:spPr>
          <a:xfrm>
            <a:off x="10698480" y="1828800"/>
            <a:ext cx="685800" cy="274320"/>
          </a:xfrm>
          <a:prstGeom prst="rect">
            <a:avLst/>
          </a:prstGeom>
          <a:noFill/>
          <a:ln/>
        </p:spPr>
        <p:txBody>
          <a:bodyPr wrap="square" lIns="0" tIns="0" rIns="0" bIns="0" rtlCol="0" anchor="ctr"/>
          <a:lstStyle/>
          <a:p>
            <a:pPr algn="r" indent="0" marL="0">
              <a:buNone/>
            </a:pPr>
            <a:r>
              <a:rPr lang="en-US" sz="1100" b="1" dirty="0">
                <a:solidFill>
                  <a:srgbClr val="8C87AD"/>
                </a:solidFill>
                <a:latin typeface="Consolas" pitchFamily="34" charset="0"/>
                <a:ea typeface="Consolas" pitchFamily="34" charset="-122"/>
                <a:cs typeface="Consolas" pitchFamily="34" charset="-120"/>
              </a:rPr>
              <a:t>NB05</a:t>
            </a:r>
            <a:endParaRPr lang="en-US" sz="1100" dirty="0"/>
          </a:p>
        </p:txBody>
      </p:sp>
      <p:sp>
        <p:nvSpPr>
          <p:cNvPr id="25" name="Text 21"/>
          <p:cNvSpPr/>
          <p:nvPr/>
        </p:nvSpPr>
        <p:spPr>
          <a:xfrm>
            <a:off x="8275320" y="2240280"/>
            <a:ext cx="3108960" cy="411480"/>
          </a:xfrm>
          <a:prstGeom prst="rect">
            <a:avLst/>
          </a:prstGeom>
          <a:noFill/>
          <a:ln/>
        </p:spPr>
        <p:txBody>
          <a:bodyPr wrap="square" lIns="0" tIns="0" rIns="0" bIns="0" rtlCol="0" anchor="t"/>
          <a:lstStyle/>
          <a:p>
            <a:pPr indent="0" marL="0">
              <a:buNone/>
            </a:pPr>
            <a:r>
              <a:rPr lang="en-US" sz="1800" b="1" dirty="0">
                <a:solidFill>
                  <a:srgbClr val="E9A92B"/>
                </a:solidFill>
                <a:latin typeface="Georgia" pitchFamily="34" charset="0"/>
                <a:ea typeface="Georgia" pitchFamily="34" charset="-122"/>
                <a:cs typeface="Georgia" pitchFamily="34" charset="-120"/>
              </a:rPr>
              <a:t>Fine-tune wav2vec2</a:t>
            </a:r>
            <a:endParaRPr lang="en-US" sz="1800" dirty="0"/>
          </a:p>
        </p:txBody>
      </p:sp>
      <p:sp>
        <p:nvSpPr>
          <p:cNvPr id="26" name="Text 22"/>
          <p:cNvSpPr/>
          <p:nvPr/>
        </p:nvSpPr>
        <p:spPr>
          <a:xfrm>
            <a:off x="8275320" y="2788920"/>
            <a:ext cx="3154680" cy="210312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E1A3C"/>
                </a:solidFill>
                <a:latin typeface="Calibri" pitchFamily="34" charset="0"/>
                <a:ea typeface="Calibri" pitchFamily="34" charset="-122"/>
                <a:cs typeface="Calibri" pitchFamily="34" charset="-120"/>
              </a:rPr>
              <a:t>Fine-tune di L2-ARCTIC + speaker train kita (split per speaker).</a:t>
            </a:r>
            <a:endParaRPr lang="en-US" sz="1250" dirty="0"/>
          </a:p>
          <a:p>
            <a:pPr marL="342900" indent="-342900">
              <a:spcAft>
                <a:spcPts val="700"/>
              </a:spcAft>
              <a:buSzPct val="100000"/>
              <a:buChar char="•"/>
            </a:pPr>
            <a:r>
              <a:rPr lang="en-US" sz="1250" dirty="0">
                <a:solidFill>
                  <a:srgbClr val="1E1A3C"/>
                </a:solidFill>
                <a:latin typeface="Calibri" pitchFamily="34" charset="0"/>
                <a:ea typeface="Calibri" pitchFamily="34" charset="-122"/>
                <a:cs typeface="Calibri" pitchFamily="34" charset="-120"/>
              </a:rPr>
              <a:t>Dipakai cuma kalau PER di speaker held-out lebih baik dari zero-shot.</a:t>
            </a:r>
            <a:endParaRPr lang="en-US" sz="1250" dirty="0"/>
          </a:p>
          <a:p>
            <a:pPr marL="342900" indent="-342900">
              <a:spcAft>
                <a:spcPts val="700"/>
              </a:spcAft>
              <a:buSzPct val="100000"/>
              <a:buChar char="•"/>
            </a:pPr>
            <a:r>
              <a:rPr lang="en-US" sz="1250" dirty="0">
                <a:solidFill>
                  <a:srgbClr val="1E1A3C"/>
                </a:solidFill>
                <a:latin typeface="Calibri" pitchFamily="34" charset="0"/>
                <a:ea typeface="Calibri" pitchFamily="34" charset="-122"/>
                <a:cs typeface="Calibri" pitchFamily="34" charset="-120"/>
              </a:rPr>
              <a:t>Kalau nggak lebih baik, tetap pakai zero-shot.</a:t>
            </a:r>
            <a:endParaRPr lang="en-US" sz="1250" dirty="0"/>
          </a:p>
        </p:txBody>
      </p:sp>
      <p:sp>
        <p:nvSpPr>
          <p:cNvPr id="27" name="Shape 23"/>
          <p:cNvSpPr/>
          <p:nvPr/>
        </p:nvSpPr>
        <p:spPr>
          <a:xfrm>
            <a:off x="8275320" y="4937760"/>
            <a:ext cx="3108960" cy="384048"/>
          </a:xfrm>
          <a:prstGeom prst="roundRect">
            <a:avLst>
              <a:gd name="adj" fmla="val 23810"/>
            </a:avLst>
          </a:prstGeom>
          <a:solidFill>
            <a:srgbClr val="EEE9FF"/>
          </a:solidFill>
          <a:ln w="12700">
            <a:solidFill>
              <a:srgbClr val="EEE9FF"/>
            </a:solidFill>
            <a:prstDash val="solid"/>
          </a:ln>
        </p:spPr>
      </p:sp>
      <p:pic>
        <p:nvPicPr>
          <p:cNvPr id="28" name="Image 2" descr="preencoded.png">    </p:cNvPr>
          <p:cNvPicPr>
            <a:picLocks noChangeAspect="1"/>
          </p:cNvPicPr>
          <p:nvPr/>
        </p:nvPicPr>
        <p:blipFill>
          <a:blip r:embed="rId4"/>
          <a:stretch>
            <a:fillRect/>
          </a:stretch>
        </p:blipFill>
        <p:spPr>
          <a:xfrm>
            <a:off x="8394192" y="5029200"/>
            <a:ext cx="201168" cy="201168"/>
          </a:xfrm>
          <a:prstGeom prst="rect">
            <a:avLst/>
          </a:prstGeom>
        </p:spPr>
      </p:pic>
      <p:sp>
        <p:nvSpPr>
          <p:cNvPr id="29" name="Text 24"/>
          <p:cNvSpPr/>
          <p:nvPr/>
        </p:nvSpPr>
        <p:spPr>
          <a:xfrm>
            <a:off x="8686800" y="4937760"/>
            <a:ext cx="2651760" cy="384048"/>
          </a:xfrm>
          <a:prstGeom prst="rect">
            <a:avLst/>
          </a:prstGeom>
          <a:noFill/>
          <a:ln/>
        </p:spPr>
        <p:txBody>
          <a:bodyPr wrap="square" lIns="0" tIns="0" rIns="0" bIns="0" rtlCol="0" anchor="ctr"/>
          <a:lstStyle/>
          <a:p>
            <a:pPr indent="0" marL="0">
              <a:buNone/>
            </a:pPr>
            <a:r>
              <a:rPr lang="en-US" sz="1150" b="1" dirty="0">
                <a:solidFill>
                  <a:srgbClr val="4C3FB8"/>
                </a:solidFill>
                <a:latin typeface="Calibri" pitchFamily="34" charset="0"/>
                <a:ea typeface="Calibri" pitchFamily="34" charset="-122"/>
                <a:cs typeface="Calibri" pitchFamily="34" charset="-120"/>
              </a:rPr>
              <a:t>Status: belum dibuat</a:t>
            </a:r>
            <a:endParaRPr lang="en-US" sz="1150" dirty="0"/>
          </a:p>
        </p:txBody>
      </p:sp>
      <p:sp>
        <p:nvSpPr>
          <p:cNvPr id="30" name="Shape 25"/>
          <p:cNvSpPr/>
          <p:nvPr/>
        </p:nvSpPr>
        <p:spPr>
          <a:xfrm>
            <a:off x="548640" y="5715000"/>
            <a:ext cx="11064240" cy="548640"/>
          </a:xfrm>
          <a:prstGeom prst="roundRect">
            <a:avLst>
              <a:gd name="adj" fmla="val 23333"/>
            </a:avLst>
          </a:prstGeom>
          <a:solidFill>
            <a:srgbClr val="EEE9FF"/>
          </a:solidFill>
          <a:ln w="12700">
            <a:solidFill>
              <a:srgbClr val="EEE9FF"/>
            </a:solidFill>
            <a:prstDash val="solid"/>
          </a:ln>
        </p:spPr>
      </p:sp>
      <p:sp>
        <p:nvSpPr>
          <p:cNvPr id="31" name="Text 26"/>
          <p:cNvSpPr/>
          <p:nvPr/>
        </p:nvSpPr>
        <p:spPr>
          <a:xfrm>
            <a:off x="731520" y="5760720"/>
            <a:ext cx="10698480" cy="457200"/>
          </a:xfrm>
          <a:prstGeom prst="rect">
            <a:avLst/>
          </a:prstGeom>
          <a:noFill/>
          <a:ln/>
        </p:spPr>
        <p:txBody>
          <a:bodyPr wrap="square" lIns="0" tIns="0" rIns="0" bIns="0" rtlCol="0" anchor="ctr"/>
          <a:lstStyle/>
          <a:p>
            <a:pPr indent="0" marL="0">
              <a:buNone/>
            </a:pPr>
            <a:r>
              <a:rPr lang="en-US" sz="1250" b="1" dirty="0">
                <a:solidFill>
                  <a:srgbClr val="4C3FB8"/>
                </a:solidFill>
                <a:latin typeface="Calibri" pitchFamily="34" charset="0"/>
                <a:ea typeface="Calibri" pitchFamily="34" charset="-122"/>
                <a:cs typeface="Calibri" pitchFamily="34" charset="-120"/>
              </a:rPr>
              <a:t>Masih pending: </a:t>
            </a:r>
            <a:pPr indent="0" marL="0">
              <a:buNone/>
            </a:pPr>
            <a:r>
              <a:rPr lang="en-US" sz="1250" dirty="0">
                <a:solidFill>
                  <a:srgbClr val="1E1A3C"/>
                </a:solidFill>
                <a:latin typeface="Calibri" pitchFamily="34" charset="0"/>
                <a:ea typeface="Calibri" pitchFamily="34" charset="-122"/>
                <a:cs typeface="Calibri" pitchFamily="34" charset="-120"/>
              </a:rPr>
              <a:t>konfirmasi ke dosen soal scope bagian scratch vs pretrained.</a:t>
            </a:r>
            <a:endParaRPr lang="en-US" sz="12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810512" cy="292608"/>
          </a:xfrm>
          <a:prstGeom prst="roundRect">
            <a:avLst>
              <a:gd name="adj" fmla="val 50000"/>
            </a:avLst>
          </a:prstGeom>
          <a:solidFill>
            <a:srgbClr val="E07A2E"/>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II · DATASET</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1E1A3C"/>
                </a:solidFill>
                <a:latin typeface="Georgia" pitchFamily="34" charset="0"/>
                <a:ea typeface="Georgia" pitchFamily="34" charset="-122"/>
                <a:cs typeface="Georgia" pitchFamily="34" charset="-120"/>
              </a:rPr>
              <a:t>Dataset: rekaman sendiri jadi data utama</a:t>
            </a:r>
            <a:endParaRPr lang="en-US" sz="30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680960" cy="914400"/>
        </p:xfrm>
        <a:graphic>
          <a:graphicData uri="http://schemas.openxmlformats.org/drawingml/2006/table">
            <a:tbl>
              <a:tblPr/>
              <a:tblGrid>
                <a:gridCol w="1783080"/>
                <a:gridCol w="2057400"/>
                <a:gridCol w="2194560"/>
                <a:gridCol w="164592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E07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Dipakai untuk</a:t>
                      </a:r>
                      <a:endParaRPr lang="en-US" sz="11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E07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Fakta singkat</a:t>
                      </a:r>
                      <a:endParaRPr lang="en-US" sz="11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E07A2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Batasan</a:t>
                      </a:r>
                      <a:endParaRPr lang="en-US" sz="11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E07A2E"/>
                    </a:solidFill>
                  </a:tcPr>
                </a:tc>
              </a:tr>
              <a:tr h="457200">
                <a:tc>
                  <a:txBody>
                    <a:bodyPr/>
                    <a:lstStyle/>
                    <a:p>
                      <a:pPr indent="0" marL="0">
                        <a:buNone/>
                      </a:pPr>
                      <a:r>
                        <a:rPr lang="en-US" sz="1050" b="1" dirty="0">
                          <a:solidFill>
                            <a:srgbClr val="1E1A3C"/>
                          </a:solidFill>
                          <a:latin typeface="Calibri" pitchFamily="34" charset="0"/>
                          <a:ea typeface="Calibri" pitchFamily="34" charset="-122"/>
                          <a:cs typeface="Calibri" pitchFamily="34" charset="-120"/>
                        </a:rPr>
                        <a:t>Rekaman sendiri</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Evaluasi utama + kalibrasi threshold</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16 kHz mono WAV, ada consent, metadata tanpa nama</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Kecil, label fonem manual</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E1A3C"/>
                          </a:solidFill>
                          <a:latin typeface="Calibri" pitchFamily="34" charset="0"/>
                          <a:ea typeface="Calibri" pitchFamily="34" charset="-122"/>
                          <a:cs typeface="Calibri" pitchFamily="34" charset="-120"/>
                        </a:rPr>
                        <a:t>L2-ARCTIC</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Cek PER vs label fonem manusia</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24 speaker, 6 L1, 150 ujaran/speaker beranotasi</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Nggak ada speaker Indonesia</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E1A3C"/>
                          </a:solidFill>
                          <a:latin typeface="Calibri" pitchFamily="34" charset="0"/>
                          <a:ea typeface="Calibri" pitchFamily="34" charset="-122"/>
                          <a:cs typeface="Calibri" pitchFamily="34" charset="-120"/>
                        </a:rPr>
                        <a:t>speechocean762</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Korelasi skor vs penilai ahli</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5.000 kalimat, dinilai 5 expert</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L1 Mandarin</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E1A3C"/>
                          </a:solidFill>
                          <a:latin typeface="Calibri" pitchFamily="34" charset="0"/>
                          <a:ea typeface="Calibri" pitchFamily="34" charset="-122"/>
                          <a:cs typeface="Calibri" pitchFamily="34" charset="-120"/>
                        </a:rPr>
                        <a:t>EdAcc</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WER Jalur A, aksen Indonesia</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±40 jam percakapan, ada speaker Indonesia</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Percakapan, tanpa label fonem</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E1A3C"/>
                          </a:solidFill>
                          <a:latin typeface="Calibri" pitchFamily="34" charset="0"/>
                          <a:ea typeface="Calibri" pitchFamily="34" charset="-122"/>
                          <a:cs typeface="Calibri" pitchFamily="34" charset="-120"/>
                        </a:rPr>
                        <a:t>Speech Commands v0.02</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Baseline scratch (NB02)</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105.829 clip, 35 kata</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Kata spell kita nggak ada</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E1A3C"/>
                          </a:solidFill>
                          <a:latin typeface="Calibri" pitchFamily="34" charset="0"/>
                          <a:ea typeface="Calibri" pitchFamily="34" charset="-122"/>
                          <a:cs typeface="Calibri" pitchFamily="34" charset="-120"/>
                        </a:rPr>
                        <a:t>MUSAN + DEMAND</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Noise untuk eksperimen SNR</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Dicampur di 20 / 10 / 5 dB</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Ambil subset noise saja</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E1A3C"/>
                          </a:solidFill>
                          <a:latin typeface="Calibri" pitchFamily="34" charset="0"/>
                          <a:ea typeface="Calibri" pitchFamily="34" charset="-122"/>
                          <a:cs typeface="Calibri" pitchFamily="34" charset="-120"/>
                        </a:rPr>
                        <a:t>Speech Accent Archive</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Contoh kualitatif aksen</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±14 speaker Indonesia</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c>
                  <a:txBody>
                    <a:bodyPr/>
                    <a:lstStyle/>
                    <a:p>
                      <a:pPr indent="0" marL="0">
                        <a:buNone/>
                      </a:pPr>
                      <a:r>
                        <a:rPr lang="en-US" sz="1050" dirty="0">
                          <a:solidFill>
                            <a:srgbClr val="1E1A3C"/>
                          </a:solidFill>
                          <a:latin typeface="Calibri" pitchFamily="34" charset="0"/>
                          <a:ea typeface="Calibri" pitchFamily="34" charset="-122"/>
                          <a:cs typeface="Calibri" pitchFamily="34" charset="-120"/>
                        </a:rPr>
                        <a:t>Terlalu kecil buat statistik</a:t>
                      </a:r>
                      <a:endParaRPr lang="en-US" sz="1050" dirty="0">
                        <a:latin typeface="Calibri" charset="0"/>
                        <a:ea typeface="Calibri" charset="0"/>
                        <a:cs typeface="Calibri" charset="0"/>
                      </a:endParaRPr>
                    </a:p>
                  </a:txBody>
                  <a:tcPr marL="76200" marR="76200" marT="38100" marB="38100" anchor="ctr">
                    <a:lnL w="12700" cap="flat" cmpd="sng" algn="ctr">
                      <a:solidFill>
                        <a:srgbClr val="F1E3D6"/>
                      </a:solidFill>
                      <a:prstDash val="solid"/>
                      <a:round/>
                      <a:headEnd type="none" w="med" len="med"/>
                      <a:tailEnd type="none" w="med" len="med"/>
                    </a:lnL>
                    <a:lnR w="12700" cap="flat" cmpd="sng" algn="ctr">
                      <a:solidFill>
                        <a:srgbClr val="F1E3D6"/>
                      </a:solidFill>
                      <a:prstDash val="solid"/>
                      <a:round/>
                      <a:headEnd type="none" w="med" len="med"/>
                      <a:tailEnd type="none" w="med" len="med"/>
                    </a:lnR>
                    <a:lnT w="12700" cap="flat" cmpd="sng" algn="ctr">
                      <a:solidFill>
                        <a:srgbClr val="F1E3D6"/>
                      </a:solidFill>
                      <a:prstDash val="solid"/>
                      <a:round/>
                      <a:headEnd type="none" w="med" len="med"/>
                      <a:tailEnd type="none" w="med" len="med"/>
                    </a:lnT>
                    <a:lnB w="12700" cap="flat" cmpd="sng" algn="ctr">
                      <a:solidFill>
                        <a:srgbClr val="F1E3D6"/>
                      </a:solidFill>
                      <a:prstDash val="solid"/>
                      <a:round/>
                      <a:headEnd type="none" w="med" len="med"/>
                      <a:tailEnd type="none" w="med" len="med"/>
                    </a:lnB>
                    <a:solidFill>
                      <a:srgbClr val="FFFFFF"/>
                    </a:solidFill>
                  </a:tcPr>
                </a:tc>
              </a:tr>
            </a:tbl>
          </a:graphicData>
        </a:graphic>
      </p:graphicFrame>
      <p:sp>
        <p:nvSpPr>
          <p:cNvPr id="7" name="Shape 4"/>
          <p:cNvSpPr/>
          <p:nvPr/>
        </p:nvSpPr>
        <p:spPr>
          <a:xfrm>
            <a:off x="8549640" y="1645920"/>
            <a:ext cx="3108960" cy="4526280"/>
          </a:xfrm>
          <a:prstGeom prst="roundRect">
            <a:avLst>
              <a:gd name="adj" fmla="val 4118"/>
            </a:avLst>
          </a:prstGeom>
          <a:solidFill>
            <a:srgbClr val="2B2166"/>
          </a:solidFill>
          <a:ln w="12700">
            <a:solidFill>
              <a:srgbClr val="2B2166"/>
            </a:solidFill>
            <a:prstDash val="solid"/>
          </a:ln>
          <a:effectLst>
            <a:outerShdw sx="100000" sy="100000" kx="0" ky="0" algn="bl" rotWithShape="0" blurRad="127000" dist="38100" dir="5400000">
              <a:srgbClr val="2A2050">
                <a:alpha val="14000"/>
              </a:srgbClr>
            </a:outerShdw>
          </a:effectLst>
        </p:spPr>
      </p:sp>
      <p:sp>
        <p:nvSpPr>
          <p:cNvPr id="8" name="Text 5"/>
          <p:cNvSpPr/>
          <p:nvPr/>
        </p:nvSpPr>
        <p:spPr>
          <a:xfrm>
            <a:off x="8778240" y="1828800"/>
            <a:ext cx="2743200" cy="320040"/>
          </a:xfrm>
          <a:prstGeom prst="rect">
            <a:avLst/>
          </a:prstGeom>
          <a:noFill/>
          <a:ln/>
        </p:spPr>
        <p:txBody>
          <a:bodyPr wrap="square" lIns="0" tIns="0" rIns="0" bIns="0" rtlCol="0" anchor="t"/>
          <a:lstStyle/>
          <a:p>
            <a:pPr indent="0" marL="0">
              <a:buNone/>
            </a:pPr>
            <a:r>
              <a:rPr lang="en-US" sz="1300" b="1" dirty="0">
                <a:solidFill>
                  <a:srgbClr val="FFD34D"/>
                </a:solidFill>
                <a:latin typeface="Calibri" pitchFamily="34" charset="0"/>
                <a:ea typeface="Calibri" pitchFamily="34" charset="-122"/>
                <a:cs typeface="Calibri" pitchFamily="34" charset="-120"/>
              </a:rPr>
              <a:t>Rekaman kita (per 11 Okt)</a:t>
            </a:r>
            <a:endParaRPr lang="en-US" sz="1300" dirty="0"/>
          </a:p>
        </p:txBody>
      </p:sp>
      <p:sp>
        <p:nvSpPr>
          <p:cNvPr id="9" name="Text 6"/>
          <p:cNvSpPr/>
          <p:nvPr/>
        </p:nvSpPr>
        <p:spPr>
          <a:xfrm>
            <a:off x="8778240" y="2240280"/>
            <a:ext cx="1005840" cy="68580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65</a:t>
            </a:r>
            <a:endParaRPr lang="en-US" sz="3400" dirty="0"/>
          </a:p>
        </p:txBody>
      </p:sp>
      <p:sp>
        <p:nvSpPr>
          <p:cNvPr id="10" name="Text 7"/>
          <p:cNvSpPr/>
          <p:nvPr/>
        </p:nvSpPr>
        <p:spPr>
          <a:xfrm>
            <a:off x="9784080" y="2240280"/>
            <a:ext cx="1691640" cy="685800"/>
          </a:xfrm>
          <a:prstGeom prst="rect">
            <a:avLst/>
          </a:prstGeom>
          <a:noFill/>
          <a:ln/>
        </p:spPr>
        <p:txBody>
          <a:bodyPr wrap="square" lIns="0" tIns="0" rIns="0" bIns="0" rtlCol="0" anchor="ctr"/>
          <a:lstStyle/>
          <a:p>
            <a:pPr indent="0" marL="0">
              <a:buNone/>
            </a:pPr>
            <a:r>
              <a:rPr lang="en-US" sz="1200" dirty="0">
                <a:solidFill>
                  <a:srgbClr val="CFC8F5"/>
                </a:solidFill>
                <a:latin typeface="Calibri" pitchFamily="34" charset="0"/>
                <a:ea typeface="Calibri" pitchFamily="34" charset="-122"/>
                <a:cs typeface="Calibri" pitchFamily="34" charset="-120"/>
              </a:rPr>
              <a:t>clip WAV</a:t>
            </a:r>
            <a:endParaRPr lang="en-US" sz="1200" dirty="0"/>
          </a:p>
        </p:txBody>
      </p:sp>
      <p:sp>
        <p:nvSpPr>
          <p:cNvPr id="11" name="Text 8"/>
          <p:cNvSpPr/>
          <p:nvPr/>
        </p:nvSpPr>
        <p:spPr>
          <a:xfrm>
            <a:off x="8778240" y="3108960"/>
            <a:ext cx="1005840" cy="68580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1</a:t>
            </a:r>
            <a:endParaRPr lang="en-US" sz="3400" dirty="0"/>
          </a:p>
        </p:txBody>
      </p:sp>
      <p:sp>
        <p:nvSpPr>
          <p:cNvPr id="12" name="Text 9"/>
          <p:cNvSpPr/>
          <p:nvPr/>
        </p:nvSpPr>
        <p:spPr>
          <a:xfrm>
            <a:off x="9784080" y="3108960"/>
            <a:ext cx="1691640" cy="685800"/>
          </a:xfrm>
          <a:prstGeom prst="rect">
            <a:avLst/>
          </a:prstGeom>
          <a:noFill/>
          <a:ln/>
        </p:spPr>
        <p:txBody>
          <a:bodyPr wrap="square" lIns="0" tIns="0" rIns="0" bIns="0" rtlCol="0" anchor="ctr"/>
          <a:lstStyle/>
          <a:p>
            <a:pPr indent="0" marL="0">
              <a:buNone/>
            </a:pPr>
            <a:r>
              <a:rPr lang="en-US" sz="1200" dirty="0">
                <a:solidFill>
                  <a:srgbClr val="CFC8F5"/>
                </a:solidFill>
                <a:latin typeface="Calibri" pitchFamily="34" charset="0"/>
                <a:ea typeface="Calibri" pitchFamily="34" charset="-122"/>
                <a:cs typeface="Calibri" pitchFamily="34" charset="-120"/>
              </a:rPr>
              <a:t>speaker (S01)</a:t>
            </a:r>
            <a:endParaRPr lang="en-US" sz="1200" dirty="0"/>
          </a:p>
        </p:txBody>
      </p:sp>
      <p:sp>
        <p:nvSpPr>
          <p:cNvPr id="13" name="Text 10"/>
          <p:cNvSpPr/>
          <p:nvPr/>
        </p:nvSpPr>
        <p:spPr>
          <a:xfrm>
            <a:off x="8778240" y="3977640"/>
            <a:ext cx="1005840" cy="685800"/>
          </a:xfrm>
          <a:prstGeom prst="rect">
            <a:avLst/>
          </a:prstGeom>
          <a:noFill/>
          <a:ln/>
        </p:spPr>
        <p:txBody>
          <a:bodyPr wrap="square" lIns="0" tIns="0" rIns="0" bIns="0"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22</a:t>
            </a:r>
            <a:endParaRPr lang="en-US" sz="3400" dirty="0"/>
          </a:p>
        </p:txBody>
      </p:sp>
      <p:sp>
        <p:nvSpPr>
          <p:cNvPr id="14" name="Text 11"/>
          <p:cNvSpPr/>
          <p:nvPr/>
        </p:nvSpPr>
        <p:spPr>
          <a:xfrm>
            <a:off x="9784080" y="3977640"/>
            <a:ext cx="1691640" cy="685800"/>
          </a:xfrm>
          <a:prstGeom prst="rect">
            <a:avLst/>
          </a:prstGeom>
          <a:noFill/>
          <a:ln/>
        </p:spPr>
        <p:txBody>
          <a:bodyPr wrap="square" lIns="0" tIns="0" rIns="0" bIns="0" rtlCol="0" anchor="ctr"/>
          <a:lstStyle/>
          <a:p>
            <a:pPr indent="0" marL="0">
              <a:buNone/>
            </a:pPr>
            <a:r>
              <a:rPr lang="en-US" sz="1200" dirty="0">
                <a:solidFill>
                  <a:srgbClr val="CFC8F5"/>
                </a:solidFill>
                <a:latin typeface="Calibri" pitchFamily="34" charset="0"/>
                <a:ea typeface="Calibri" pitchFamily="34" charset="-122"/>
                <a:cs typeface="Calibri" pitchFamily="34" charset="-120"/>
              </a:rPr>
              <a:t>kata kandidat × 3 repetisi</a:t>
            </a:r>
            <a:endParaRPr lang="en-US" sz="1200" dirty="0"/>
          </a:p>
        </p:txBody>
      </p:sp>
      <p:sp>
        <p:nvSpPr>
          <p:cNvPr id="15" name="Text 12"/>
          <p:cNvSpPr/>
          <p:nvPr/>
        </p:nvSpPr>
        <p:spPr>
          <a:xfrm>
            <a:off x="8778240" y="4892040"/>
            <a:ext cx="2697480" cy="5029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Target: minimal 5 speaker Indonesia, split per speaker.</a:t>
            </a:r>
            <a:endParaRPr lang="en-US" sz="1150" dirty="0"/>
          </a:p>
        </p:txBody>
      </p:sp>
      <p:sp>
        <p:nvSpPr>
          <p:cNvPr id="16" name="Text 13"/>
          <p:cNvSpPr/>
          <p:nvPr/>
        </p:nvSpPr>
        <p:spPr>
          <a:xfrm>
            <a:off x="8778240" y="5532120"/>
            <a:ext cx="457200" cy="457200"/>
          </a:xfrm>
          <a:prstGeom prst="roundRect">
            <a:avLst>
              <a:gd name="adj" fmla="val 20000"/>
            </a:avLst>
          </a:prstGeom>
          <a:solidFill>
            <a:srgbClr val="E07A2E"/>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θ</a:t>
            </a:r>
            <a:endParaRPr lang="en-US" sz="1500" dirty="0"/>
          </a:p>
        </p:txBody>
      </p:sp>
      <p:sp>
        <p:nvSpPr>
          <p:cNvPr id="17" name="Text 14"/>
          <p:cNvSpPr/>
          <p:nvPr/>
        </p:nvSpPr>
        <p:spPr>
          <a:xfrm>
            <a:off x="9317736" y="5532120"/>
            <a:ext cx="457200" cy="457200"/>
          </a:xfrm>
          <a:prstGeom prst="roundRect">
            <a:avLst>
              <a:gd name="adj" fmla="val 20000"/>
            </a:avLst>
          </a:prstGeom>
          <a:solidFill>
            <a:srgbClr val="E07A2E"/>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ð</a:t>
            </a:r>
            <a:endParaRPr lang="en-US" sz="1500" dirty="0"/>
          </a:p>
        </p:txBody>
      </p:sp>
      <p:sp>
        <p:nvSpPr>
          <p:cNvPr id="18" name="Text 15"/>
          <p:cNvSpPr/>
          <p:nvPr/>
        </p:nvSpPr>
        <p:spPr>
          <a:xfrm>
            <a:off x="9857232" y="5532120"/>
            <a:ext cx="457200" cy="457200"/>
          </a:xfrm>
          <a:prstGeom prst="roundRect">
            <a:avLst>
              <a:gd name="adj" fmla="val 20000"/>
            </a:avLst>
          </a:prstGeom>
          <a:solidFill>
            <a:srgbClr val="E07A2E"/>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v/f</a:t>
            </a:r>
            <a:endParaRPr lang="en-US" sz="1000" dirty="0"/>
          </a:p>
        </p:txBody>
      </p:sp>
      <p:sp>
        <p:nvSpPr>
          <p:cNvPr id="19" name="Text 16"/>
          <p:cNvSpPr/>
          <p:nvPr/>
        </p:nvSpPr>
        <p:spPr>
          <a:xfrm>
            <a:off x="10396728" y="5532120"/>
            <a:ext cx="457200" cy="457200"/>
          </a:xfrm>
          <a:prstGeom prst="roundRect">
            <a:avLst>
              <a:gd name="adj" fmla="val 20000"/>
            </a:avLst>
          </a:prstGeom>
          <a:solidFill>
            <a:srgbClr val="E07A2E"/>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æ/ɛ</a:t>
            </a:r>
            <a:endParaRPr lang="en-US" sz="1000" dirty="0"/>
          </a:p>
        </p:txBody>
      </p:sp>
      <p:sp>
        <p:nvSpPr>
          <p:cNvPr id="20" name="Text 17"/>
          <p:cNvSpPr/>
          <p:nvPr/>
        </p:nvSpPr>
        <p:spPr>
          <a:xfrm>
            <a:off x="10936224" y="5532120"/>
            <a:ext cx="457200" cy="457200"/>
          </a:xfrm>
          <a:prstGeom prst="roundRect">
            <a:avLst>
              <a:gd name="adj" fmla="val 20000"/>
            </a:avLst>
          </a:prstGeom>
          <a:solidFill>
            <a:srgbClr val="E07A2E"/>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-kt</a:t>
            </a:r>
            <a:endParaRPr lang="en-US" sz="1000" dirty="0"/>
          </a:p>
        </p:txBody>
      </p:sp>
      <p:sp>
        <p:nvSpPr>
          <p:cNvPr id="21" name="Text 18"/>
          <p:cNvSpPr/>
          <p:nvPr/>
        </p:nvSpPr>
        <p:spPr>
          <a:xfrm>
            <a:off x="548640" y="5486400"/>
            <a:ext cx="7680960" cy="274320"/>
          </a:xfrm>
          <a:prstGeom prst="rect">
            <a:avLst/>
          </a:prstGeom>
          <a:noFill/>
          <a:ln/>
        </p:spPr>
        <p:txBody>
          <a:bodyPr wrap="square" lIns="0" tIns="0" rIns="0" bIns="0" rtlCol="0" anchor="t"/>
          <a:lstStyle/>
          <a:p>
            <a:pPr indent="0" marL="0">
              <a:buNone/>
            </a:pPr>
            <a:r>
              <a:rPr lang="en-US" sz="1050" i="1" dirty="0">
                <a:solidFill>
                  <a:srgbClr val="8C87AD"/>
                </a:solidFill>
                <a:latin typeface="Calibri" pitchFamily="34" charset="0"/>
                <a:ea typeface="Calibri" pitchFamily="34" charset="-122"/>
                <a:cs typeface="Calibri" pitchFamily="34" charset="-120"/>
              </a:rPr>
              <a:t>Sumber dan lisensi tiap dataset dicek lagi sebelum laporan final.</a:t>
            </a:r>
            <a:endParaRPr lang="en-US" sz="10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965960" cy="292608"/>
          </a:xfrm>
          <a:prstGeom prst="roundRect">
            <a:avLst>
              <a:gd name="adj" fmla="val 50000"/>
            </a:avLst>
          </a:prstGeom>
          <a:solidFill>
            <a:srgbClr val="E07A2E"/>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II · FLOWCHART</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1E1A3C"/>
                </a:solidFill>
                <a:latin typeface="Georgia" pitchFamily="34" charset="0"/>
                <a:ea typeface="Georgia" pitchFamily="34" charset="-122"/>
                <a:cs typeface="Georgia" pitchFamily="34" charset="-120"/>
              </a:rPr>
              <a:t>Flowchart satu ronde: game ↔ model</a:t>
            </a:r>
            <a:endParaRPr lang="en-US" sz="30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48640" y="1600200"/>
            <a:ext cx="11109960" cy="1371600"/>
          </a:xfrm>
          <a:prstGeom prst="roundRect">
            <a:avLst>
              <a:gd name="adj" fmla="val 8000"/>
            </a:avLst>
          </a:prstGeom>
          <a:solidFill>
            <a:srgbClr val="F1EEFF"/>
          </a:solidFill>
          <a:ln w="12700">
            <a:solidFill>
              <a:srgbClr val="DCD3FF"/>
            </a:solidFill>
            <a:prstDash val="solid"/>
          </a:ln>
        </p:spPr>
      </p:sp>
      <p:sp>
        <p:nvSpPr>
          <p:cNvPr id="7" name="Shape 5"/>
          <p:cNvSpPr/>
          <p:nvPr/>
        </p:nvSpPr>
        <p:spPr>
          <a:xfrm>
            <a:off x="548640" y="3154680"/>
            <a:ext cx="11109960" cy="1600200"/>
          </a:xfrm>
          <a:prstGeom prst="roundRect">
            <a:avLst>
              <a:gd name="adj" fmla="val 6857"/>
            </a:avLst>
          </a:prstGeom>
          <a:solidFill>
            <a:srgbClr val="FFF6EC"/>
          </a:solidFill>
          <a:ln w="12700">
            <a:solidFill>
              <a:srgbClr val="F4DCC4"/>
            </a:solidFill>
            <a:prstDash val="solid"/>
          </a:ln>
        </p:spPr>
      </p:sp>
      <p:sp>
        <p:nvSpPr>
          <p:cNvPr id="8" name="Text 6"/>
          <p:cNvSpPr/>
          <p:nvPr/>
        </p:nvSpPr>
        <p:spPr>
          <a:xfrm>
            <a:off x="640080" y="1600200"/>
            <a:ext cx="960120" cy="1371600"/>
          </a:xfrm>
          <a:prstGeom prst="rect">
            <a:avLst/>
          </a:prstGeom>
          <a:noFill/>
          <a:ln/>
        </p:spPr>
        <p:txBody>
          <a:bodyPr wrap="square" lIns="0" tIns="0" rIns="0" bIns="0" rtlCol="0" anchor="ctr"/>
          <a:lstStyle/>
          <a:p>
            <a:pPr algn="ctr" indent="0" marL="0">
              <a:buNone/>
            </a:pPr>
            <a:r>
              <a:rPr lang="en-US" sz="1100" b="1" dirty="0">
                <a:solidFill>
                  <a:srgbClr val="4C3FB8"/>
                </a:solidFill>
                <a:latin typeface="Calibri" pitchFamily="34" charset="0"/>
                <a:ea typeface="Calibri" pitchFamily="34" charset="-122"/>
                <a:cs typeface="Calibri" pitchFamily="34" charset="-120"/>
              </a:rPr>
              <a:t>GAME</a:t>
            </a:r>
            <a:endParaRPr lang="en-US" sz="1100" dirty="0"/>
          </a:p>
          <a:p>
            <a:pPr algn="ctr" indent="0" marL="0">
              <a:buNone/>
            </a:pPr>
            <a:r>
              <a:rPr lang="en-US" sz="1100" b="1" dirty="0">
                <a:solidFill>
                  <a:srgbClr val="4C3FB8"/>
                </a:solidFill>
                <a:latin typeface="Calibri" pitchFamily="34" charset="0"/>
                <a:ea typeface="Calibri" pitchFamily="34" charset="-122"/>
                <a:cs typeface="Calibri" pitchFamily="34" charset="-120"/>
              </a:rPr>
              <a:t>(Godot)</a:t>
            </a:r>
            <a:endParaRPr lang="en-US" sz="1100" dirty="0"/>
          </a:p>
        </p:txBody>
      </p:sp>
      <p:sp>
        <p:nvSpPr>
          <p:cNvPr id="9" name="Text 7"/>
          <p:cNvSpPr/>
          <p:nvPr/>
        </p:nvSpPr>
        <p:spPr>
          <a:xfrm>
            <a:off x="640080" y="3154680"/>
            <a:ext cx="960120" cy="1600200"/>
          </a:xfrm>
          <a:prstGeom prst="rect">
            <a:avLst/>
          </a:prstGeom>
          <a:noFill/>
          <a:ln/>
        </p:spPr>
        <p:txBody>
          <a:bodyPr wrap="square" lIns="0" tIns="0" rIns="0" bIns="0" rtlCol="0" anchor="ctr"/>
          <a:lstStyle/>
          <a:p>
            <a:pPr algn="ctr" indent="0" marL="0">
              <a:buNone/>
            </a:pPr>
            <a:r>
              <a:rPr lang="en-US" sz="1100" b="1" dirty="0">
                <a:solidFill>
                  <a:srgbClr val="E07A2E"/>
                </a:solidFill>
                <a:latin typeface="Calibri" pitchFamily="34" charset="0"/>
                <a:ea typeface="Calibri" pitchFamily="34" charset="-122"/>
                <a:cs typeface="Calibri" pitchFamily="34" charset="-120"/>
              </a:rPr>
              <a:t>MODEL</a:t>
            </a:r>
            <a:endParaRPr lang="en-US" sz="1100" dirty="0"/>
          </a:p>
          <a:p>
            <a:pPr algn="ctr" indent="0" marL="0">
              <a:buNone/>
            </a:pPr>
            <a:r>
              <a:rPr lang="en-US" sz="1100" b="1" dirty="0">
                <a:solidFill>
                  <a:srgbClr val="E07A2E"/>
                </a:solidFill>
                <a:latin typeface="Calibri" pitchFamily="34" charset="0"/>
                <a:ea typeface="Calibri" pitchFamily="34" charset="-122"/>
                <a:cs typeface="Calibri" pitchFamily="34" charset="-120"/>
              </a:rPr>
              <a:t>(Python)</a:t>
            </a:r>
            <a:endParaRPr lang="en-US" sz="1100" dirty="0"/>
          </a:p>
        </p:txBody>
      </p:sp>
      <p:sp>
        <p:nvSpPr>
          <p:cNvPr id="10" name="Text 8"/>
          <p:cNvSpPr/>
          <p:nvPr/>
        </p:nvSpPr>
        <p:spPr>
          <a:xfrm>
            <a:off x="1691640" y="1828800"/>
            <a:ext cx="1463040" cy="914400"/>
          </a:xfrm>
          <a:prstGeom prst="roundRect">
            <a:avLst>
              <a:gd name="adj" fmla="val 10000"/>
            </a:avLst>
          </a:prstGeom>
          <a:solidFill>
            <a:srgbClr val="FFFFFF"/>
          </a:solidFill>
          <a:ln w="19050">
            <a:solidFill>
              <a:srgbClr val="4C3FB8"/>
            </a:solidFill>
          </a:ln>
        </p:spPr>
        <p:txBody>
          <a:bodyPr wrap="square" lIns="38100" tIns="38100" rIns="38100" bIns="38100" rtlCol="0" anchor="ctr"/>
          <a:lstStyle/>
          <a:p>
            <a:pPr algn="ctr" indent="0" marL="0">
              <a:buNone/>
            </a:pPr>
            <a:r>
              <a:rPr lang="en-US" sz="1100" dirty="0">
                <a:solidFill>
                  <a:srgbClr val="1E1A3C"/>
                </a:solidFill>
                <a:latin typeface="Calibri" pitchFamily="34" charset="0"/>
                <a:ea typeface="Calibri" pitchFamily="34" charset="-122"/>
                <a:cs typeface="Calibri" pitchFamily="34" charset="-120"/>
              </a:rPr>
              <a:t>Pilih kata target</a:t>
            </a:r>
            <a:endParaRPr lang="en-US" sz="1100" dirty="0"/>
          </a:p>
          <a:p>
            <a:pPr algn="ctr" indent="0" marL="0">
              <a:buNone/>
            </a:pPr>
            <a:r>
              <a:rPr lang="en-US" sz="1100" dirty="0">
                <a:solidFill>
                  <a:srgbClr val="1E1A3C"/>
                </a:solidFill>
                <a:latin typeface="Calibri" pitchFamily="34" charset="0"/>
                <a:ea typeface="Calibri" pitchFamily="34" charset="-122"/>
                <a:cs typeface="Calibri" pitchFamily="34" charset="-120"/>
              </a:rPr>
              <a:t>think /θɪŋk/</a:t>
            </a:r>
            <a:endParaRPr lang="en-US" sz="1100" dirty="0"/>
          </a:p>
        </p:txBody>
      </p:sp>
      <p:sp>
        <p:nvSpPr>
          <p:cNvPr id="11" name="Text 9"/>
          <p:cNvSpPr/>
          <p:nvPr/>
        </p:nvSpPr>
        <p:spPr>
          <a:xfrm>
            <a:off x="3355848" y="1828800"/>
            <a:ext cx="1463040" cy="914400"/>
          </a:xfrm>
          <a:prstGeom prst="roundRect">
            <a:avLst>
              <a:gd name="adj" fmla="val 10000"/>
            </a:avLst>
          </a:prstGeom>
          <a:solidFill>
            <a:srgbClr val="FFFFFF"/>
          </a:solidFill>
          <a:ln w="19050">
            <a:solidFill>
              <a:srgbClr val="4C3FB8"/>
            </a:solidFill>
          </a:ln>
        </p:spPr>
        <p:txBody>
          <a:bodyPr wrap="square" lIns="38100" tIns="38100" rIns="38100" bIns="38100" rtlCol="0" anchor="ctr"/>
          <a:lstStyle/>
          <a:p>
            <a:pPr algn="ctr" indent="0" marL="0">
              <a:buNone/>
            </a:pPr>
            <a:r>
              <a:rPr lang="en-US" sz="1100" dirty="0">
                <a:solidFill>
                  <a:srgbClr val="1E1A3C"/>
                </a:solidFill>
                <a:latin typeface="Calibri" pitchFamily="34" charset="0"/>
                <a:ea typeface="Calibri" pitchFamily="34" charset="-122"/>
                <a:cs typeface="Calibri" pitchFamily="34" charset="-120"/>
              </a:rPr>
              <a:t>Pemain tekan</a:t>
            </a:r>
            <a:endParaRPr lang="en-US" sz="1100" dirty="0"/>
          </a:p>
          <a:p>
            <a:pPr algn="ctr" indent="0" marL="0">
              <a:buNone/>
            </a:pPr>
            <a:r>
              <a:rPr lang="en-US" sz="1100" dirty="0">
                <a:solidFill>
                  <a:srgbClr val="1E1A3C"/>
                </a:solidFill>
                <a:latin typeface="Calibri" pitchFamily="34" charset="0"/>
                <a:ea typeface="Calibri" pitchFamily="34" charset="-122"/>
                <a:cs typeface="Calibri" pitchFamily="34" charset="-120"/>
              </a:rPr>
              <a:t>Cast &amp; bicara</a:t>
            </a:r>
            <a:endParaRPr lang="en-US" sz="1100" dirty="0"/>
          </a:p>
        </p:txBody>
      </p:sp>
      <p:sp>
        <p:nvSpPr>
          <p:cNvPr id="12" name="Text 10"/>
          <p:cNvSpPr/>
          <p:nvPr/>
        </p:nvSpPr>
        <p:spPr>
          <a:xfrm>
            <a:off x="5020056" y="1828800"/>
            <a:ext cx="1463040" cy="914400"/>
          </a:xfrm>
          <a:prstGeom prst="roundRect">
            <a:avLst>
              <a:gd name="adj" fmla="val 10000"/>
            </a:avLst>
          </a:prstGeom>
          <a:solidFill>
            <a:srgbClr val="FFFFFF"/>
          </a:solidFill>
          <a:ln w="19050">
            <a:solidFill>
              <a:srgbClr val="4C3FB8"/>
            </a:solidFill>
          </a:ln>
        </p:spPr>
        <p:txBody>
          <a:bodyPr wrap="square" lIns="38100" tIns="38100" rIns="38100" bIns="38100" rtlCol="0" anchor="ctr"/>
          <a:lstStyle/>
          <a:p>
            <a:pPr algn="ctr" indent="0" marL="0">
              <a:buNone/>
            </a:pPr>
            <a:r>
              <a:rPr lang="en-US" sz="1100" dirty="0">
                <a:solidFill>
                  <a:srgbClr val="1E1A3C"/>
                </a:solidFill>
                <a:latin typeface="Calibri" pitchFamily="34" charset="0"/>
                <a:ea typeface="Calibri" pitchFamily="34" charset="-122"/>
                <a:cs typeface="Calibri" pitchFamily="34" charset="-120"/>
              </a:rPr>
              <a:t>Tampilkan</a:t>
            </a:r>
            <a:endParaRPr lang="en-US" sz="1100" dirty="0"/>
          </a:p>
          <a:p>
            <a:pPr algn="ctr" indent="0" marL="0">
              <a:buNone/>
            </a:pPr>
            <a:r>
              <a:rPr lang="en-US" sz="1100" dirty="0">
                <a:solidFill>
                  <a:srgbClr val="1E1A3C"/>
                </a:solidFill>
                <a:latin typeface="Calibri" pitchFamily="34" charset="0"/>
                <a:ea typeface="Calibri" pitchFamily="34" charset="-122"/>
                <a:cs typeface="Calibri" pitchFamily="34" charset="-120"/>
              </a:rPr>
              <a:t>transkrip live</a:t>
            </a:r>
            <a:endParaRPr lang="en-US" sz="1100" dirty="0"/>
          </a:p>
        </p:txBody>
      </p:sp>
      <p:sp>
        <p:nvSpPr>
          <p:cNvPr id="13" name="Text 11"/>
          <p:cNvSpPr/>
          <p:nvPr/>
        </p:nvSpPr>
        <p:spPr>
          <a:xfrm>
            <a:off x="6684264" y="1828800"/>
            <a:ext cx="1463040" cy="914400"/>
          </a:xfrm>
          <a:prstGeom prst="roundRect">
            <a:avLst>
              <a:gd name="adj" fmla="val 10000"/>
            </a:avLst>
          </a:prstGeom>
          <a:solidFill>
            <a:srgbClr val="FFFFFF"/>
          </a:solidFill>
          <a:ln w="19050">
            <a:solidFill>
              <a:srgbClr val="4C3FB8"/>
            </a:solidFill>
          </a:ln>
        </p:spPr>
        <p:txBody>
          <a:bodyPr wrap="square" lIns="38100" tIns="38100" rIns="38100" bIns="38100" rtlCol="0" anchor="ctr"/>
          <a:lstStyle/>
          <a:p>
            <a:pPr algn="ctr" indent="0" marL="0">
              <a:buNone/>
            </a:pPr>
            <a:r>
              <a:rPr lang="en-US" sz="1100" dirty="0">
                <a:solidFill>
                  <a:srgbClr val="1E1A3C"/>
                </a:solidFill>
                <a:latin typeface="Calibri" pitchFamily="34" charset="0"/>
                <a:ea typeface="Calibri" pitchFamily="34" charset="-122"/>
                <a:cs typeface="Calibri" pitchFamily="34" charset="-120"/>
              </a:rPr>
              <a:t>Status:</a:t>
            </a:r>
            <a:endParaRPr lang="en-US" sz="1100" dirty="0"/>
          </a:p>
          <a:p>
            <a:pPr algn="ctr" indent="0" marL="0">
              <a:buNone/>
            </a:pPr>
            <a:r>
              <a:rPr lang="en-US" sz="1100" dirty="0">
                <a:solidFill>
                  <a:srgbClr val="1E1A3C"/>
                </a:solidFill>
                <a:latin typeface="Calibri" pitchFamily="34" charset="0"/>
                <a:ea typeface="Calibri" pitchFamily="34" charset="-122"/>
                <a:cs typeface="Calibri" pitchFamily="34" charset="-120"/>
              </a:rPr>
              <a:t>Scoring…</a:t>
            </a:r>
            <a:endParaRPr lang="en-US" sz="1100" dirty="0"/>
          </a:p>
        </p:txBody>
      </p:sp>
      <p:sp>
        <p:nvSpPr>
          <p:cNvPr id="14" name="Text 12"/>
          <p:cNvSpPr/>
          <p:nvPr/>
        </p:nvSpPr>
        <p:spPr>
          <a:xfrm>
            <a:off x="10012680" y="1828800"/>
            <a:ext cx="1463040" cy="914400"/>
          </a:xfrm>
          <a:prstGeom prst="roundRect">
            <a:avLst>
              <a:gd name="adj" fmla="val 10000"/>
            </a:avLst>
          </a:prstGeom>
          <a:solidFill>
            <a:srgbClr val="FFFFFF"/>
          </a:solidFill>
          <a:ln w="19050">
            <a:solidFill>
              <a:srgbClr val="4C3FB8"/>
            </a:solidFill>
          </a:ln>
        </p:spPr>
        <p:txBody>
          <a:bodyPr wrap="square" lIns="38100" tIns="38100" rIns="38100" bIns="38100" rtlCol="0" anchor="ctr"/>
          <a:lstStyle/>
          <a:p>
            <a:pPr algn="ctr" indent="0" marL="0">
              <a:buNone/>
            </a:pPr>
            <a:r>
              <a:rPr lang="en-US" sz="1100" dirty="0">
                <a:solidFill>
                  <a:srgbClr val="1E1A3C"/>
                </a:solidFill>
                <a:latin typeface="Calibri" pitchFamily="34" charset="0"/>
                <a:ea typeface="Calibri" pitchFamily="34" charset="-122"/>
                <a:cs typeface="Calibri" pitchFamily="34" charset="-120"/>
              </a:rPr>
              <a:t>Nyalakan rune,</a:t>
            </a:r>
            <a:endParaRPr lang="en-US" sz="1100" dirty="0"/>
          </a:p>
          <a:p>
            <a:pPr algn="ctr" indent="0" marL="0">
              <a:buNone/>
            </a:pPr>
            <a:r>
              <a:rPr lang="en-US" sz="1100" dirty="0">
                <a:solidFill>
                  <a:srgbClr val="1E1A3C"/>
                </a:solidFill>
                <a:latin typeface="Calibri" pitchFamily="34" charset="0"/>
                <a:ea typeface="Calibri" pitchFamily="34" charset="-122"/>
                <a:cs typeface="Calibri" pitchFamily="34" charset="-120"/>
              </a:rPr>
              <a:t>damage / tips</a:t>
            </a:r>
            <a:endParaRPr lang="en-US" sz="1100" dirty="0"/>
          </a:p>
        </p:txBody>
      </p:sp>
      <p:sp>
        <p:nvSpPr>
          <p:cNvPr id="15" name="Text 13"/>
          <p:cNvSpPr/>
          <p:nvPr/>
        </p:nvSpPr>
        <p:spPr>
          <a:xfrm>
            <a:off x="1691640" y="3429000"/>
            <a:ext cx="1463040" cy="1005840"/>
          </a:xfrm>
          <a:prstGeom prst="roundRect">
            <a:avLst>
              <a:gd name="adj" fmla="val 9091"/>
            </a:avLst>
          </a:prstGeom>
          <a:solidFill>
            <a:srgbClr val="FFFFFF"/>
          </a:solidFill>
          <a:ln w="19050">
            <a:solidFill>
              <a:srgbClr val="E07A2E"/>
            </a:solidFill>
          </a:ln>
        </p:spPr>
        <p:txBody>
          <a:bodyPr wrap="square" lIns="38100" tIns="38100" rIns="38100" bIns="38100" rtlCol="0" anchor="ctr"/>
          <a:lstStyle/>
          <a:p>
            <a:pPr algn="ctr" indent="0" marL="0">
              <a:buNone/>
            </a:pPr>
            <a:r>
              <a:rPr lang="en-US" sz="1100" dirty="0">
                <a:solidFill>
                  <a:srgbClr val="1E1A3C"/>
                </a:solidFill>
                <a:latin typeface="Calibri" pitchFamily="34" charset="0"/>
                <a:ea typeface="Calibri" pitchFamily="34" charset="-122"/>
                <a:cs typeface="Calibri" pitchFamily="34" charset="-120"/>
              </a:rPr>
              <a:t>Target fonem</a:t>
            </a:r>
            <a:endParaRPr lang="en-US" sz="1100" dirty="0"/>
          </a:p>
          <a:p>
            <a:pPr algn="ctr" indent="0" marL="0">
              <a:buNone/>
            </a:pPr>
            <a:r>
              <a:rPr lang="en-US" sz="1100" dirty="0">
                <a:solidFill>
                  <a:srgbClr val="1E1A3C"/>
                </a:solidFill>
                <a:latin typeface="Calibri" pitchFamily="34" charset="0"/>
                <a:ea typeface="Calibri" pitchFamily="34" charset="-122"/>
                <a:cs typeface="Calibri" pitchFamily="34" charset="-120"/>
              </a:rPr>
              <a:t>phonemizer</a:t>
            </a:r>
            <a:endParaRPr lang="en-US" sz="1100" dirty="0"/>
          </a:p>
        </p:txBody>
      </p:sp>
      <p:sp>
        <p:nvSpPr>
          <p:cNvPr id="16" name="Text 14"/>
          <p:cNvSpPr/>
          <p:nvPr/>
        </p:nvSpPr>
        <p:spPr>
          <a:xfrm>
            <a:off x="3355848" y="3429000"/>
            <a:ext cx="1463040" cy="1005840"/>
          </a:xfrm>
          <a:prstGeom prst="roundRect">
            <a:avLst>
              <a:gd name="adj" fmla="val 9091"/>
            </a:avLst>
          </a:prstGeom>
          <a:solidFill>
            <a:srgbClr val="FFFFFF"/>
          </a:solidFill>
          <a:ln w="19050">
            <a:solidFill>
              <a:srgbClr val="E07A2E"/>
            </a:solidFill>
          </a:ln>
        </p:spPr>
        <p:txBody>
          <a:bodyPr wrap="square" lIns="38100" tIns="38100" rIns="38100" bIns="38100" rtlCol="0" anchor="ctr"/>
          <a:lstStyle/>
          <a:p>
            <a:pPr algn="ctr" indent="0" marL="0">
              <a:buNone/>
            </a:pPr>
            <a:r>
              <a:rPr lang="en-US" sz="1100" dirty="0">
                <a:solidFill>
                  <a:srgbClr val="1E1A3C"/>
                </a:solidFill>
                <a:latin typeface="Calibri" pitchFamily="34" charset="0"/>
                <a:ea typeface="Calibri" pitchFamily="34" charset="-122"/>
                <a:cs typeface="Calibri" pitchFamily="34" charset="-120"/>
              </a:rPr>
              <a:t>Mic stream</a:t>
            </a:r>
            <a:endParaRPr lang="en-US" sz="1100" dirty="0"/>
          </a:p>
          <a:p>
            <a:pPr algn="ctr" indent="0" marL="0">
              <a:buNone/>
            </a:pPr>
            <a:r>
              <a:rPr lang="en-US" sz="1100" dirty="0">
                <a:solidFill>
                  <a:srgbClr val="1E1A3C"/>
                </a:solidFill>
                <a:latin typeface="Calibri" pitchFamily="34" charset="0"/>
                <a:ea typeface="Calibri" pitchFamily="34" charset="-122"/>
                <a:cs typeface="Calibri" pitchFamily="34" charset="-120"/>
              </a:rPr>
              <a:t>16 kHz</a:t>
            </a:r>
            <a:endParaRPr lang="en-US" sz="1100" dirty="0"/>
          </a:p>
        </p:txBody>
      </p:sp>
      <p:sp>
        <p:nvSpPr>
          <p:cNvPr id="17" name="Text 15"/>
          <p:cNvSpPr/>
          <p:nvPr/>
        </p:nvSpPr>
        <p:spPr>
          <a:xfrm>
            <a:off x="5020056" y="3429000"/>
            <a:ext cx="1463040" cy="1005840"/>
          </a:xfrm>
          <a:prstGeom prst="roundRect">
            <a:avLst>
              <a:gd name="adj" fmla="val 9091"/>
            </a:avLst>
          </a:prstGeom>
          <a:solidFill>
            <a:srgbClr val="FFFFFF"/>
          </a:solidFill>
          <a:ln w="19050">
            <a:solidFill>
              <a:srgbClr val="1F8F94"/>
            </a:solidFill>
          </a:ln>
        </p:spPr>
        <p:txBody>
          <a:bodyPr wrap="square" lIns="38100" tIns="38100" rIns="38100" bIns="38100" rtlCol="0" anchor="ctr"/>
          <a:lstStyle/>
          <a:p>
            <a:pPr algn="ctr" indent="0" marL="0">
              <a:buNone/>
            </a:pPr>
            <a:r>
              <a:rPr lang="en-US" sz="1100" dirty="0">
                <a:solidFill>
                  <a:srgbClr val="1E1A3C"/>
                </a:solidFill>
                <a:latin typeface="Calibri" pitchFamily="34" charset="0"/>
                <a:ea typeface="Calibri" pitchFamily="34" charset="-122"/>
                <a:cs typeface="Calibri" pitchFamily="34" charset="-120"/>
              </a:rPr>
              <a:t>Jalur A</a:t>
            </a:r>
            <a:endParaRPr lang="en-US" sz="1100" dirty="0"/>
          </a:p>
          <a:p>
            <a:pPr algn="ctr" indent="0" marL="0">
              <a:buNone/>
            </a:pPr>
            <a:r>
              <a:rPr lang="en-US" sz="1100" dirty="0">
                <a:solidFill>
                  <a:srgbClr val="1E1A3C"/>
                </a:solidFill>
                <a:latin typeface="Calibri" pitchFamily="34" charset="0"/>
                <a:ea typeface="Calibri" pitchFamily="34" charset="-122"/>
                <a:cs typeface="Calibri" pitchFamily="34" charset="-120"/>
              </a:rPr>
              <a:t>partial text</a:t>
            </a:r>
            <a:endParaRPr lang="en-US" sz="1100" dirty="0"/>
          </a:p>
        </p:txBody>
      </p:sp>
      <p:sp>
        <p:nvSpPr>
          <p:cNvPr id="18" name="Text 16"/>
          <p:cNvSpPr/>
          <p:nvPr/>
        </p:nvSpPr>
        <p:spPr>
          <a:xfrm>
            <a:off x="6775704" y="3364992"/>
            <a:ext cx="1280160" cy="1133856"/>
          </a:xfrm>
          <a:prstGeom prst="diamond">
            <a:avLst/>
          </a:prstGeom>
          <a:solidFill>
            <a:srgbClr val="FFFFFF"/>
          </a:solidFill>
          <a:ln w="19050">
            <a:solidFill>
              <a:srgbClr val="4C3FB8"/>
            </a:solidFill>
          </a:ln>
        </p:spPr>
        <p:txBody>
          <a:bodyPr wrap="square" lIns="0" tIns="0" rIns="0" bIns="0" rtlCol="0" anchor="ctr"/>
          <a:lstStyle/>
          <a:p>
            <a:pPr algn="ctr" indent="0" marL="0">
              <a:buNone/>
            </a:pPr>
            <a:r>
              <a:rPr lang="en-US" sz="1050" b="1" dirty="0">
                <a:solidFill>
                  <a:srgbClr val="1E1A3C"/>
                </a:solidFill>
                <a:latin typeface="Calibri" pitchFamily="34" charset="0"/>
                <a:ea typeface="Calibri" pitchFamily="34" charset="-122"/>
                <a:cs typeface="Calibri" pitchFamily="34" charset="-120"/>
              </a:rPr>
              <a:t>VAD:</a:t>
            </a:r>
            <a:endParaRPr lang="en-US" sz="1050" dirty="0"/>
          </a:p>
          <a:p>
            <a:pPr algn="ctr" indent="0" marL="0">
              <a:buNone/>
            </a:pPr>
            <a:r>
              <a:rPr lang="en-US" sz="1050" b="1" dirty="0">
                <a:solidFill>
                  <a:srgbClr val="1E1A3C"/>
                </a:solidFill>
                <a:latin typeface="Calibri" pitchFamily="34" charset="0"/>
                <a:ea typeface="Calibri" pitchFamily="34" charset="-122"/>
                <a:cs typeface="Calibri" pitchFamily="34" charset="-120"/>
              </a:rPr>
              <a:t>selesai?</a:t>
            </a:r>
            <a:endParaRPr lang="en-US" sz="1050" dirty="0"/>
          </a:p>
        </p:txBody>
      </p:sp>
      <p:sp>
        <p:nvSpPr>
          <p:cNvPr id="19" name="Text 17"/>
          <p:cNvSpPr/>
          <p:nvPr/>
        </p:nvSpPr>
        <p:spPr>
          <a:xfrm>
            <a:off x="8348472" y="3429000"/>
            <a:ext cx="1463040" cy="1005840"/>
          </a:xfrm>
          <a:prstGeom prst="roundRect">
            <a:avLst>
              <a:gd name="adj" fmla="val 9091"/>
            </a:avLst>
          </a:prstGeom>
          <a:solidFill>
            <a:srgbClr val="FFFFFF"/>
          </a:solidFill>
          <a:ln w="19050">
            <a:solidFill>
              <a:srgbClr val="4C3FB8"/>
            </a:solidFill>
          </a:ln>
        </p:spPr>
        <p:txBody>
          <a:bodyPr wrap="square" lIns="38100" tIns="38100" rIns="38100" bIns="38100" rtlCol="0" anchor="ctr"/>
          <a:lstStyle/>
          <a:p>
            <a:pPr algn="ctr" indent="0" marL="0">
              <a:buNone/>
            </a:pPr>
            <a:r>
              <a:rPr lang="en-US" sz="1100" dirty="0">
                <a:solidFill>
                  <a:srgbClr val="1E1A3C"/>
                </a:solidFill>
                <a:latin typeface="Calibri" pitchFamily="34" charset="0"/>
                <a:ea typeface="Calibri" pitchFamily="34" charset="-122"/>
                <a:cs typeface="Calibri" pitchFamily="34" charset="-120"/>
              </a:rPr>
              <a:t>Jalur B wav2vec2</a:t>
            </a:r>
            <a:endParaRPr lang="en-US" sz="1100" dirty="0"/>
          </a:p>
          <a:p>
            <a:pPr algn="ctr" indent="0" marL="0">
              <a:buNone/>
            </a:pPr>
            <a:r>
              <a:rPr lang="en-US" sz="1100" dirty="0">
                <a:solidFill>
                  <a:srgbClr val="1E1A3C"/>
                </a:solidFill>
                <a:latin typeface="Calibri" pitchFamily="34" charset="0"/>
                <a:ea typeface="Calibri" pitchFamily="34" charset="-122"/>
                <a:cs typeface="Calibri" pitchFamily="34" charset="-120"/>
              </a:rPr>
              <a:t>audio utuh → fonem</a:t>
            </a:r>
            <a:endParaRPr lang="en-US" sz="1100" dirty="0"/>
          </a:p>
        </p:txBody>
      </p:sp>
      <p:sp>
        <p:nvSpPr>
          <p:cNvPr id="20" name="Text 18"/>
          <p:cNvSpPr/>
          <p:nvPr/>
        </p:nvSpPr>
        <p:spPr>
          <a:xfrm>
            <a:off x="10012680" y="3429000"/>
            <a:ext cx="1463040" cy="1005840"/>
          </a:xfrm>
          <a:prstGeom prst="roundRect">
            <a:avLst>
              <a:gd name="adj" fmla="val 9091"/>
            </a:avLst>
          </a:prstGeom>
          <a:solidFill>
            <a:srgbClr val="FFFFFF"/>
          </a:solidFill>
          <a:ln w="19050">
            <a:solidFill>
              <a:srgbClr val="E07A2E"/>
            </a:solidFill>
          </a:ln>
        </p:spPr>
        <p:txBody>
          <a:bodyPr wrap="square" lIns="38100" tIns="38100" rIns="38100" bIns="38100" rtlCol="0" anchor="ctr"/>
          <a:lstStyle/>
          <a:p>
            <a:pPr algn="ctr" indent="0" marL="0">
              <a:buNone/>
            </a:pPr>
            <a:r>
              <a:rPr lang="en-US" sz="1100" dirty="0">
                <a:solidFill>
                  <a:srgbClr val="1E1A3C"/>
                </a:solidFill>
                <a:latin typeface="Calibri" pitchFamily="34" charset="0"/>
                <a:ea typeface="Calibri" pitchFamily="34" charset="-122"/>
                <a:cs typeface="Calibri" pitchFamily="34" charset="-120"/>
              </a:rPr>
              <a:t>per.py</a:t>
            </a:r>
            <a:endParaRPr lang="en-US" sz="1100" dirty="0"/>
          </a:p>
          <a:p>
            <a:pPr algn="ctr" indent="0" marL="0">
              <a:buNone/>
            </a:pPr>
            <a:r>
              <a:rPr lang="en-US" sz="1100" dirty="0">
                <a:solidFill>
                  <a:srgbClr val="1E1A3C"/>
                </a:solidFill>
                <a:latin typeface="Calibri" pitchFamily="34" charset="0"/>
                <a:ea typeface="Calibri" pitchFamily="34" charset="-122"/>
                <a:cs typeface="Calibri" pitchFamily="34" charset="-120"/>
              </a:rPr>
              <a:t>PER = (S+D+I)/N</a:t>
            </a:r>
            <a:endParaRPr lang="en-US" sz="1100" dirty="0"/>
          </a:p>
        </p:txBody>
      </p:sp>
      <p:sp>
        <p:nvSpPr>
          <p:cNvPr id="21" name="Shape 19"/>
          <p:cNvSpPr/>
          <p:nvPr/>
        </p:nvSpPr>
        <p:spPr>
          <a:xfrm>
            <a:off x="3154680" y="2286000"/>
            <a:ext cx="201168" cy="914"/>
          </a:xfrm>
          <a:prstGeom prst="line">
            <a:avLst/>
          </a:prstGeom>
          <a:noFill/>
          <a:ln w="22225">
            <a:solidFill>
              <a:srgbClr val="4C3FB8"/>
            </a:solidFill>
            <a:prstDash val="solid"/>
            <a:tailEnd type="triangle"/>
          </a:ln>
        </p:spPr>
      </p:sp>
      <p:sp>
        <p:nvSpPr>
          <p:cNvPr id="22" name="Shape 20"/>
          <p:cNvSpPr/>
          <p:nvPr/>
        </p:nvSpPr>
        <p:spPr>
          <a:xfrm>
            <a:off x="2423160" y="2743200"/>
            <a:ext cx="914" cy="685800"/>
          </a:xfrm>
          <a:prstGeom prst="line">
            <a:avLst/>
          </a:prstGeom>
          <a:noFill/>
          <a:ln w="22225">
            <a:solidFill>
              <a:srgbClr val="E9A92B"/>
            </a:solidFill>
            <a:prstDash val="solid"/>
            <a:tailEnd type="triangle"/>
          </a:ln>
        </p:spPr>
      </p:sp>
      <p:sp>
        <p:nvSpPr>
          <p:cNvPr id="23" name="Shape 21"/>
          <p:cNvSpPr/>
          <p:nvPr/>
        </p:nvSpPr>
        <p:spPr>
          <a:xfrm>
            <a:off x="4087368" y="2743200"/>
            <a:ext cx="914" cy="685800"/>
          </a:xfrm>
          <a:prstGeom prst="line">
            <a:avLst/>
          </a:prstGeom>
          <a:noFill/>
          <a:ln w="22225">
            <a:solidFill>
              <a:srgbClr val="4C3FB8"/>
            </a:solidFill>
            <a:prstDash val="solid"/>
            <a:tailEnd type="triangle"/>
          </a:ln>
        </p:spPr>
      </p:sp>
      <p:sp>
        <p:nvSpPr>
          <p:cNvPr id="24" name="Shape 22"/>
          <p:cNvSpPr/>
          <p:nvPr/>
        </p:nvSpPr>
        <p:spPr>
          <a:xfrm>
            <a:off x="4818888" y="3931920"/>
            <a:ext cx="201168" cy="914"/>
          </a:xfrm>
          <a:prstGeom prst="line">
            <a:avLst/>
          </a:prstGeom>
          <a:noFill/>
          <a:ln w="22225">
            <a:solidFill>
              <a:srgbClr val="E07A2E"/>
            </a:solidFill>
            <a:prstDash val="solid"/>
            <a:tailEnd type="triangle"/>
          </a:ln>
        </p:spPr>
      </p:sp>
      <p:sp>
        <p:nvSpPr>
          <p:cNvPr id="25" name="Shape 23"/>
          <p:cNvSpPr/>
          <p:nvPr/>
        </p:nvSpPr>
        <p:spPr>
          <a:xfrm flipV="1">
            <a:off x="5751576" y="2743200"/>
            <a:ext cx="914" cy="685800"/>
          </a:xfrm>
          <a:prstGeom prst="line">
            <a:avLst/>
          </a:prstGeom>
          <a:noFill/>
          <a:ln w="22225">
            <a:solidFill>
              <a:srgbClr val="1F8F94"/>
            </a:solidFill>
            <a:prstDash val="solid"/>
            <a:tailEnd type="triangle"/>
          </a:ln>
        </p:spPr>
      </p:sp>
      <p:sp>
        <p:nvSpPr>
          <p:cNvPr id="26" name="Shape 24"/>
          <p:cNvSpPr/>
          <p:nvPr/>
        </p:nvSpPr>
        <p:spPr>
          <a:xfrm>
            <a:off x="6483096" y="3931920"/>
            <a:ext cx="292608" cy="914"/>
          </a:xfrm>
          <a:prstGeom prst="line">
            <a:avLst/>
          </a:prstGeom>
          <a:noFill/>
          <a:ln w="22225">
            <a:solidFill>
              <a:srgbClr val="E07A2E"/>
            </a:solidFill>
            <a:prstDash val="solid"/>
            <a:tailEnd type="triangle"/>
          </a:ln>
        </p:spPr>
      </p:sp>
      <p:sp>
        <p:nvSpPr>
          <p:cNvPr id="27" name="Shape 25"/>
          <p:cNvSpPr/>
          <p:nvPr/>
        </p:nvSpPr>
        <p:spPr>
          <a:xfrm flipV="1">
            <a:off x="7415784" y="2743200"/>
            <a:ext cx="914" cy="621792"/>
          </a:xfrm>
          <a:prstGeom prst="line">
            <a:avLst/>
          </a:prstGeom>
          <a:noFill/>
          <a:ln w="22225">
            <a:solidFill>
              <a:srgbClr val="4C3FB8"/>
            </a:solidFill>
            <a:prstDash val="solid"/>
            <a:tailEnd type="triangle"/>
          </a:ln>
        </p:spPr>
      </p:sp>
      <p:sp>
        <p:nvSpPr>
          <p:cNvPr id="28" name="Shape 26"/>
          <p:cNvSpPr/>
          <p:nvPr/>
        </p:nvSpPr>
        <p:spPr>
          <a:xfrm>
            <a:off x="8055864" y="3931920"/>
            <a:ext cx="292608" cy="914"/>
          </a:xfrm>
          <a:prstGeom prst="line">
            <a:avLst/>
          </a:prstGeom>
          <a:noFill/>
          <a:ln w="22225">
            <a:solidFill>
              <a:srgbClr val="4C3FB8"/>
            </a:solidFill>
            <a:prstDash val="solid"/>
            <a:tailEnd type="triangle"/>
          </a:ln>
        </p:spPr>
      </p:sp>
      <p:sp>
        <p:nvSpPr>
          <p:cNvPr id="29" name="Shape 27"/>
          <p:cNvSpPr/>
          <p:nvPr/>
        </p:nvSpPr>
        <p:spPr>
          <a:xfrm>
            <a:off x="9811512" y="3931920"/>
            <a:ext cx="201168" cy="914"/>
          </a:xfrm>
          <a:prstGeom prst="line">
            <a:avLst/>
          </a:prstGeom>
          <a:noFill/>
          <a:ln w="22225">
            <a:solidFill>
              <a:srgbClr val="4C3FB8"/>
            </a:solidFill>
            <a:prstDash val="solid"/>
            <a:tailEnd type="triangle"/>
          </a:ln>
        </p:spPr>
      </p:sp>
      <p:sp>
        <p:nvSpPr>
          <p:cNvPr id="30" name="Shape 28"/>
          <p:cNvSpPr/>
          <p:nvPr/>
        </p:nvSpPr>
        <p:spPr>
          <a:xfrm flipV="1">
            <a:off x="10744200" y="2743200"/>
            <a:ext cx="914" cy="685800"/>
          </a:xfrm>
          <a:prstGeom prst="line">
            <a:avLst/>
          </a:prstGeom>
          <a:noFill/>
          <a:ln w="22225">
            <a:solidFill>
              <a:srgbClr val="E07A2E"/>
            </a:solidFill>
            <a:prstDash val="solid"/>
            <a:tailEnd type="triangle"/>
          </a:ln>
        </p:spPr>
      </p:sp>
      <p:sp>
        <p:nvSpPr>
          <p:cNvPr id="31" name="Text 29"/>
          <p:cNvSpPr/>
          <p:nvPr/>
        </p:nvSpPr>
        <p:spPr>
          <a:xfrm>
            <a:off x="7580376" y="4224528"/>
            <a:ext cx="731520" cy="228600"/>
          </a:xfrm>
          <a:prstGeom prst="rect">
            <a:avLst/>
          </a:prstGeom>
          <a:noFill/>
          <a:ln/>
        </p:spPr>
        <p:txBody>
          <a:bodyPr wrap="square" lIns="0" tIns="0" rIns="0" bIns="0" rtlCol="0" anchor="ctr"/>
          <a:lstStyle/>
          <a:p>
            <a:pPr algn="ctr" indent="0" marL="0">
              <a:buNone/>
            </a:pPr>
            <a:r>
              <a:rPr lang="en-US" sz="850" i="1" dirty="0">
                <a:solidFill>
                  <a:srgbClr val="5E5A7E"/>
                </a:solidFill>
                <a:latin typeface="Calibri" pitchFamily="34" charset="0"/>
                <a:ea typeface="Calibri" pitchFamily="34" charset="-122"/>
                <a:cs typeface="Calibri" pitchFamily="34" charset="-120"/>
              </a:rPr>
              <a:t>ya / timeout</a:t>
            </a:r>
            <a:endParaRPr lang="en-US" sz="850" dirty="0"/>
          </a:p>
        </p:txBody>
      </p:sp>
      <p:sp>
        <p:nvSpPr>
          <p:cNvPr id="32" name="Text 30"/>
          <p:cNvSpPr/>
          <p:nvPr/>
        </p:nvSpPr>
        <p:spPr>
          <a:xfrm>
            <a:off x="6638544" y="4480560"/>
            <a:ext cx="1600200" cy="228600"/>
          </a:xfrm>
          <a:prstGeom prst="rect">
            <a:avLst/>
          </a:prstGeom>
          <a:noFill/>
          <a:ln/>
        </p:spPr>
        <p:txBody>
          <a:bodyPr wrap="square" lIns="0" tIns="0" rIns="0" bIns="0" rtlCol="0" anchor="ctr"/>
          <a:lstStyle/>
          <a:p>
            <a:pPr algn="ctr" indent="0" marL="0">
              <a:buNone/>
            </a:pPr>
            <a:r>
              <a:rPr lang="en-US" sz="850" i="1" dirty="0">
                <a:solidFill>
                  <a:srgbClr val="5E5A7E"/>
                </a:solidFill>
                <a:latin typeface="Calibri" pitchFamily="34" charset="0"/>
                <a:ea typeface="Calibri" pitchFamily="34" charset="-122"/>
                <a:cs typeface="Calibri" pitchFamily="34" charset="-120"/>
              </a:rPr>
              <a:t>belum → dengar terus</a:t>
            </a:r>
            <a:endParaRPr lang="en-US" sz="850" dirty="0"/>
          </a:p>
        </p:txBody>
      </p:sp>
      <p:sp>
        <p:nvSpPr>
          <p:cNvPr id="33" name="Text 31"/>
          <p:cNvSpPr/>
          <p:nvPr/>
        </p:nvSpPr>
        <p:spPr>
          <a:xfrm>
            <a:off x="7461504" y="2926080"/>
            <a:ext cx="731520" cy="228600"/>
          </a:xfrm>
          <a:prstGeom prst="rect">
            <a:avLst/>
          </a:prstGeom>
          <a:noFill/>
          <a:ln/>
        </p:spPr>
        <p:txBody>
          <a:bodyPr wrap="square" lIns="0" tIns="0" rIns="0" bIns="0" rtlCol="0" anchor="ctr"/>
          <a:lstStyle/>
          <a:p>
            <a:pPr indent="0" marL="0">
              <a:buNone/>
            </a:pPr>
            <a:r>
              <a:rPr lang="en-US" sz="850" i="1" dirty="0">
                <a:solidFill>
                  <a:srgbClr val="5E5A7E"/>
                </a:solidFill>
                <a:latin typeface="Calibri" pitchFamily="34" charset="0"/>
                <a:ea typeface="Calibri" pitchFamily="34" charset="-122"/>
                <a:cs typeface="Calibri" pitchFamily="34" charset="-120"/>
              </a:rPr>
              <a:t>endpoint</a:t>
            </a:r>
            <a:endParaRPr lang="en-US" sz="850" dirty="0"/>
          </a:p>
        </p:txBody>
      </p:sp>
      <p:sp>
        <p:nvSpPr>
          <p:cNvPr id="34" name="Text 32"/>
          <p:cNvSpPr/>
          <p:nvPr/>
        </p:nvSpPr>
        <p:spPr>
          <a:xfrm>
            <a:off x="10789920" y="2926080"/>
            <a:ext cx="548640" cy="228600"/>
          </a:xfrm>
          <a:prstGeom prst="rect">
            <a:avLst/>
          </a:prstGeom>
          <a:noFill/>
          <a:ln/>
        </p:spPr>
        <p:txBody>
          <a:bodyPr wrap="square" lIns="0" tIns="0" rIns="0" bIns="0" rtlCol="0" anchor="ctr"/>
          <a:lstStyle/>
          <a:p>
            <a:pPr indent="0" marL="0">
              <a:buNone/>
            </a:pPr>
            <a:r>
              <a:rPr lang="en-US" sz="850" i="1" dirty="0">
                <a:solidFill>
                  <a:srgbClr val="5E5A7E"/>
                </a:solidFill>
                <a:latin typeface="Calibri" pitchFamily="34" charset="0"/>
                <a:ea typeface="Calibri" pitchFamily="34" charset="-122"/>
                <a:cs typeface="Calibri" pitchFamily="34" charset="-120"/>
              </a:rPr>
              <a:t>score</a:t>
            </a:r>
            <a:endParaRPr lang="en-US" sz="850" dirty="0"/>
          </a:p>
        </p:txBody>
      </p:sp>
      <p:sp>
        <p:nvSpPr>
          <p:cNvPr id="35" name="Text 33"/>
          <p:cNvSpPr/>
          <p:nvPr/>
        </p:nvSpPr>
        <p:spPr>
          <a:xfrm>
            <a:off x="5797296" y="2926080"/>
            <a:ext cx="548640" cy="228600"/>
          </a:xfrm>
          <a:prstGeom prst="rect">
            <a:avLst/>
          </a:prstGeom>
          <a:noFill/>
          <a:ln/>
        </p:spPr>
        <p:txBody>
          <a:bodyPr wrap="square" lIns="0" tIns="0" rIns="0" bIns="0" rtlCol="0" anchor="ctr"/>
          <a:lstStyle/>
          <a:p>
            <a:pPr indent="0" marL="0">
              <a:buNone/>
            </a:pPr>
            <a:r>
              <a:rPr lang="en-US" sz="850" i="1" dirty="0">
                <a:solidFill>
                  <a:srgbClr val="5E5A7E"/>
                </a:solidFill>
                <a:latin typeface="Calibri" pitchFamily="34" charset="0"/>
                <a:ea typeface="Calibri" pitchFamily="34" charset="-122"/>
                <a:cs typeface="Calibri" pitchFamily="34" charset="-120"/>
              </a:rPr>
              <a:t>partial</a:t>
            </a:r>
            <a:endParaRPr lang="en-US" sz="850" dirty="0"/>
          </a:p>
        </p:txBody>
      </p:sp>
      <p:sp>
        <p:nvSpPr>
          <p:cNvPr id="36" name="Text 34"/>
          <p:cNvSpPr/>
          <p:nvPr/>
        </p:nvSpPr>
        <p:spPr>
          <a:xfrm>
            <a:off x="548640" y="4956048"/>
            <a:ext cx="3657600" cy="274320"/>
          </a:xfrm>
          <a:prstGeom prst="rect">
            <a:avLst/>
          </a:prstGeom>
          <a:noFill/>
          <a:ln/>
        </p:spPr>
        <p:txBody>
          <a:bodyPr wrap="square" lIns="0" tIns="0" rIns="0" bIns="0" rtlCol="0" anchor="t"/>
          <a:lstStyle/>
          <a:p>
            <a:pPr indent="0" marL="0">
              <a:buNone/>
            </a:pPr>
            <a:r>
              <a:rPr lang="en-US" sz="1250" b="1" dirty="0">
                <a:solidFill>
                  <a:srgbClr val="4C3FB8"/>
                </a:solidFill>
                <a:latin typeface="Calibri" pitchFamily="34" charset="0"/>
                <a:ea typeface="Calibri" pitchFamily="34" charset="-122"/>
                <a:cs typeface="Calibri" pitchFamily="34" charset="-120"/>
              </a:rPr>
              <a:t>Setelah skor keluar:</a:t>
            </a:r>
            <a:endParaRPr lang="en-US" sz="1250" dirty="0"/>
          </a:p>
        </p:txBody>
      </p:sp>
      <p:sp>
        <p:nvSpPr>
          <p:cNvPr id="37" name="Shape 35"/>
          <p:cNvSpPr/>
          <p:nvPr/>
        </p:nvSpPr>
        <p:spPr>
          <a:xfrm>
            <a:off x="548640" y="5321808"/>
            <a:ext cx="2103120"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38" name="Shape 36"/>
          <p:cNvSpPr/>
          <p:nvPr/>
        </p:nvSpPr>
        <p:spPr>
          <a:xfrm>
            <a:off x="685800" y="5468112"/>
            <a:ext cx="201168" cy="201168"/>
          </a:xfrm>
          <a:prstGeom prst="ellipse">
            <a:avLst/>
          </a:prstGeom>
          <a:solidFill>
            <a:srgbClr val="2E9E62"/>
          </a:solidFill>
          <a:ln w="12700">
            <a:solidFill>
              <a:srgbClr val="2E9E62"/>
            </a:solidFill>
            <a:prstDash val="solid"/>
          </a:ln>
        </p:spPr>
      </p:sp>
      <p:sp>
        <p:nvSpPr>
          <p:cNvPr id="39" name="Text 37"/>
          <p:cNvSpPr/>
          <p:nvPr/>
        </p:nvSpPr>
        <p:spPr>
          <a:xfrm>
            <a:off x="960120" y="5422392"/>
            <a:ext cx="1645920" cy="274320"/>
          </a:xfrm>
          <a:prstGeom prst="rect">
            <a:avLst/>
          </a:prstGeom>
          <a:noFill/>
          <a:ln/>
        </p:spPr>
        <p:txBody>
          <a:bodyPr wrap="square" lIns="0" tIns="0" rIns="0" bIns="0" rtlCol="0" anchor="t"/>
          <a:lstStyle/>
          <a:p>
            <a:pPr indent="0" marL="0">
              <a:buNone/>
            </a:pPr>
            <a:r>
              <a:rPr lang="en-US" sz="1200" b="1" dirty="0">
                <a:solidFill>
                  <a:srgbClr val="1E1A3C"/>
                </a:solidFill>
                <a:latin typeface="Calibri" pitchFamily="34" charset="0"/>
                <a:ea typeface="Calibri" pitchFamily="34" charset="-122"/>
                <a:cs typeface="Calibri" pitchFamily="34" charset="-120"/>
              </a:rPr>
              <a:t>PER rendah</a:t>
            </a:r>
            <a:endParaRPr lang="en-US" sz="1200" dirty="0"/>
          </a:p>
        </p:txBody>
      </p:sp>
      <p:sp>
        <p:nvSpPr>
          <p:cNvPr id="40" name="Text 38"/>
          <p:cNvSpPr/>
          <p:nvPr/>
        </p:nvSpPr>
        <p:spPr>
          <a:xfrm>
            <a:off x="960120" y="5696712"/>
            <a:ext cx="1645920" cy="457200"/>
          </a:xfrm>
          <a:prstGeom prst="rect">
            <a:avLst/>
          </a:prstGeom>
          <a:noFill/>
          <a:ln/>
        </p:spPr>
        <p:txBody>
          <a:bodyPr wrap="square" lIns="0" tIns="0" rIns="0" bIns="0" rtlCol="0" anchor="t"/>
          <a:lstStyle/>
          <a:p>
            <a:pPr indent="0" marL="0">
              <a:buNone/>
            </a:pPr>
            <a:r>
              <a:rPr lang="en-US" sz="1050" dirty="0">
                <a:solidFill>
                  <a:srgbClr val="5E5A7E"/>
                </a:solidFill>
                <a:latin typeface="Calibri" pitchFamily="34" charset="0"/>
                <a:ea typeface="Calibri" pitchFamily="34" charset="-122"/>
                <a:cs typeface="Calibri" pitchFamily="34" charset="-120"/>
              </a:rPr>
              <a:t>monster kena damage</a:t>
            </a:r>
            <a:endParaRPr lang="en-US" sz="1050" dirty="0"/>
          </a:p>
        </p:txBody>
      </p:sp>
      <p:sp>
        <p:nvSpPr>
          <p:cNvPr id="41" name="Shape 39"/>
          <p:cNvSpPr/>
          <p:nvPr/>
        </p:nvSpPr>
        <p:spPr>
          <a:xfrm>
            <a:off x="2788920" y="5321808"/>
            <a:ext cx="2103120"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42" name="Shape 40"/>
          <p:cNvSpPr/>
          <p:nvPr/>
        </p:nvSpPr>
        <p:spPr>
          <a:xfrm>
            <a:off x="2926080" y="5468112"/>
            <a:ext cx="201168" cy="201168"/>
          </a:xfrm>
          <a:prstGeom prst="ellipse">
            <a:avLst/>
          </a:prstGeom>
          <a:solidFill>
            <a:srgbClr val="E07A2E"/>
          </a:solidFill>
          <a:ln w="12700">
            <a:solidFill>
              <a:srgbClr val="E07A2E"/>
            </a:solidFill>
            <a:prstDash val="solid"/>
          </a:ln>
        </p:spPr>
      </p:sp>
      <p:sp>
        <p:nvSpPr>
          <p:cNvPr id="43" name="Text 41"/>
          <p:cNvSpPr/>
          <p:nvPr/>
        </p:nvSpPr>
        <p:spPr>
          <a:xfrm>
            <a:off x="3200400" y="5422392"/>
            <a:ext cx="1645920" cy="274320"/>
          </a:xfrm>
          <a:prstGeom prst="rect">
            <a:avLst/>
          </a:prstGeom>
          <a:noFill/>
          <a:ln/>
        </p:spPr>
        <p:txBody>
          <a:bodyPr wrap="square" lIns="0" tIns="0" rIns="0" bIns="0" rtlCol="0" anchor="t"/>
          <a:lstStyle/>
          <a:p>
            <a:pPr indent="0" marL="0">
              <a:buNone/>
            </a:pPr>
            <a:r>
              <a:rPr lang="en-US" sz="1200" b="1" dirty="0">
                <a:solidFill>
                  <a:srgbClr val="1E1A3C"/>
                </a:solidFill>
                <a:latin typeface="Calibri" pitchFamily="34" charset="0"/>
                <a:ea typeface="Calibri" pitchFamily="34" charset="-122"/>
                <a:cs typeface="Calibri" pitchFamily="34" charset="-120"/>
              </a:rPr>
              <a:t>PER tinggi</a:t>
            </a:r>
            <a:endParaRPr lang="en-US" sz="1200" dirty="0"/>
          </a:p>
        </p:txBody>
      </p:sp>
      <p:sp>
        <p:nvSpPr>
          <p:cNvPr id="44" name="Text 42"/>
          <p:cNvSpPr/>
          <p:nvPr/>
        </p:nvSpPr>
        <p:spPr>
          <a:xfrm>
            <a:off x="3200400" y="5696712"/>
            <a:ext cx="1645920" cy="457200"/>
          </a:xfrm>
          <a:prstGeom prst="rect">
            <a:avLst/>
          </a:prstGeom>
          <a:noFill/>
          <a:ln/>
        </p:spPr>
        <p:txBody>
          <a:bodyPr wrap="square" lIns="0" tIns="0" rIns="0" bIns="0" rtlCol="0" anchor="t"/>
          <a:lstStyle/>
          <a:p>
            <a:pPr indent="0" marL="0">
              <a:buNone/>
            </a:pPr>
            <a:r>
              <a:rPr lang="en-US" sz="1050" dirty="0">
                <a:solidFill>
                  <a:srgbClr val="5E5A7E"/>
                </a:solidFill>
                <a:latin typeface="Calibri" pitchFamily="34" charset="0"/>
                <a:ea typeface="Calibri" pitchFamily="34" charset="-122"/>
                <a:cs typeface="Calibri" pitchFamily="34" charset="-120"/>
              </a:rPr>
              <a:t>tips + ghoul maju, −1 heart (boss −2)</a:t>
            </a:r>
            <a:endParaRPr lang="en-US" sz="1050" dirty="0"/>
          </a:p>
        </p:txBody>
      </p:sp>
      <p:sp>
        <p:nvSpPr>
          <p:cNvPr id="45" name="Shape 43"/>
          <p:cNvSpPr/>
          <p:nvPr/>
        </p:nvSpPr>
        <p:spPr>
          <a:xfrm>
            <a:off x="5029200" y="5321808"/>
            <a:ext cx="2103120"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46" name="Shape 44"/>
          <p:cNvSpPr/>
          <p:nvPr/>
        </p:nvSpPr>
        <p:spPr>
          <a:xfrm>
            <a:off x="5166360" y="5468112"/>
            <a:ext cx="201168" cy="201168"/>
          </a:xfrm>
          <a:prstGeom prst="ellipse">
            <a:avLst/>
          </a:prstGeom>
          <a:solidFill>
            <a:srgbClr val="1F8F94"/>
          </a:solidFill>
          <a:ln w="12700">
            <a:solidFill>
              <a:srgbClr val="1F8F94"/>
            </a:solidFill>
            <a:prstDash val="solid"/>
          </a:ln>
        </p:spPr>
      </p:sp>
      <p:sp>
        <p:nvSpPr>
          <p:cNvPr id="47" name="Text 45"/>
          <p:cNvSpPr/>
          <p:nvPr/>
        </p:nvSpPr>
        <p:spPr>
          <a:xfrm>
            <a:off x="5440680" y="5422392"/>
            <a:ext cx="1645920" cy="274320"/>
          </a:xfrm>
          <a:prstGeom prst="rect">
            <a:avLst/>
          </a:prstGeom>
          <a:noFill/>
          <a:ln/>
        </p:spPr>
        <p:txBody>
          <a:bodyPr wrap="square" lIns="0" tIns="0" rIns="0" bIns="0" rtlCol="0" anchor="t"/>
          <a:lstStyle/>
          <a:p>
            <a:pPr indent="0" marL="0">
              <a:buNone/>
            </a:pPr>
            <a:r>
              <a:rPr lang="en-US" sz="1200" b="1" dirty="0">
                <a:solidFill>
                  <a:srgbClr val="1E1A3C"/>
                </a:solidFill>
                <a:latin typeface="Calibri" pitchFamily="34" charset="0"/>
                <a:ea typeface="Calibri" pitchFamily="34" charset="-122"/>
                <a:cs typeface="Calibri" pitchFamily="34" charset="-120"/>
              </a:rPr>
              <a:t>Monster kalah</a:t>
            </a:r>
            <a:endParaRPr lang="en-US" sz="1200" dirty="0"/>
          </a:p>
        </p:txBody>
      </p:sp>
      <p:sp>
        <p:nvSpPr>
          <p:cNvPr id="48" name="Text 46"/>
          <p:cNvSpPr/>
          <p:nvPr/>
        </p:nvSpPr>
        <p:spPr>
          <a:xfrm>
            <a:off x="5440680" y="5696712"/>
            <a:ext cx="1645920" cy="457200"/>
          </a:xfrm>
          <a:prstGeom prst="rect">
            <a:avLst/>
          </a:prstGeom>
          <a:noFill/>
          <a:ln/>
        </p:spPr>
        <p:txBody>
          <a:bodyPr wrap="square" lIns="0" tIns="0" rIns="0" bIns="0" rtlCol="0" anchor="t"/>
          <a:lstStyle/>
          <a:p>
            <a:pPr indent="0" marL="0">
              <a:buNone/>
            </a:pPr>
            <a:r>
              <a:rPr lang="en-US" sz="1050" dirty="0">
                <a:solidFill>
                  <a:srgbClr val="5E5A7E"/>
                </a:solidFill>
                <a:latin typeface="Calibri" pitchFamily="34" charset="0"/>
                <a:ea typeface="Calibri" pitchFamily="34" charset="-122"/>
                <a:cs typeface="Calibri" pitchFamily="34" charset="-120"/>
              </a:rPr>
              <a:t>lanjut ke kata/musuh berikutnya</a:t>
            </a:r>
            <a:endParaRPr lang="en-US" sz="1050" dirty="0"/>
          </a:p>
        </p:txBody>
      </p:sp>
      <p:sp>
        <p:nvSpPr>
          <p:cNvPr id="49" name="Shape 47"/>
          <p:cNvSpPr/>
          <p:nvPr/>
        </p:nvSpPr>
        <p:spPr>
          <a:xfrm>
            <a:off x="7269480" y="5321808"/>
            <a:ext cx="2103120"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50" name="Shape 48"/>
          <p:cNvSpPr/>
          <p:nvPr/>
        </p:nvSpPr>
        <p:spPr>
          <a:xfrm>
            <a:off x="7406640" y="5468112"/>
            <a:ext cx="201168" cy="201168"/>
          </a:xfrm>
          <a:prstGeom prst="ellipse">
            <a:avLst/>
          </a:prstGeom>
          <a:solidFill>
            <a:srgbClr val="E9A92B"/>
          </a:solidFill>
          <a:ln w="12700">
            <a:solidFill>
              <a:srgbClr val="E9A92B"/>
            </a:solidFill>
            <a:prstDash val="solid"/>
          </a:ln>
        </p:spPr>
      </p:sp>
      <p:sp>
        <p:nvSpPr>
          <p:cNvPr id="51" name="Text 49"/>
          <p:cNvSpPr/>
          <p:nvPr/>
        </p:nvSpPr>
        <p:spPr>
          <a:xfrm>
            <a:off x="7680960" y="5422392"/>
            <a:ext cx="1645920" cy="274320"/>
          </a:xfrm>
          <a:prstGeom prst="rect">
            <a:avLst/>
          </a:prstGeom>
          <a:noFill/>
          <a:ln/>
        </p:spPr>
        <p:txBody>
          <a:bodyPr wrap="square" lIns="0" tIns="0" rIns="0" bIns="0" rtlCol="0" anchor="t"/>
          <a:lstStyle/>
          <a:p>
            <a:pPr indent="0" marL="0">
              <a:buNone/>
            </a:pPr>
            <a:r>
              <a:rPr lang="en-US" sz="1200" b="1" dirty="0">
                <a:solidFill>
                  <a:srgbClr val="1E1A3C"/>
                </a:solidFill>
                <a:latin typeface="Calibri" pitchFamily="34" charset="0"/>
                <a:ea typeface="Calibri" pitchFamily="34" charset="-122"/>
                <a:cs typeface="Calibri" pitchFamily="34" charset="-120"/>
              </a:rPr>
              <a:t>Boss kalah</a:t>
            </a:r>
            <a:endParaRPr lang="en-US" sz="1200" dirty="0"/>
          </a:p>
        </p:txBody>
      </p:sp>
      <p:sp>
        <p:nvSpPr>
          <p:cNvPr id="52" name="Text 50"/>
          <p:cNvSpPr/>
          <p:nvPr/>
        </p:nvSpPr>
        <p:spPr>
          <a:xfrm>
            <a:off x="7680960" y="5696712"/>
            <a:ext cx="1645920" cy="457200"/>
          </a:xfrm>
          <a:prstGeom prst="rect">
            <a:avLst/>
          </a:prstGeom>
          <a:noFill/>
          <a:ln/>
        </p:spPr>
        <p:txBody>
          <a:bodyPr wrap="square" lIns="0" tIns="0" rIns="0" bIns="0" rtlCol="0" anchor="t"/>
          <a:lstStyle/>
          <a:p>
            <a:pPr indent="0" marL="0">
              <a:buNone/>
            </a:pPr>
            <a:r>
              <a:rPr lang="en-US" sz="1050" dirty="0">
                <a:solidFill>
                  <a:srgbClr val="5E5A7E"/>
                </a:solidFill>
                <a:latin typeface="Calibri" pitchFamily="34" charset="0"/>
                <a:ea typeface="Calibri" pitchFamily="34" charset="-122"/>
                <a:cs typeface="Calibri" pitchFamily="34" charset="-120"/>
              </a:rPr>
              <a:t>soul teman bebas</a:t>
            </a:r>
            <a:endParaRPr lang="en-US" sz="1050" dirty="0"/>
          </a:p>
        </p:txBody>
      </p:sp>
      <p:sp>
        <p:nvSpPr>
          <p:cNvPr id="53" name="Shape 51"/>
          <p:cNvSpPr/>
          <p:nvPr/>
        </p:nvSpPr>
        <p:spPr>
          <a:xfrm>
            <a:off x="9509760" y="5321808"/>
            <a:ext cx="2103120" cy="868680"/>
          </a:xfrm>
          <a:prstGeom prst="roundRect">
            <a:avLst>
              <a:gd name="adj" fmla="val 14737"/>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54" name="Shape 52"/>
          <p:cNvSpPr/>
          <p:nvPr/>
        </p:nvSpPr>
        <p:spPr>
          <a:xfrm>
            <a:off x="9646920" y="5468112"/>
            <a:ext cx="201168" cy="201168"/>
          </a:xfrm>
          <a:prstGeom prst="ellipse">
            <a:avLst/>
          </a:prstGeom>
          <a:solidFill>
            <a:srgbClr val="D64545"/>
          </a:solidFill>
          <a:ln w="12700">
            <a:solidFill>
              <a:srgbClr val="D64545"/>
            </a:solidFill>
            <a:prstDash val="solid"/>
          </a:ln>
        </p:spPr>
      </p:sp>
      <p:sp>
        <p:nvSpPr>
          <p:cNvPr id="55" name="Text 53"/>
          <p:cNvSpPr/>
          <p:nvPr/>
        </p:nvSpPr>
        <p:spPr>
          <a:xfrm>
            <a:off x="9921240" y="5422392"/>
            <a:ext cx="1645920" cy="274320"/>
          </a:xfrm>
          <a:prstGeom prst="rect">
            <a:avLst/>
          </a:prstGeom>
          <a:noFill/>
          <a:ln/>
        </p:spPr>
        <p:txBody>
          <a:bodyPr wrap="square" lIns="0" tIns="0" rIns="0" bIns="0" rtlCol="0" anchor="t"/>
          <a:lstStyle/>
          <a:p>
            <a:pPr indent="0" marL="0">
              <a:buNone/>
            </a:pPr>
            <a:r>
              <a:rPr lang="en-US" sz="1200" b="1" dirty="0">
                <a:solidFill>
                  <a:srgbClr val="1E1A3C"/>
                </a:solidFill>
                <a:latin typeface="Calibri" pitchFamily="34" charset="0"/>
                <a:ea typeface="Calibri" pitchFamily="34" charset="-122"/>
                <a:cs typeface="Calibri" pitchFamily="34" charset="-120"/>
              </a:rPr>
              <a:t>Heart habis</a:t>
            </a:r>
            <a:endParaRPr lang="en-US" sz="1200" dirty="0"/>
          </a:p>
        </p:txBody>
      </p:sp>
      <p:sp>
        <p:nvSpPr>
          <p:cNvPr id="56" name="Text 54"/>
          <p:cNvSpPr/>
          <p:nvPr/>
        </p:nvSpPr>
        <p:spPr>
          <a:xfrm>
            <a:off x="9921240" y="5696712"/>
            <a:ext cx="1645920" cy="457200"/>
          </a:xfrm>
          <a:prstGeom prst="rect">
            <a:avLst/>
          </a:prstGeom>
          <a:noFill/>
          <a:ln/>
        </p:spPr>
        <p:txBody>
          <a:bodyPr wrap="square" lIns="0" tIns="0" rIns="0" bIns="0" rtlCol="0" anchor="t"/>
          <a:lstStyle/>
          <a:p>
            <a:pPr indent="0" marL="0">
              <a:buNone/>
            </a:pPr>
            <a:r>
              <a:rPr lang="en-US" sz="1050" dirty="0">
                <a:solidFill>
                  <a:srgbClr val="5E5A7E"/>
                </a:solidFill>
                <a:latin typeface="Calibri" pitchFamily="34" charset="0"/>
                <a:ea typeface="Calibri" pitchFamily="34" charset="-122"/>
                <a:cs typeface="Calibri" pitchFamily="34" charset="-120"/>
              </a:rPr>
              <a:t>ulang stage</a:t>
            </a:r>
            <a:endParaRPr lang="en-US" sz="10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11480" y="822960"/>
            <a:ext cx="7498080" cy="3246120"/>
          </a:xfrm>
          <a:prstGeom prst="roundRect">
            <a:avLst>
              <a:gd name="adj" fmla="val 5070"/>
            </a:avLst>
          </a:prstGeom>
          <a:solidFill>
            <a:srgbClr val="120C24">
              <a:alpha val="65000"/>
            </a:srgbClr>
          </a:solidFill>
          <a:ln w="12700">
            <a:solidFill>
              <a:srgbClr val="FFFFFF">
                <a:alpha val="40000"/>
              </a:srgbClr>
            </a:solidFill>
            <a:prstDash val="solid"/>
          </a:ln>
        </p:spPr>
      </p:sp>
      <p:pic>
        <p:nvPicPr>
          <p:cNvPr id="3" name="Image 0" descr="C:\Users\dianr\AppData\Local\Temp\claude\c--SEM-5-SpellSpeak\eda6ec89-068e-4069-9b28-72e31b9a7f93\scratchpad\deck\art\px_stageiii.png">    </p:cNvPr>
          <p:cNvPicPr>
            <a:picLocks noChangeAspect="1"/>
          </p:cNvPicPr>
          <p:nvPr/>
        </p:nvPicPr>
        <p:blipFill>
          <a:blip r:embed="rId2"/>
          <a:stretch>
            <a:fillRect/>
          </a:stretch>
        </p:blipFill>
        <p:spPr>
          <a:xfrm>
            <a:off x="685800" y="1097280"/>
            <a:ext cx="3808828" cy="868680"/>
          </a:xfrm>
          <a:prstGeom prst="rect">
            <a:avLst/>
          </a:prstGeom>
        </p:spPr>
      </p:pic>
      <p:sp>
        <p:nvSpPr>
          <p:cNvPr id="4" name="Text 1"/>
          <p:cNvSpPr/>
          <p:nvPr/>
        </p:nvSpPr>
        <p:spPr>
          <a:xfrm>
            <a:off x="685800" y="2148840"/>
            <a:ext cx="7772400" cy="91440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Evaluation &amp; Progress</a:t>
            </a:r>
            <a:endParaRPr lang="en-US" sz="4400" dirty="0"/>
          </a:p>
        </p:txBody>
      </p:sp>
      <p:sp>
        <p:nvSpPr>
          <p:cNvPr id="5" name="Text 2"/>
          <p:cNvSpPr/>
          <p:nvPr/>
        </p:nvSpPr>
        <p:spPr>
          <a:xfrm>
            <a:off x="685800" y="3063240"/>
            <a:ext cx="6858000" cy="822960"/>
          </a:xfrm>
          <a:prstGeom prst="rect">
            <a:avLst/>
          </a:prstGeom>
          <a:noFill/>
          <a:ln/>
        </p:spPr>
        <p:txBody>
          <a:bodyPr wrap="square" lIns="0" tIns="0" rIns="0" bIns="0" rtlCol="0" anchor="t"/>
          <a:lstStyle/>
          <a:p>
            <a:pPr indent="0" marL="0">
              <a:buNone/>
            </a:pPr>
            <a:r>
              <a:rPr lang="en-US" sz="1800" dirty="0">
                <a:solidFill>
                  <a:srgbClr val="E9E4FF"/>
                </a:solidFill>
                <a:latin typeface="Calibri" pitchFamily="34" charset="0"/>
                <a:ea typeface="Calibri" pitchFamily="34" charset="-122"/>
                <a:cs typeface="Calibri" pitchFamily="34" charset="-120"/>
              </a:rPr>
              <a:t>Gimana kita ngukur, apa yang udah jalan, dan apa yang belum.</a:t>
            </a:r>
            <a:endParaRPr lang="en-US" sz="1800" dirty="0"/>
          </a:p>
        </p:txBody>
      </p:sp>
      <p:pic>
        <p:nvPicPr>
          <p:cNvPr id="6" name="Image 1" descr="C:\Users\dianr\AppData\Local\Temp\claude\c--SEM-5-SpellSpeak\eda6ec89-068e-4069-9b28-72e31b9a7f93\scratchpad\deck\art\cat_idle.png">    </p:cNvPr>
          <p:cNvPicPr>
            <a:picLocks noChangeAspect="1"/>
          </p:cNvPicPr>
          <p:nvPr/>
        </p:nvPicPr>
        <p:blipFill>
          <a:blip r:embed="rId3"/>
          <a:stretch>
            <a:fillRect/>
          </a:stretch>
        </p:blipFill>
        <p:spPr>
          <a:xfrm>
            <a:off x="822960" y="4069080"/>
            <a:ext cx="2286000" cy="2286000"/>
          </a:xfrm>
          <a:prstGeom prst="rect">
            <a:avLst/>
          </a:prstGeom>
        </p:spPr>
      </p:pic>
      <p:pic>
        <p:nvPicPr>
          <p:cNvPr id="7" name="Image 2" descr="C:\Users\dianr\AppData\Local\Temp\claude\c--SEM-5-SpellSpeak\eda6ec89-068e-4069-9b28-72e31b9a7f93\scratchpad\deck\art\boss_fennec.png">    </p:cNvPr>
          <p:cNvPicPr>
            <a:picLocks noChangeAspect="1"/>
          </p:cNvPicPr>
          <p:nvPr/>
        </p:nvPicPr>
        <p:blipFill>
          <a:blip r:embed="rId4"/>
          <a:stretch>
            <a:fillRect/>
          </a:stretch>
        </p:blipFill>
        <p:spPr>
          <a:xfrm>
            <a:off x="8869680" y="3429000"/>
            <a:ext cx="2327564" cy="2560320"/>
          </a:xfrm>
          <a:prstGeom prst="rect">
            <a:avLst/>
          </a:prstGeom>
        </p:spPr>
      </p:pic>
      <p:pic>
        <p:nvPicPr>
          <p:cNvPr id="8" name="Image 3" descr="C:\Users\dianr\AppData\Local\Temp\claude\c--SEM-5-SpellSpeak\eda6ec89-068e-4069-9b28-72e31b9a7f93\scratchpad\deck\art\soul_gold.png">    </p:cNvPr>
          <p:cNvPicPr>
            <a:picLocks noChangeAspect="1"/>
          </p:cNvPicPr>
          <p:nvPr/>
        </p:nvPicPr>
        <p:blipFill>
          <a:blip r:embed="rId5"/>
          <a:stretch>
            <a:fillRect/>
          </a:stretch>
        </p:blipFill>
        <p:spPr>
          <a:xfrm>
            <a:off x="8001000" y="4297680"/>
            <a:ext cx="748145" cy="822960"/>
          </a:xfrm>
          <a:prstGeom prst="rect">
            <a:avLst/>
          </a:prstGeom>
        </p:spPr>
      </p:pic>
      <p:sp>
        <p:nvSpPr>
          <p:cNvPr id="9" name="Text 3"/>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CFC8F5"/>
                </a:solidFill>
                <a:latin typeface="Calibri" pitchFamily="34" charset="0"/>
                <a:ea typeface="Calibri" pitchFamily="34" charset="-122"/>
                <a:cs typeface="Calibri" pitchFamily="34" charset="-120"/>
              </a:rPr>
              <a:t>SpellSpeak · progress update</a:t>
            </a:r>
            <a:endParaRPr lang="en-US" sz="900" dirty="0"/>
          </a:p>
        </p:txBody>
      </p:sp>
      <p:sp>
        <p:nvSpPr>
          <p:cNvPr id="10" name="Text 4"/>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CFC8F5"/>
                </a:solidFill>
                <a:latin typeface="Calibri" pitchFamily="34" charset="0"/>
                <a:ea typeface="Calibri" pitchFamily="34" charset="-122"/>
                <a:cs typeface="Calibri" pitchFamily="34" charset="-120"/>
              </a:rPr>
              <a:t>16</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2121408" cy="292608"/>
          </a:xfrm>
          <a:prstGeom prst="roundRect">
            <a:avLst>
              <a:gd name="adj" fmla="val 50000"/>
            </a:avLst>
          </a:prstGeom>
          <a:solidFill>
            <a:srgbClr val="1F8F94"/>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III · EVALUATION</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1E1A3C"/>
                </a:solidFill>
                <a:latin typeface="Georgia" pitchFamily="34" charset="0"/>
                <a:ea typeface="Georgia" pitchFamily="34" charset="-122"/>
                <a:cs typeface="Georgia" pitchFamily="34" charset="-120"/>
              </a:rPr>
              <a:t>Gimana kita ngukur: metrics &amp; eksperimen</a:t>
            </a:r>
            <a:endParaRPr lang="en-US" sz="30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548640" y="1645920"/>
            <a:ext cx="2697480" cy="1828800"/>
          </a:xfrm>
          <a:prstGeom prst="roundRect">
            <a:avLst>
              <a:gd name="adj" fmla="val 7000"/>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7" name="Shape 5"/>
          <p:cNvSpPr/>
          <p:nvPr/>
        </p:nvSpPr>
        <p:spPr>
          <a:xfrm>
            <a:off x="749808" y="1847088"/>
            <a:ext cx="502920" cy="502920"/>
          </a:xfrm>
          <a:prstGeom prst="ellipse">
            <a:avLst/>
          </a:prstGeom>
          <a:solidFill>
            <a:srgbClr val="4C3FB8"/>
          </a:solidFill>
          <a:ln w="12700">
            <a:solidFill>
              <a:srgbClr val="4C3FB8"/>
            </a:solidFill>
            <a:prstDash val="solid"/>
          </a:ln>
        </p:spPr>
      </p:sp>
      <p:pic>
        <p:nvPicPr>
          <p:cNvPr id="8" name="Image 0" descr="preencoded.png">    </p:cNvPr>
          <p:cNvPicPr>
            <a:picLocks noChangeAspect="1"/>
          </p:cNvPicPr>
          <p:nvPr/>
        </p:nvPicPr>
        <p:blipFill>
          <a:blip r:embed="rId2"/>
          <a:stretch>
            <a:fillRect/>
          </a:stretch>
        </p:blipFill>
        <p:spPr>
          <a:xfrm>
            <a:off x="870509" y="1967789"/>
            <a:ext cx="261518" cy="261518"/>
          </a:xfrm>
          <a:prstGeom prst="rect">
            <a:avLst/>
          </a:prstGeom>
        </p:spPr>
      </p:pic>
      <p:sp>
        <p:nvSpPr>
          <p:cNvPr id="9" name="Text 6"/>
          <p:cNvSpPr/>
          <p:nvPr/>
        </p:nvSpPr>
        <p:spPr>
          <a:xfrm>
            <a:off x="1389888" y="1847088"/>
            <a:ext cx="1737360" cy="502920"/>
          </a:xfrm>
          <a:prstGeom prst="rect">
            <a:avLst/>
          </a:prstGeom>
          <a:noFill/>
          <a:ln/>
        </p:spPr>
        <p:txBody>
          <a:bodyPr wrap="square" lIns="0" tIns="0" rIns="0" bIns="0" rtlCol="0" anchor="ctr"/>
          <a:lstStyle/>
          <a:p>
            <a:pPr indent="0" marL="0">
              <a:buNone/>
            </a:pPr>
            <a:r>
              <a:rPr lang="en-US" sz="2200" b="1" dirty="0">
                <a:solidFill>
                  <a:srgbClr val="4C3FB8"/>
                </a:solidFill>
                <a:latin typeface="Georgia" pitchFamily="34" charset="0"/>
                <a:ea typeface="Georgia" pitchFamily="34" charset="-122"/>
                <a:cs typeface="Georgia" pitchFamily="34" charset="-120"/>
              </a:rPr>
              <a:t>PER</a:t>
            </a:r>
            <a:endParaRPr lang="en-US" sz="2200" dirty="0"/>
          </a:p>
        </p:txBody>
      </p:sp>
      <p:sp>
        <p:nvSpPr>
          <p:cNvPr id="10" name="Text 7"/>
          <p:cNvSpPr/>
          <p:nvPr/>
        </p:nvSpPr>
        <p:spPr>
          <a:xfrm>
            <a:off x="749808" y="2468880"/>
            <a:ext cx="2377440" cy="292608"/>
          </a:xfrm>
          <a:prstGeom prst="rect">
            <a:avLst/>
          </a:prstGeom>
          <a:noFill/>
          <a:ln/>
        </p:spPr>
        <p:txBody>
          <a:bodyPr wrap="square" lIns="0" tIns="0" rIns="0" bIns="0" rtlCol="0" anchor="t"/>
          <a:lstStyle/>
          <a:p>
            <a:pPr indent="0" marL="0">
              <a:buNone/>
            </a:pPr>
            <a:r>
              <a:rPr lang="en-US" sz="1250" b="1" dirty="0">
                <a:solidFill>
                  <a:srgbClr val="1E1A3C"/>
                </a:solidFill>
                <a:latin typeface="Calibri" pitchFamily="34" charset="0"/>
                <a:ea typeface="Calibri" pitchFamily="34" charset="-122"/>
                <a:cs typeface="Calibri" pitchFamily="34" charset="-120"/>
              </a:rPr>
              <a:t>Akurasi bunyi (Jalur B)</a:t>
            </a:r>
            <a:endParaRPr lang="en-US" sz="1250" dirty="0"/>
          </a:p>
        </p:txBody>
      </p:sp>
      <p:sp>
        <p:nvSpPr>
          <p:cNvPr id="11" name="Text 8"/>
          <p:cNvSpPr/>
          <p:nvPr/>
        </p:nvSpPr>
        <p:spPr>
          <a:xfrm>
            <a:off x="749808" y="2761488"/>
            <a:ext cx="2377440" cy="658368"/>
          </a:xfrm>
          <a:prstGeom prst="rect">
            <a:avLst/>
          </a:prstGeom>
          <a:noFill/>
          <a:ln/>
        </p:spPr>
        <p:txBody>
          <a:bodyPr wrap="square" lIns="0" tIns="0" rIns="0" bIns="0" rtlCol="0" anchor="t"/>
          <a:lstStyle/>
          <a:p>
            <a:pPr indent="0" marL="0">
              <a:buNone/>
            </a:pPr>
            <a:r>
              <a:rPr lang="en-US" sz="1100" dirty="0">
                <a:solidFill>
                  <a:srgbClr val="5E5A7E"/>
                </a:solidFill>
                <a:latin typeface="Calibri" pitchFamily="34" charset="0"/>
                <a:ea typeface="Calibri" pitchFamily="34" charset="-122"/>
                <a:cs typeface="Calibri" pitchFamily="34" charset="-120"/>
              </a:rPr>
              <a:t>(S+D+I) / N fonem, dihitung pakai per.py</a:t>
            </a:r>
            <a:endParaRPr lang="en-US" sz="1100" dirty="0"/>
          </a:p>
        </p:txBody>
      </p:sp>
      <p:sp>
        <p:nvSpPr>
          <p:cNvPr id="12" name="Shape 9"/>
          <p:cNvSpPr/>
          <p:nvPr/>
        </p:nvSpPr>
        <p:spPr>
          <a:xfrm>
            <a:off x="3383280" y="1645920"/>
            <a:ext cx="2697480" cy="1828800"/>
          </a:xfrm>
          <a:prstGeom prst="roundRect">
            <a:avLst>
              <a:gd name="adj" fmla="val 7000"/>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13" name="Shape 10"/>
          <p:cNvSpPr/>
          <p:nvPr/>
        </p:nvSpPr>
        <p:spPr>
          <a:xfrm>
            <a:off x="3584448" y="1847088"/>
            <a:ext cx="502920" cy="502920"/>
          </a:xfrm>
          <a:prstGeom prst="ellipse">
            <a:avLst/>
          </a:prstGeom>
          <a:solidFill>
            <a:srgbClr val="1F8F94"/>
          </a:solidFill>
          <a:ln w="12700">
            <a:solidFill>
              <a:srgbClr val="1F8F94"/>
            </a:solidFill>
            <a:prstDash val="solid"/>
          </a:ln>
        </p:spPr>
      </p:sp>
      <p:pic>
        <p:nvPicPr>
          <p:cNvPr id="14" name="Image 1" descr="preencoded.png">    </p:cNvPr>
          <p:cNvPicPr>
            <a:picLocks noChangeAspect="1"/>
          </p:cNvPicPr>
          <p:nvPr/>
        </p:nvPicPr>
        <p:blipFill>
          <a:blip r:embed="rId3"/>
          <a:stretch>
            <a:fillRect/>
          </a:stretch>
        </p:blipFill>
        <p:spPr>
          <a:xfrm>
            <a:off x="3705149" y="1967789"/>
            <a:ext cx="261518" cy="261518"/>
          </a:xfrm>
          <a:prstGeom prst="rect">
            <a:avLst/>
          </a:prstGeom>
        </p:spPr>
      </p:pic>
      <p:sp>
        <p:nvSpPr>
          <p:cNvPr id="15" name="Text 11"/>
          <p:cNvSpPr/>
          <p:nvPr/>
        </p:nvSpPr>
        <p:spPr>
          <a:xfrm>
            <a:off x="4224528" y="1847088"/>
            <a:ext cx="1737360" cy="502920"/>
          </a:xfrm>
          <a:prstGeom prst="rect">
            <a:avLst/>
          </a:prstGeom>
          <a:noFill/>
          <a:ln/>
        </p:spPr>
        <p:txBody>
          <a:bodyPr wrap="square" lIns="0" tIns="0" rIns="0" bIns="0" rtlCol="0" anchor="ctr"/>
          <a:lstStyle/>
          <a:p>
            <a:pPr indent="0" marL="0">
              <a:buNone/>
            </a:pPr>
            <a:r>
              <a:rPr lang="en-US" sz="2200" b="1" dirty="0">
                <a:solidFill>
                  <a:srgbClr val="1F8F94"/>
                </a:solidFill>
                <a:latin typeface="Georgia" pitchFamily="34" charset="0"/>
                <a:ea typeface="Georgia" pitchFamily="34" charset="-122"/>
                <a:cs typeface="Georgia" pitchFamily="34" charset="-120"/>
              </a:rPr>
              <a:t>WER</a:t>
            </a:r>
            <a:endParaRPr lang="en-US" sz="2200" dirty="0"/>
          </a:p>
        </p:txBody>
      </p:sp>
      <p:sp>
        <p:nvSpPr>
          <p:cNvPr id="16" name="Text 12"/>
          <p:cNvSpPr/>
          <p:nvPr/>
        </p:nvSpPr>
        <p:spPr>
          <a:xfrm>
            <a:off x="3584448" y="2468880"/>
            <a:ext cx="2377440" cy="292608"/>
          </a:xfrm>
          <a:prstGeom prst="rect">
            <a:avLst/>
          </a:prstGeom>
          <a:noFill/>
          <a:ln/>
        </p:spPr>
        <p:txBody>
          <a:bodyPr wrap="square" lIns="0" tIns="0" rIns="0" bIns="0" rtlCol="0" anchor="t"/>
          <a:lstStyle/>
          <a:p>
            <a:pPr indent="0" marL="0">
              <a:buNone/>
            </a:pPr>
            <a:r>
              <a:rPr lang="en-US" sz="1250" b="1" dirty="0">
                <a:solidFill>
                  <a:srgbClr val="1E1A3C"/>
                </a:solidFill>
                <a:latin typeface="Calibri" pitchFamily="34" charset="0"/>
                <a:ea typeface="Calibri" pitchFamily="34" charset="-122"/>
                <a:cs typeface="Calibri" pitchFamily="34" charset="-120"/>
              </a:rPr>
              <a:t>Akurasi transkrip (Jalur A)</a:t>
            </a:r>
            <a:endParaRPr lang="en-US" sz="1250" dirty="0"/>
          </a:p>
        </p:txBody>
      </p:sp>
      <p:sp>
        <p:nvSpPr>
          <p:cNvPr id="17" name="Text 13"/>
          <p:cNvSpPr/>
          <p:nvPr/>
        </p:nvSpPr>
        <p:spPr>
          <a:xfrm>
            <a:off x="3584448" y="2761488"/>
            <a:ext cx="2377440" cy="658368"/>
          </a:xfrm>
          <a:prstGeom prst="rect">
            <a:avLst/>
          </a:prstGeom>
          <a:noFill/>
          <a:ln/>
        </p:spPr>
        <p:txBody>
          <a:bodyPr wrap="square" lIns="0" tIns="0" rIns="0" bIns="0" rtlCol="0" anchor="t"/>
          <a:lstStyle/>
          <a:p>
            <a:pPr indent="0" marL="0">
              <a:buNone/>
            </a:pPr>
            <a:r>
              <a:rPr lang="en-US" sz="1100" dirty="0">
                <a:solidFill>
                  <a:srgbClr val="5E5A7E"/>
                </a:solidFill>
                <a:latin typeface="Calibri" pitchFamily="34" charset="0"/>
                <a:ea typeface="Calibri" pitchFamily="34" charset="-122"/>
                <a:cs typeface="Calibri" pitchFamily="34" charset="-120"/>
              </a:rPr>
              <a:t>(S+D+I) / N kata, pakai jiwer. Wajib sesuai form.</a:t>
            </a:r>
            <a:endParaRPr lang="en-US" sz="1100" dirty="0"/>
          </a:p>
        </p:txBody>
      </p:sp>
      <p:sp>
        <p:nvSpPr>
          <p:cNvPr id="18" name="Shape 14"/>
          <p:cNvSpPr/>
          <p:nvPr/>
        </p:nvSpPr>
        <p:spPr>
          <a:xfrm>
            <a:off x="548640" y="3611880"/>
            <a:ext cx="2697480" cy="1828800"/>
          </a:xfrm>
          <a:prstGeom prst="roundRect">
            <a:avLst>
              <a:gd name="adj" fmla="val 7000"/>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19" name="Shape 15"/>
          <p:cNvSpPr/>
          <p:nvPr/>
        </p:nvSpPr>
        <p:spPr>
          <a:xfrm>
            <a:off x="749808" y="3813048"/>
            <a:ext cx="502920" cy="502920"/>
          </a:xfrm>
          <a:prstGeom prst="ellipse">
            <a:avLst/>
          </a:prstGeom>
          <a:solidFill>
            <a:srgbClr val="E07A2E"/>
          </a:solidFill>
          <a:ln w="12700">
            <a:solidFill>
              <a:srgbClr val="E07A2E"/>
            </a:solidFill>
            <a:prstDash val="solid"/>
          </a:ln>
        </p:spPr>
      </p:sp>
      <p:pic>
        <p:nvPicPr>
          <p:cNvPr id="20" name="Image 2" descr="preencoded.png">    </p:cNvPr>
          <p:cNvPicPr>
            <a:picLocks noChangeAspect="1"/>
          </p:cNvPicPr>
          <p:nvPr/>
        </p:nvPicPr>
        <p:blipFill>
          <a:blip r:embed="rId4"/>
          <a:stretch>
            <a:fillRect/>
          </a:stretch>
        </p:blipFill>
        <p:spPr>
          <a:xfrm>
            <a:off x="870509" y="3933749"/>
            <a:ext cx="261518" cy="261518"/>
          </a:xfrm>
          <a:prstGeom prst="rect">
            <a:avLst/>
          </a:prstGeom>
        </p:spPr>
      </p:pic>
      <p:sp>
        <p:nvSpPr>
          <p:cNvPr id="21" name="Text 16"/>
          <p:cNvSpPr/>
          <p:nvPr/>
        </p:nvSpPr>
        <p:spPr>
          <a:xfrm>
            <a:off x="1389888" y="3813048"/>
            <a:ext cx="1737360" cy="502920"/>
          </a:xfrm>
          <a:prstGeom prst="rect">
            <a:avLst/>
          </a:prstGeom>
          <a:noFill/>
          <a:ln/>
        </p:spPr>
        <p:txBody>
          <a:bodyPr wrap="square" lIns="0" tIns="0" rIns="0" bIns="0" rtlCol="0" anchor="ctr"/>
          <a:lstStyle/>
          <a:p>
            <a:pPr indent="0" marL="0">
              <a:buNone/>
            </a:pPr>
            <a:r>
              <a:rPr lang="en-US" sz="2200" b="1" dirty="0">
                <a:solidFill>
                  <a:srgbClr val="E07A2E"/>
                </a:solidFill>
                <a:latin typeface="Georgia" pitchFamily="34" charset="0"/>
                <a:ea typeface="Georgia" pitchFamily="34" charset="-122"/>
                <a:cs typeface="Georgia" pitchFamily="34" charset="-120"/>
              </a:rPr>
              <a:t>Latency</a:t>
            </a:r>
            <a:endParaRPr lang="en-US" sz="2200" dirty="0"/>
          </a:p>
        </p:txBody>
      </p:sp>
      <p:sp>
        <p:nvSpPr>
          <p:cNvPr id="22" name="Text 17"/>
          <p:cNvSpPr/>
          <p:nvPr/>
        </p:nvSpPr>
        <p:spPr>
          <a:xfrm>
            <a:off x="749808" y="4434840"/>
            <a:ext cx="2377440" cy="292608"/>
          </a:xfrm>
          <a:prstGeom prst="rect">
            <a:avLst/>
          </a:prstGeom>
          <a:noFill/>
          <a:ln/>
        </p:spPr>
        <p:txBody>
          <a:bodyPr wrap="square" lIns="0" tIns="0" rIns="0" bIns="0" rtlCol="0" anchor="t"/>
          <a:lstStyle/>
          <a:p>
            <a:pPr indent="0" marL="0">
              <a:buNone/>
            </a:pPr>
            <a:r>
              <a:rPr lang="en-US" sz="1250" b="1" dirty="0">
                <a:solidFill>
                  <a:srgbClr val="1E1A3C"/>
                </a:solidFill>
                <a:latin typeface="Calibri" pitchFamily="34" charset="0"/>
                <a:ea typeface="Calibri" pitchFamily="34" charset="-122"/>
                <a:cs typeface="Calibri" pitchFamily="34" charset="-120"/>
              </a:rPr>
              <a:t>Seberapa responsif</a:t>
            </a:r>
            <a:endParaRPr lang="en-US" sz="1250" dirty="0"/>
          </a:p>
        </p:txBody>
      </p:sp>
      <p:sp>
        <p:nvSpPr>
          <p:cNvPr id="23" name="Text 18"/>
          <p:cNvSpPr/>
          <p:nvPr/>
        </p:nvSpPr>
        <p:spPr>
          <a:xfrm>
            <a:off x="749808" y="4727448"/>
            <a:ext cx="2377440" cy="658368"/>
          </a:xfrm>
          <a:prstGeom prst="rect">
            <a:avLst/>
          </a:prstGeom>
          <a:noFill/>
          <a:ln/>
        </p:spPr>
        <p:txBody>
          <a:bodyPr wrap="square" lIns="0" tIns="0" rIns="0" bIns="0" rtlCol="0" anchor="t"/>
          <a:lstStyle/>
          <a:p>
            <a:pPr indent="0" marL="0">
              <a:buNone/>
            </a:pPr>
            <a:r>
              <a:rPr lang="en-US" sz="1100" dirty="0">
                <a:solidFill>
                  <a:srgbClr val="5E5A7E"/>
                </a:solidFill>
                <a:latin typeface="Calibri" pitchFamily="34" charset="0"/>
                <a:ea typeface="Calibri" pitchFamily="34" charset="-122"/>
                <a:cs typeface="Calibri" pitchFamily="34" charset="-120"/>
              </a:rPr>
              <a:t>first partial, lalu endpoint → score (p50/p95)</a:t>
            </a:r>
            <a:endParaRPr lang="en-US" sz="1100" dirty="0"/>
          </a:p>
        </p:txBody>
      </p:sp>
      <p:sp>
        <p:nvSpPr>
          <p:cNvPr id="24" name="Shape 19"/>
          <p:cNvSpPr/>
          <p:nvPr/>
        </p:nvSpPr>
        <p:spPr>
          <a:xfrm>
            <a:off x="3383280" y="3611880"/>
            <a:ext cx="2697480" cy="1828800"/>
          </a:xfrm>
          <a:prstGeom prst="roundRect">
            <a:avLst>
              <a:gd name="adj" fmla="val 7000"/>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25" name="Shape 20"/>
          <p:cNvSpPr/>
          <p:nvPr/>
        </p:nvSpPr>
        <p:spPr>
          <a:xfrm>
            <a:off x="3584448" y="3813048"/>
            <a:ext cx="502920" cy="502920"/>
          </a:xfrm>
          <a:prstGeom prst="ellipse">
            <a:avLst/>
          </a:prstGeom>
          <a:solidFill>
            <a:srgbClr val="2E9E62"/>
          </a:solidFill>
          <a:ln w="12700">
            <a:solidFill>
              <a:srgbClr val="2E9E62"/>
            </a:solidFill>
            <a:prstDash val="solid"/>
          </a:ln>
        </p:spPr>
      </p:sp>
      <p:pic>
        <p:nvPicPr>
          <p:cNvPr id="26" name="Image 3" descr="preencoded.png">    </p:cNvPr>
          <p:cNvPicPr>
            <a:picLocks noChangeAspect="1"/>
          </p:cNvPicPr>
          <p:nvPr/>
        </p:nvPicPr>
        <p:blipFill>
          <a:blip r:embed="rId5"/>
          <a:stretch>
            <a:fillRect/>
          </a:stretch>
        </p:blipFill>
        <p:spPr>
          <a:xfrm>
            <a:off x="3705149" y="3933749"/>
            <a:ext cx="261518" cy="261518"/>
          </a:xfrm>
          <a:prstGeom prst="rect">
            <a:avLst/>
          </a:prstGeom>
        </p:spPr>
      </p:pic>
      <p:sp>
        <p:nvSpPr>
          <p:cNvPr id="27" name="Text 21"/>
          <p:cNvSpPr/>
          <p:nvPr/>
        </p:nvSpPr>
        <p:spPr>
          <a:xfrm>
            <a:off x="4224528" y="3813048"/>
            <a:ext cx="1737360" cy="502920"/>
          </a:xfrm>
          <a:prstGeom prst="rect">
            <a:avLst/>
          </a:prstGeom>
          <a:noFill/>
          <a:ln/>
        </p:spPr>
        <p:txBody>
          <a:bodyPr wrap="square" lIns="0" tIns="0" rIns="0" bIns="0" rtlCol="0" anchor="ctr"/>
          <a:lstStyle/>
          <a:p>
            <a:pPr indent="0" marL="0">
              <a:buNone/>
            </a:pPr>
            <a:r>
              <a:rPr lang="en-US" sz="2200" b="1" dirty="0">
                <a:solidFill>
                  <a:srgbClr val="2E9E62"/>
                </a:solidFill>
                <a:latin typeface="Georgia" pitchFamily="34" charset="0"/>
                <a:ea typeface="Georgia" pitchFamily="34" charset="-122"/>
                <a:cs typeface="Georgia" pitchFamily="34" charset="-120"/>
              </a:rPr>
              <a:t>RTF</a:t>
            </a:r>
            <a:endParaRPr lang="en-US" sz="2200" dirty="0"/>
          </a:p>
        </p:txBody>
      </p:sp>
      <p:sp>
        <p:nvSpPr>
          <p:cNvPr id="28" name="Text 22"/>
          <p:cNvSpPr/>
          <p:nvPr/>
        </p:nvSpPr>
        <p:spPr>
          <a:xfrm>
            <a:off x="3584448" y="4434840"/>
            <a:ext cx="2377440" cy="292608"/>
          </a:xfrm>
          <a:prstGeom prst="rect">
            <a:avLst/>
          </a:prstGeom>
          <a:noFill/>
          <a:ln/>
        </p:spPr>
        <p:txBody>
          <a:bodyPr wrap="square" lIns="0" tIns="0" rIns="0" bIns="0" rtlCol="0" anchor="t"/>
          <a:lstStyle/>
          <a:p>
            <a:pPr indent="0" marL="0">
              <a:buNone/>
            </a:pPr>
            <a:r>
              <a:rPr lang="en-US" sz="1250" b="1" dirty="0">
                <a:solidFill>
                  <a:srgbClr val="1E1A3C"/>
                </a:solidFill>
                <a:latin typeface="Calibri" pitchFamily="34" charset="0"/>
                <a:ea typeface="Calibri" pitchFamily="34" charset="-122"/>
                <a:cs typeface="Calibri" pitchFamily="34" charset="-120"/>
              </a:rPr>
              <a:t>Kuat di CPU atau nggak</a:t>
            </a:r>
            <a:endParaRPr lang="en-US" sz="1250" dirty="0"/>
          </a:p>
        </p:txBody>
      </p:sp>
      <p:sp>
        <p:nvSpPr>
          <p:cNvPr id="29" name="Text 23"/>
          <p:cNvSpPr/>
          <p:nvPr/>
        </p:nvSpPr>
        <p:spPr>
          <a:xfrm>
            <a:off x="3584448" y="4727448"/>
            <a:ext cx="2377440" cy="658368"/>
          </a:xfrm>
          <a:prstGeom prst="rect">
            <a:avLst/>
          </a:prstGeom>
          <a:noFill/>
          <a:ln/>
        </p:spPr>
        <p:txBody>
          <a:bodyPr wrap="square" lIns="0" tIns="0" rIns="0" bIns="0" rtlCol="0" anchor="t"/>
          <a:lstStyle/>
          <a:p>
            <a:pPr indent="0" marL="0">
              <a:buNone/>
            </a:pPr>
            <a:r>
              <a:rPr lang="en-US" sz="1100" dirty="0">
                <a:solidFill>
                  <a:srgbClr val="5E5A7E"/>
                </a:solidFill>
                <a:latin typeface="Calibri" pitchFamily="34" charset="0"/>
                <a:ea typeface="Calibri" pitchFamily="34" charset="-122"/>
                <a:cs typeface="Calibri" pitchFamily="34" charset="-120"/>
              </a:rPr>
              <a:t>waktu proses / durasi audio. Di bawah 1 artinya bisa real-time.</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355080" y="1645920"/>
          <a:ext cx="5303520" cy="914400"/>
        </p:xfrm>
        <a:graphic>
          <a:graphicData uri="http://schemas.openxmlformats.org/drawingml/2006/table">
            <a:tbl>
              <a:tblPr/>
              <a:tblGrid>
                <a:gridCol w="1691640"/>
                <a:gridCol w="2514600"/>
                <a:gridCol w="1097280"/>
              </a:tblGrid>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Eksperimen</a:t>
                      </a:r>
                      <a:endParaRPr lang="en-US" sz="115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1F8F9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Kondisi</a:t>
                      </a:r>
                      <a:endParaRPr lang="en-US" sz="115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1F8F9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Notebook</a:t>
                      </a:r>
                      <a:endParaRPr lang="en-US" sz="115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1F8F94"/>
                    </a:solidFill>
                  </a:tcPr>
                </a:tc>
              </a:tr>
              <a:tr h="438912">
                <a:tc>
                  <a:txBody>
                    <a:bodyPr/>
                    <a:lstStyle/>
                    <a:p>
                      <a:pPr indent="0" marL="0">
                        <a:buNone/>
                      </a:pPr>
                      <a:r>
                        <a:rPr lang="en-US" sz="1100" b="1" dirty="0">
                          <a:solidFill>
                            <a:srgbClr val="1E1A3C"/>
                          </a:solidFill>
                          <a:latin typeface="Calibri" pitchFamily="34" charset="0"/>
                          <a:ea typeface="Calibri" pitchFamily="34" charset="-122"/>
                          <a:cs typeface="Calibri" pitchFamily="34" charset="-120"/>
                        </a:rPr>
                        <a:t>Baseline</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c>
                  <a:txBody>
                    <a:bodyPr/>
                    <a:lstStyle/>
                    <a:p>
                      <a:pPr indent="0" marL="0">
                        <a:buNone/>
                      </a:pPr>
                      <a:r>
                        <a:rPr lang="en-US" sz="1100" dirty="0">
                          <a:solidFill>
                            <a:srgbClr val="1E1A3C"/>
                          </a:solidFill>
                          <a:latin typeface="Calibri" pitchFamily="34" charset="0"/>
                          <a:ea typeface="Calibri" pitchFamily="34" charset="-122"/>
                          <a:cs typeface="Calibri" pitchFamily="34" charset="-120"/>
                        </a:rPr>
                        <a:t>Suara bersih, mic laptop, ruang tenang</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c>
                  <a:txBody>
                    <a:bodyPr/>
                    <a:lstStyle/>
                    <a:p>
                      <a:pPr indent="0" marL="0">
                        <a:buNone/>
                      </a:pPr>
                      <a:r>
                        <a:rPr lang="en-US" sz="1100" dirty="0">
                          <a:solidFill>
                            <a:srgbClr val="1E1A3C"/>
                          </a:solidFill>
                          <a:latin typeface="Calibri" pitchFamily="34" charset="0"/>
                          <a:ea typeface="Calibri" pitchFamily="34" charset="-122"/>
                          <a:cs typeface="Calibri" pitchFamily="34" charset="-120"/>
                        </a:rPr>
                        <a:t>NB01, NB03</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1E1A3C"/>
                          </a:solidFill>
                          <a:latin typeface="Calibri" pitchFamily="34" charset="0"/>
                          <a:ea typeface="Calibri" pitchFamily="34" charset="-122"/>
                          <a:cs typeface="Calibri" pitchFamily="34" charset="-120"/>
                        </a:rPr>
                        <a:t>E1 · Noise</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c>
                  <a:txBody>
                    <a:bodyPr/>
                    <a:lstStyle/>
                    <a:p>
                      <a:pPr indent="0" marL="0">
                        <a:buNone/>
                      </a:pPr>
                      <a:r>
                        <a:rPr lang="en-US" sz="1100" dirty="0">
                          <a:solidFill>
                            <a:srgbClr val="1E1A3C"/>
                          </a:solidFill>
                          <a:latin typeface="Calibri" pitchFamily="34" charset="0"/>
                          <a:ea typeface="Calibri" pitchFamily="34" charset="-122"/>
                          <a:cs typeface="Calibri" pitchFamily="34" charset="-120"/>
                        </a:rPr>
                        <a:t>MUSAN/DEMAND di SNR 20 / 10 / 5 dB</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c>
                  <a:txBody>
                    <a:bodyPr/>
                    <a:lstStyle/>
                    <a:p>
                      <a:pPr indent="0" marL="0">
                        <a:buNone/>
                      </a:pPr>
                      <a:r>
                        <a:rPr lang="en-US" sz="1100" dirty="0">
                          <a:solidFill>
                            <a:srgbClr val="1E1A3C"/>
                          </a:solidFill>
                          <a:latin typeface="Calibri" pitchFamily="34" charset="0"/>
                          <a:ea typeface="Calibri" pitchFamily="34" charset="-122"/>
                          <a:cs typeface="Calibri" pitchFamily="34" charset="-120"/>
                        </a:rPr>
                        <a:t>NB04</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1E1A3C"/>
                          </a:solidFill>
                          <a:latin typeface="Calibri" pitchFamily="34" charset="0"/>
                          <a:ea typeface="Calibri" pitchFamily="34" charset="-122"/>
                          <a:cs typeface="Calibri" pitchFamily="34" charset="-120"/>
                        </a:rPr>
                        <a:t>E2 · Speaker / aksen</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c>
                  <a:txBody>
                    <a:bodyPr/>
                    <a:lstStyle/>
                    <a:p>
                      <a:pPr indent="0" marL="0">
                        <a:buNone/>
                      </a:pPr>
                      <a:r>
                        <a:rPr lang="en-US" sz="1100" dirty="0">
                          <a:solidFill>
                            <a:srgbClr val="1E1A3C"/>
                          </a:solidFill>
                          <a:latin typeface="Calibri" pitchFamily="34" charset="0"/>
                          <a:ea typeface="Calibri" pitchFamily="34" charset="-122"/>
                          <a:cs typeface="Calibri" pitchFamily="34" charset="-120"/>
                        </a:rPr>
                        <a:t>Speaker kita vs L2-ARCTIC dan EdAcc</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c>
                  <a:txBody>
                    <a:bodyPr/>
                    <a:lstStyle/>
                    <a:p>
                      <a:pPr indent="0" marL="0">
                        <a:buNone/>
                      </a:pPr>
                      <a:r>
                        <a:rPr lang="en-US" sz="1100" dirty="0">
                          <a:solidFill>
                            <a:srgbClr val="1E1A3C"/>
                          </a:solidFill>
                          <a:latin typeface="Calibri" pitchFamily="34" charset="0"/>
                          <a:ea typeface="Calibri" pitchFamily="34" charset="-122"/>
                          <a:cs typeface="Calibri" pitchFamily="34" charset="-120"/>
                        </a:rPr>
                        <a:t>NB01, NB03</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1E1A3C"/>
                          </a:solidFill>
                          <a:latin typeface="Calibri" pitchFamily="34" charset="0"/>
                          <a:ea typeface="Calibri" pitchFamily="34" charset="-122"/>
                          <a:cs typeface="Calibri" pitchFamily="34" charset="-120"/>
                        </a:rPr>
                        <a:t>E3 · Kecepatan</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c>
                  <a:txBody>
                    <a:bodyPr/>
                    <a:lstStyle/>
                    <a:p>
                      <a:pPr indent="0" marL="0">
                        <a:buNone/>
                      </a:pPr>
                      <a:r>
                        <a:rPr lang="en-US" sz="1100" dirty="0">
                          <a:solidFill>
                            <a:srgbClr val="1E1A3C"/>
                          </a:solidFill>
                          <a:latin typeface="Calibri" pitchFamily="34" charset="0"/>
                          <a:ea typeface="Calibri" pitchFamily="34" charset="-122"/>
                          <a:cs typeface="Calibri" pitchFamily="34" charset="-120"/>
                        </a:rPr>
                        <a:t>fp32 vs int8 quantization di CPU</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c>
                  <a:txBody>
                    <a:bodyPr/>
                    <a:lstStyle/>
                    <a:p>
                      <a:pPr indent="0" marL="0">
                        <a:buNone/>
                      </a:pPr>
                      <a:r>
                        <a:rPr lang="en-US" sz="1100" dirty="0">
                          <a:solidFill>
                            <a:srgbClr val="1E1A3C"/>
                          </a:solidFill>
                          <a:latin typeface="Calibri" pitchFamily="34" charset="0"/>
                          <a:ea typeface="Calibri" pitchFamily="34" charset="-122"/>
                          <a:cs typeface="Calibri" pitchFamily="34" charset="-120"/>
                        </a:rPr>
                        <a:t>NB01, bench_rtf</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1E1A3C"/>
                          </a:solidFill>
                          <a:latin typeface="Calibri" pitchFamily="34" charset="0"/>
                          <a:ea typeface="Calibri" pitchFamily="34" charset="-122"/>
                          <a:cs typeface="Calibri" pitchFamily="34" charset="-120"/>
                        </a:rPr>
                        <a:t>E4 · Engine ASR</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c>
                  <a:txBody>
                    <a:bodyPr/>
                    <a:lstStyle/>
                    <a:p>
                      <a:pPr indent="0" marL="0">
                        <a:buNone/>
                      </a:pPr>
                      <a:r>
                        <a:rPr lang="en-US" sz="1100" dirty="0">
                          <a:solidFill>
                            <a:srgbClr val="1E1A3C"/>
                          </a:solidFill>
                          <a:latin typeface="Calibri" pitchFamily="34" charset="0"/>
                          <a:ea typeface="Calibri" pitchFamily="34" charset="-122"/>
                          <a:cs typeface="Calibri" pitchFamily="34" charset="-120"/>
                        </a:rPr>
                        <a:t>Zipformer vs Vosk small</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c>
                  <a:txBody>
                    <a:bodyPr/>
                    <a:lstStyle/>
                    <a:p>
                      <a:pPr indent="0" marL="0">
                        <a:buNone/>
                      </a:pPr>
                      <a:r>
                        <a:rPr lang="en-US" sz="1100" dirty="0">
                          <a:solidFill>
                            <a:srgbClr val="1E1A3C"/>
                          </a:solidFill>
                          <a:latin typeface="Calibri" pitchFamily="34" charset="0"/>
                          <a:ea typeface="Calibri" pitchFamily="34" charset="-122"/>
                          <a:cs typeface="Calibri" pitchFamily="34" charset="-120"/>
                        </a:rPr>
                        <a:t>NB03</a:t>
                      </a:r>
                      <a:endParaRPr lang="en-US" sz="1100" dirty="0">
                        <a:latin typeface="Calibri" charset="0"/>
                        <a:ea typeface="Calibri" charset="0"/>
                        <a:cs typeface="Calibri" charset="0"/>
                      </a:endParaRPr>
                    </a:p>
                  </a:txBody>
                  <a:tcPr marL="76200" marR="76200" marT="38100" marB="38100" anchor="ctr">
                    <a:lnL w="12700" cap="flat" cmpd="sng" algn="ctr">
                      <a:solidFill>
                        <a:srgbClr val="D3ECEB"/>
                      </a:solidFill>
                      <a:prstDash val="solid"/>
                      <a:round/>
                      <a:headEnd type="none" w="med" len="med"/>
                      <a:tailEnd type="none" w="med" len="med"/>
                    </a:lnL>
                    <a:lnR w="12700" cap="flat" cmpd="sng" algn="ctr">
                      <a:solidFill>
                        <a:srgbClr val="D3ECEB"/>
                      </a:solidFill>
                      <a:prstDash val="solid"/>
                      <a:round/>
                      <a:headEnd type="none" w="med" len="med"/>
                      <a:tailEnd type="none" w="med" len="med"/>
                    </a:lnR>
                    <a:lnT w="12700" cap="flat" cmpd="sng" algn="ctr">
                      <a:solidFill>
                        <a:srgbClr val="D3ECEB"/>
                      </a:solidFill>
                      <a:prstDash val="solid"/>
                      <a:round/>
                      <a:headEnd type="none" w="med" len="med"/>
                      <a:tailEnd type="none" w="med" len="med"/>
                    </a:lnT>
                    <a:lnB w="12700" cap="flat" cmpd="sng" algn="ctr">
                      <a:solidFill>
                        <a:srgbClr val="D3ECEB"/>
                      </a:solidFill>
                      <a:prstDash val="solid"/>
                      <a:round/>
                      <a:headEnd type="none" w="med" len="med"/>
                      <a:tailEnd type="none" w="med" len="med"/>
                    </a:lnB>
                    <a:solidFill>
                      <a:srgbClr val="FFFFFF"/>
                    </a:solidFill>
                  </a:tcPr>
                </a:tc>
              </a:tr>
            </a:tbl>
          </a:graphicData>
        </a:graphic>
      </p:graphicFrame>
      <p:sp>
        <p:nvSpPr>
          <p:cNvPr id="31" name="Shape 24"/>
          <p:cNvSpPr/>
          <p:nvPr/>
        </p:nvSpPr>
        <p:spPr>
          <a:xfrm>
            <a:off x="6355080" y="4343400"/>
            <a:ext cx="5303520" cy="1097280"/>
          </a:xfrm>
          <a:prstGeom prst="roundRect">
            <a:avLst>
              <a:gd name="adj" fmla="val 11667"/>
            </a:avLst>
          </a:prstGeom>
          <a:solidFill>
            <a:srgbClr val="DDF3F2"/>
          </a:solidFill>
          <a:ln w="12700">
            <a:solidFill>
              <a:srgbClr val="DDF3F2"/>
            </a:solidFill>
            <a:prstDash val="solid"/>
          </a:ln>
        </p:spPr>
      </p:sp>
      <p:sp>
        <p:nvSpPr>
          <p:cNvPr id="32" name="Text 25"/>
          <p:cNvSpPr/>
          <p:nvPr/>
        </p:nvSpPr>
        <p:spPr>
          <a:xfrm>
            <a:off x="6537960" y="4407408"/>
            <a:ext cx="4983480" cy="987552"/>
          </a:xfrm>
          <a:prstGeom prst="rect">
            <a:avLst/>
          </a:prstGeom>
          <a:noFill/>
          <a:ln/>
        </p:spPr>
        <p:txBody>
          <a:bodyPr wrap="square" lIns="0" tIns="0" rIns="0" bIns="0" rtlCol="0" anchor="ctr"/>
          <a:lstStyle/>
          <a:p>
            <a:pPr indent="0" marL="0">
              <a:spcAft>
                <a:spcPts val="300"/>
              </a:spcAft>
              <a:buNone/>
            </a:pPr>
            <a:r>
              <a:rPr lang="en-US" sz="1150" b="1" dirty="0">
                <a:solidFill>
                  <a:srgbClr val="1F8F94"/>
                </a:solidFill>
                <a:latin typeface="Calibri" pitchFamily="34" charset="0"/>
                <a:ea typeface="Calibri" pitchFamily="34" charset="-122"/>
                <a:cs typeface="Calibri" pitchFamily="34" charset="-120"/>
              </a:rPr>
              <a:t>User testing (≥5 target user)</a:t>
            </a:r>
            <a:endParaRPr lang="en-US" sz="1150" dirty="0"/>
          </a:p>
          <a:p>
            <a:pPr indent="0" marL="0">
              <a:spcAft>
                <a:spcPts val="300"/>
              </a:spcAft>
              <a:buNone/>
            </a:pPr>
            <a:r>
              <a:rPr lang="en-US" sz="1150" dirty="0">
                <a:solidFill>
                  <a:srgbClr val="1E1A3C"/>
                </a:solidFill>
                <a:latin typeface="Calibri" pitchFamily="34" charset="0"/>
                <a:ea typeface="Calibri" pitchFamily="34" charset="-122"/>
                <a:cs typeface="Calibri" pitchFamily="34" charset="-120"/>
              </a:rPr>
              <a:t>Task realistis → observasi → kuesioner SUS + rating (ease of use, responsiveness, kualitas feedback) → interview.</a:t>
            </a:r>
            <a:endParaRPr lang="en-US" sz="1150" dirty="0"/>
          </a:p>
          <a:p>
            <a:pPr indent="0" marL="0">
              <a:spcAft>
                <a:spcPts val="300"/>
              </a:spcAft>
              <a:buNone/>
            </a:pPr>
            <a:r>
              <a:rPr lang="en-US" sz="1150" b="1" dirty="0">
                <a:solidFill>
                  <a:srgbClr val="1E1A3C"/>
                </a:solidFill>
                <a:latin typeface="Calibri" pitchFamily="34" charset="0"/>
                <a:ea typeface="Calibri" pitchFamily="34" charset="-122"/>
                <a:cs typeface="Calibri" pitchFamily="34" charset="-120"/>
              </a:rPr>
              <a:t>Error analysis: </a:t>
            </a:r>
            <a:pPr indent="0" marL="0">
              <a:spcAft>
                <a:spcPts val="300"/>
              </a:spcAft>
              <a:buNone/>
            </a:pPr>
            <a:r>
              <a:rPr lang="en-US" sz="1150" dirty="0">
                <a:solidFill>
                  <a:srgbClr val="1E1A3C"/>
                </a:solidFill>
                <a:latin typeface="Calibri" pitchFamily="34" charset="0"/>
                <a:ea typeface="Calibri" pitchFamily="34" charset="-122"/>
                <a:cs typeface="Calibri" pitchFamily="34" charset="-120"/>
              </a:rPr>
              <a:t>tabel konfusi fonem, misalnya θ→t paling sering?</a:t>
            </a:r>
            <a:endParaRPr lang="en-US" sz="1150" dirty="0"/>
          </a:p>
        </p:txBody>
      </p:sp>
      <p:sp>
        <p:nvSpPr>
          <p:cNvPr id="33" name="Shape 26"/>
          <p:cNvSpPr/>
          <p:nvPr/>
        </p:nvSpPr>
        <p:spPr>
          <a:xfrm>
            <a:off x="548640" y="5623560"/>
            <a:ext cx="11109960" cy="548640"/>
          </a:xfrm>
          <a:prstGeom prst="roundRect">
            <a:avLst>
              <a:gd name="adj" fmla="val 23333"/>
            </a:avLst>
          </a:prstGeom>
          <a:solidFill>
            <a:srgbClr val="EEE9FF"/>
          </a:solidFill>
          <a:ln w="12700">
            <a:solidFill>
              <a:srgbClr val="EEE9FF"/>
            </a:solidFill>
            <a:prstDash val="solid"/>
          </a:ln>
        </p:spPr>
      </p:sp>
      <p:sp>
        <p:nvSpPr>
          <p:cNvPr id="34" name="Text 27"/>
          <p:cNvSpPr/>
          <p:nvPr/>
        </p:nvSpPr>
        <p:spPr>
          <a:xfrm>
            <a:off x="731520" y="5669280"/>
            <a:ext cx="10789920" cy="457200"/>
          </a:xfrm>
          <a:prstGeom prst="rect">
            <a:avLst/>
          </a:prstGeom>
          <a:noFill/>
          <a:ln/>
        </p:spPr>
        <p:txBody>
          <a:bodyPr wrap="square" lIns="0" tIns="0" rIns="0" bIns="0" rtlCol="0" anchor="ctr"/>
          <a:lstStyle/>
          <a:p>
            <a:pPr indent="0" marL="0">
              <a:buNone/>
            </a:pPr>
            <a:r>
              <a:rPr lang="en-US" sz="1250" b="1" dirty="0">
                <a:solidFill>
                  <a:srgbClr val="4C3FB8"/>
                </a:solidFill>
                <a:latin typeface="Calibri" pitchFamily="34" charset="0"/>
                <a:ea typeface="Calibri" pitchFamily="34" charset="-122"/>
                <a:cs typeface="Calibri" pitchFamily="34" charset="-120"/>
              </a:rPr>
              <a:t>Jawab 2 pertanyaan dari form: </a:t>
            </a:r>
            <a:pPr indent="0" marL="0">
              <a:buNone/>
            </a:pPr>
            <a:r>
              <a:rPr lang="en-US" sz="1250" dirty="0">
                <a:solidFill>
                  <a:srgbClr val="1E1A3C"/>
                </a:solidFill>
                <a:latin typeface="Calibri" pitchFamily="34" charset="0"/>
                <a:ea typeface="Calibri" pitchFamily="34" charset="-122"/>
                <a:cs typeface="Calibri" pitchFamily="34" charset="-120"/>
              </a:rPr>
              <a:t>How accurate? (PER, WER)  ·  How responsive? (latency, RTF)</a:t>
            </a:r>
            <a:endParaRPr lang="en-US" sz="12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2432304" cy="292608"/>
          </a:xfrm>
          <a:prstGeom prst="roundRect">
            <a:avLst>
              <a:gd name="adj" fmla="val 50000"/>
            </a:avLst>
          </a:prstGeom>
          <a:solidFill>
            <a:srgbClr val="1F8F94"/>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III · IMPLEMENTATION</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1E1A3C"/>
                </a:solidFill>
                <a:latin typeface="Georgia" pitchFamily="34" charset="0"/>
                <a:ea typeface="Georgia" pitchFamily="34" charset="-122"/>
                <a:cs typeface="Georgia" pitchFamily="34" charset="-120"/>
              </a:rPr>
              <a:t>Implementasi: apa jalan di mana</a:t>
            </a:r>
            <a:endParaRPr lang="en-US" sz="30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48640" y="1645920"/>
            <a:ext cx="2468880" cy="3840480"/>
          </a:xfrm>
          <a:prstGeom prst="roundRect">
            <a:avLst>
              <a:gd name="adj" fmla="val 5185"/>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7" name="Shape 5"/>
          <p:cNvSpPr/>
          <p:nvPr/>
        </p:nvSpPr>
        <p:spPr>
          <a:xfrm>
            <a:off x="749808" y="1828800"/>
            <a:ext cx="548640" cy="548640"/>
          </a:xfrm>
          <a:prstGeom prst="ellipse">
            <a:avLst/>
          </a:prstGeom>
          <a:solidFill>
            <a:srgbClr val="4C3FB8"/>
          </a:solidFill>
          <a:ln w="12700">
            <a:solidFill>
              <a:srgbClr val="4C3FB8"/>
            </a:solidFill>
            <a:prstDash val="solid"/>
          </a:ln>
        </p:spPr>
      </p:sp>
      <p:pic>
        <p:nvPicPr>
          <p:cNvPr id="8" name="Image 0" descr="preencoded.png">    </p:cNvPr>
          <p:cNvPicPr>
            <a:picLocks noChangeAspect="1"/>
          </p:cNvPicPr>
          <p:nvPr/>
        </p:nvPicPr>
        <p:blipFill>
          <a:blip r:embed="rId2"/>
          <a:stretch>
            <a:fillRect/>
          </a:stretch>
        </p:blipFill>
        <p:spPr>
          <a:xfrm>
            <a:off x="881482" y="1960474"/>
            <a:ext cx="285293" cy="285293"/>
          </a:xfrm>
          <a:prstGeom prst="rect">
            <a:avLst/>
          </a:prstGeom>
        </p:spPr>
      </p:pic>
      <p:sp>
        <p:nvSpPr>
          <p:cNvPr id="9" name="Text 6"/>
          <p:cNvSpPr/>
          <p:nvPr/>
        </p:nvSpPr>
        <p:spPr>
          <a:xfrm>
            <a:off x="749808" y="2487168"/>
            <a:ext cx="2148840" cy="320040"/>
          </a:xfrm>
          <a:prstGeom prst="rect">
            <a:avLst/>
          </a:prstGeom>
          <a:noFill/>
          <a:ln/>
        </p:spPr>
        <p:txBody>
          <a:bodyPr wrap="square" lIns="0" tIns="0" rIns="0" bIns="0" rtlCol="0" anchor="t"/>
          <a:lstStyle/>
          <a:p>
            <a:pPr indent="0" marL="0">
              <a:buNone/>
            </a:pPr>
            <a:r>
              <a:rPr lang="en-US" sz="1500" b="1" dirty="0">
                <a:solidFill>
                  <a:srgbClr val="4C3FB8"/>
                </a:solidFill>
                <a:latin typeface="Calibri" pitchFamily="34" charset="0"/>
                <a:ea typeface="Calibri" pitchFamily="34" charset="-122"/>
                <a:cs typeface="Calibri" pitchFamily="34" charset="-120"/>
              </a:rPr>
              <a:t>Laptop (CPU saja)</a:t>
            </a:r>
            <a:endParaRPr lang="en-US" sz="1500" dirty="0"/>
          </a:p>
        </p:txBody>
      </p:sp>
      <p:sp>
        <p:nvSpPr>
          <p:cNvPr id="10" name="Text 7"/>
          <p:cNvSpPr/>
          <p:nvPr/>
        </p:nvSpPr>
        <p:spPr>
          <a:xfrm>
            <a:off x="749808" y="2807208"/>
            <a:ext cx="2148840" cy="274320"/>
          </a:xfrm>
          <a:prstGeom prst="rect">
            <a:avLst/>
          </a:prstGeom>
          <a:noFill/>
          <a:ln/>
        </p:spPr>
        <p:txBody>
          <a:bodyPr wrap="square" lIns="0" tIns="0" rIns="0" bIns="0" rtlCol="0" anchor="t"/>
          <a:lstStyle/>
          <a:p>
            <a:pPr indent="0" marL="0">
              <a:buNone/>
            </a:pPr>
            <a:r>
              <a:rPr lang="en-US" sz="1150" dirty="0">
                <a:solidFill>
                  <a:srgbClr val="8C87AD"/>
                </a:solidFill>
                <a:latin typeface="Calibri" pitchFamily="34" charset="0"/>
                <a:ea typeface="Calibri" pitchFamily="34" charset="-122"/>
                <a:cs typeface="Calibri" pitchFamily="34" charset="-120"/>
              </a:rPr>
              <a:t>Backend Python 3.11</a:t>
            </a:r>
            <a:endParaRPr lang="en-US" sz="1150" dirty="0"/>
          </a:p>
        </p:txBody>
      </p:sp>
      <p:sp>
        <p:nvSpPr>
          <p:cNvPr id="11" name="Text 8"/>
          <p:cNvSpPr/>
          <p:nvPr/>
        </p:nvSpPr>
        <p:spPr>
          <a:xfrm>
            <a:off x="749808" y="3200400"/>
            <a:ext cx="2148840" cy="21945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E1A3C"/>
                </a:solidFill>
                <a:latin typeface="Calibri" pitchFamily="34" charset="0"/>
                <a:ea typeface="Calibri" pitchFamily="34" charset="-122"/>
                <a:cs typeface="Calibri" pitchFamily="34" charset="-120"/>
              </a:rPr>
              <a:t>websockets: server lokal ws://127.0.0.1:8765</a:t>
            </a:r>
            <a:endParaRPr lang="en-US" sz="1150" dirty="0"/>
          </a:p>
          <a:p>
            <a:pPr marL="342900" indent="-342900">
              <a:spcAft>
                <a:spcPts val="400"/>
              </a:spcAft>
              <a:buSzPct val="100000"/>
              <a:buChar char="•"/>
            </a:pPr>
            <a:r>
              <a:rPr lang="en-US" sz="1150" dirty="0">
                <a:solidFill>
                  <a:srgbClr val="1E1A3C"/>
                </a:solidFill>
                <a:latin typeface="Calibri" pitchFamily="34" charset="0"/>
                <a:ea typeface="Calibri" pitchFamily="34" charset="-122"/>
                <a:cs typeface="Calibri" pitchFamily="34" charset="-120"/>
              </a:rPr>
              <a:t>sounddevice: ambil audio mic</a:t>
            </a:r>
            <a:endParaRPr lang="en-US" sz="1150" dirty="0"/>
          </a:p>
          <a:p>
            <a:pPr marL="342900" indent="-342900">
              <a:spcAft>
                <a:spcPts val="400"/>
              </a:spcAft>
              <a:buSzPct val="100000"/>
              <a:buChar char="•"/>
            </a:pPr>
            <a:r>
              <a:rPr lang="en-US" sz="1150" dirty="0">
                <a:solidFill>
                  <a:srgbClr val="1E1A3C"/>
                </a:solidFill>
                <a:latin typeface="Calibri" pitchFamily="34" charset="0"/>
                <a:ea typeface="Calibri" pitchFamily="34" charset="-122"/>
                <a:cs typeface="Calibri" pitchFamily="34" charset="-120"/>
              </a:rPr>
              <a:t>sherpa-onnx (Zipformer) + Silero VAD</a:t>
            </a:r>
            <a:endParaRPr lang="en-US" sz="1150" dirty="0"/>
          </a:p>
          <a:p>
            <a:pPr marL="342900" indent="-342900">
              <a:spcAft>
                <a:spcPts val="400"/>
              </a:spcAft>
              <a:buSzPct val="100000"/>
              <a:buChar char="•"/>
            </a:pPr>
            <a:r>
              <a:rPr lang="en-US" sz="1150" dirty="0">
                <a:solidFill>
                  <a:srgbClr val="1E1A3C"/>
                </a:solidFill>
                <a:latin typeface="Calibri" pitchFamily="34" charset="0"/>
                <a:ea typeface="Calibri" pitchFamily="34" charset="-122"/>
                <a:cs typeface="Calibri" pitchFamily="34" charset="-120"/>
              </a:rPr>
              <a:t>transformers + torch (wav2vec2)</a:t>
            </a:r>
            <a:endParaRPr lang="en-US" sz="1150" dirty="0"/>
          </a:p>
          <a:p>
            <a:pPr marL="342900" indent="-342900">
              <a:spcAft>
                <a:spcPts val="400"/>
              </a:spcAft>
              <a:buSzPct val="100000"/>
              <a:buChar char="•"/>
            </a:pPr>
            <a:r>
              <a:rPr lang="en-US" sz="1150" dirty="0">
                <a:solidFill>
                  <a:srgbClr val="1E1A3C"/>
                </a:solidFill>
                <a:latin typeface="Calibri" pitchFamily="34" charset="0"/>
                <a:ea typeface="Calibri" pitchFamily="34" charset="-122"/>
                <a:cs typeface="Calibri" pitchFamily="34" charset="-120"/>
              </a:rPr>
              <a:t>phonemizer + espeak-ng, per.py</a:t>
            </a:r>
            <a:endParaRPr lang="en-US" sz="1150" dirty="0"/>
          </a:p>
        </p:txBody>
      </p:sp>
      <p:sp>
        <p:nvSpPr>
          <p:cNvPr id="12" name="Shape 9"/>
          <p:cNvSpPr/>
          <p:nvPr/>
        </p:nvSpPr>
        <p:spPr>
          <a:xfrm>
            <a:off x="3154680" y="1645920"/>
            <a:ext cx="2468880" cy="3840480"/>
          </a:xfrm>
          <a:prstGeom prst="roundRect">
            <a:avLst>
              <a:gd name="adj" fmla="val 5185"/>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13" name="Shape 10"/>
          <p:cNvSpPr/>
          <p:nvPr/>
        </p:nvSpPr>
        <p:spPr>
          <a:xfrm>
            <a:off x="3355848" y="1828800"/>
            <a:ext cx="548640" cy="548640"/>
          </a:xfrm>
          <a:prstGeom prst="ellipse">
            <a:avLst/>
          </a:prstGeom>
          <a:solidFill>
            <a:srgbClr val="E07A2E"/>
          </a:solidFill>
          <a:ln w="12700">
            <a:solidFill>
              <a:srgbClr val="E07A2E"/>
            </a:solidFill>
            <a:prstDash val="solid"/>
          </a:ln>
        </p:spPr>
      </p:sp>
      <p:pic>
        <p:nvPicPr>
          <p:cNvPr id="14" name="Image 1" descr="preencoded.png">    </p:cNvPr>
          <p:cNvPicPr>
            <a:picLocks noChangeAspect="1"/>
          </p:cNvPicPr>
          <p:nvPr/>
        </p:nvPicPr>
        <p:blipFill>
          <a:blip r:embed="rId3"/>
          <a:stretch>
            <a:fillRect/>
          </a:stretch>
        </p:blipFill>
        <p:spPr>
          <a:xfrm>
            <a:off x="3487522" y="1960474"/>
            <a:ext cx="285293" cy="285293"/>
          </a:xfrm>
          <a:prstGeom prst="rect">
            <a:avLst/>
          </a:prstGeom>
        </p:spPr>
      </p:pic>
      <p:sp>
        <p:nvSpPr>
          <p:cNvPr id="15" name="Text 11"/>
          <p:cNvSpPr/>
          <p:nvPr/>
        </p:nvSpPr>
        <p:spPr>
          <a:xfrm>
            <a:off x="3355848" y="2487168"/>
            <a:ext cx="2148840" cy="320040"/>
          </a:xfrm>
          <a:prstGeom prst="rect">
            <a:avLst/>
          </a:prstGeom>
          <a:noFill/>
          <a:ln/>
        </p:spPr>
        <p:txBody>
          <a:bodyPr wrap="square" lIns="0" tIns="0" rIns="0" bIns="0" rtlCol="0" anchor="t"/>
          <a:lstStyle/>
          <a:p>
            <a:pPr indent="0" marL="0">
              <a:buNone/>
            </a:pPr>
            <a:r>
              <a:rPr lang="en-US" sz="1500" b="1" dirty="0">
                <a:solidFill>
                  <a:srgbClr val="E07A2E"/>
                </a:solidFill>
                <a:latin typeface="Calibri" pitchFamily="34" charset="0"/>
                <a:ea typeface="Calibri" pitchFamily="34" charset="-122"/>
                <a:cs typeface="Calibri" pitchFamily="34" charset="-120"/>
              </a:rPr>
              <a:t>Godot 4</a:t>
            </a:r>
            <a:endParaRPr lang="en-US" sz="1500" dirty="0"/>
          </a:p>
        </p:txBody>
      </p:sp>
      <p:sp>
        <p:nvSpPr>
          <p:cNvPr id="16" name="Text 12"/>
          <p:cNvSpPr/>
          <p:nvPr/>
        </p:nvSpPr>
        <p:spPr>
          <a:xfrm>
            <a:off x="3355848" y="2807208"/>
            <a:ext cx="2148840" cy="274320"/>
          </a:xfrm>
          <a:prstGeom prst="rect">
            <a:avLst/>
          </a:prstGeom>
          <a:noFill/>
          <a:ln/>
        </p:spPr>
        <p:txBody>
          <a:bodyPr wrap="square" lIns="0" tIns="0" rIns="0" bIns="0" rtlCol="0" anchor="t"/>
          <a:lstStyle/>
          <a:p>
            <a:pPr indent="0" marL="0">
              <a:buNone/>
            </a:pPr>
            <a:r>
              <a:rPr lang="en-US" sz="1150" dirty="0">
                <a:solidFill>
                  <a:srgbClr val="8C87AD"/>
                </a:solidFill>
                <a:latin typeface="Calibri" pitchFamily="34" charset="0"/>
                <a:ea typeface="Calibri" pitchFamily="34" charset="-122"/>
                <a:cs typeface="Calibri" pitchFamily="34" charset="-120"/>
              </a:rPr>
              <a:t>Game UI</a:t>
            </a:r>
            <a:endParaRPr lang="en-US" sz="1150" dirty="0"/>
          </a:p>
        </p:txBody>
      </p:sp>
      <p:sp>
        <p:nvSpPr>
          <p:cNvPr id="17" name="Text 13"/>
          <p:cNvSpPr/>
          <p:nvPr/>
        </p:nvSpPr>
        <p:spPr>
          <a:xfrm>
            <a:off x="3355848" y="3200400"/>
            <a:ext cx="2148840" cy="21945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E1A3C"/>
                </a:solidFill>
                <a:latin typeface="Calibri" pitchFamily="34" charset="0"/>
                <a:ea typeface="Calibri" pitchFamily="34" charset="-122"/>
                <a:cs typeface="Calibri" pitchFamily="34" charset="-120"/>
              </a:rPr>
              <a:t>Klien WebSocket, cuma nampilin</a:t>
            </a:r>
            <a:endParaRPr lang="en-US" sz="1150" dirty="0"/>
          </a:p>
          <a:p>
            <a:pPr marL="342900" indent="-342900">
              <a:spcAft>
                <a:spcPts val="400"/>
              </a:spcAft>
              <a:buSzPct val="100000"/>
              <a:buChar char="•"/>
            </a:pPr>
            <a:r>
              <a:rPr lang="en-US" sz="1150" dirty="0">
                <a:solidFill>
                  <a:srgbClr val="1E1A3C"/>
                </a:solidFill>
                <a:latin typeface="Calibri" pitchFamily="34" charset="0"/>
                <a:ea typeface="Calibri" pitchFamily="34" charset="-122"/>
                <a:cs typeface="Calibri" pitchFamily="34" charset="-120"/>
              </a:rPr>
              <a:t>Nggak pegang audio sama sekali</a:t>
            </a:r>
            <a:endParaRPr lang="en-US" sz="1150" dirty="0"/>
          </a:p>
          <a:p>
            <a:pPr marL="342900" indent="-342900">
              <a:spcAft>
                <a:spcPts val="400"/>
              </a:spcAft>
              <a:buSzPct val="100000"/>
              <a:buChar char="•"/>
            </a:pPr>
            <a:r>
              <a:rPr lang="en-US" sz="1150" dirty="0">
                <a:solidFill>
                  <a:srgbClr val="1E1A3C"/>
                </a:solidFill>
                <a:latin typeface="Calibri" pitchFamily="34" charset="0"/>
                <a:ea typeface="Calibri" pitchFamily="34" charset="-122"/>
                <a:cs typeface="Calibri" pitchFamily="34" charset="-120"/>
              </a:rPr>
              <a:t>State: IDLE → LISTENING → SCORING → RESULT</a:t>
            </a:r>
            <a:endParaRPr lang="en-US" sz="1150" dirty="0"/>
          </a:p>
          <a:p>
            <a:pPr marL="342900" indent="-342900">
              <a:spcAft>
                <a:spcPts val="400"/>
              </a:spcAft>
              <a:buSzPct val="100000"/>
              <a:buChar char="•"/>
            </a:pPr>
            <a:r>
              <a:rPr lang="en-US" sz="1150" dirty="0">
                <a:solidFill>
                  <a:srgbClr val="1E1A3C"/>
                </a:solidFill>
                <a:latin typeface="Calibri" pitchFamily="34" charset="0"/>
                <a:ea typeface="Calibri" pitchFamily="34" charset="-122"/>
                <a:cs typeface="Calibri" pitchFamily="34" charset="-120"/>
              </a:rPr>
              <a:t>Ada banner MOCK MODE kalau backend mock</a:t>
            </a:r>
            <a:endParaRPr lang="en-US" sz="1150" dirty="0"/>
          </a:p>
        </p:txBody>
      </p:sp>
      <p:sp>
        <p:nvSpPr>
          <p:cNvPr id="18" name="Shape 14"/>
          <p:cNvSpPr/>
          <p:nvPr/>
        </p:nvSpPr>
        <p:spPr>
          <a:xfrm>
            <a:off x="5760720" y="1645920"/>
            <a:ext cx="2468880" cy="3840480"/>
          </a:xfrm>
          <a:prstGeom prst="roundRect">
            <a:avLst>
              <a:gd name="adj" fmla="val 5185"/>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19" name="Shape 15"/>
          <p:cNvSpPr/>
          <p:nvPr/>
        </p:nvSpPr>
        <p:spPr>
          <a:xfrm>
            <a:off x="5961888" y="1828800"/>
            <a:ext cx="548640" cy="548640"/>
          </a:xfrm>
          <a:prstGeom prst="ellipse">
            <a:avLst/>
          </a:prstGeom>
          <a:solidFill>
            <a:srgbClr val="1F8F94"/>
          </a:solidFill>
          <a:ln w="12700">
            <a:solidFill>
              <a:srgbClr val="1F8F94"/>
            </a:solidFill>
            <a:prstDash val="solid"/>
          </a:ln>
        </p:spPr>
      </p:sp>
      <p:pic>
        <p:nvPicPr>
          <p:cNvPr id="20" name="Image 2" descr="preencoded.png">    </p:cNvPr>
          <p:cNvPicPr>
            <a:picLocks noChangeAspect="1"/>
          </p:cNvPicPr>
          <p:nvPr/>
        </p:nvPicPr>
        <p:blipFill>
          <a:blip r:embed="rId4"/>
          <a:stretch>
            <a:fillRect/>
          </a:stretch>
        </p:blipFill>
        <p:spPr>
          <a:xfrm>
            <a:off x="6093562" y="1960474"/>
            <a:ext cx="285293" cy="285293"/>
          </a:xfrm>
          <a:prstGeom prst="rect">
            <a:avLst/>
          </a:prstGeom>
        </p:spPr>
      </p:pic>
      <p:sp>
        <p:nvSpPr>
          <p:cNvPr id="21" name="Text 16"/>
          <p:cNvSpPr/>
          <p:nvPr/>
        </p:nvSpPr>
        <p:spPr>
          <a:xfrm>
            <a:off x="5961888" y="2487168"/>
            <a:ext cx="2148840" cy="320040"/>
          </a:xfrm>
          <a:prstGeom prst="rect">
            <a:avLst/>
          </a:prstGeom>
          <a:noFill/>
          <a:ln/>
        </p:spPr>
        <p:txBody>
          <a:bodyPr wrap="square" lIns="0" tIns="0" rIns="0" bIns="0" rtlCol="0" anchor="t"/>
          <a:lstStyle/>
          <a:p>
            <a:pPr indent="0" marL="0">
              <a:buNone/>
            </a:pPr>
            <a:r>
              <a:rPr lang="en-US" sz="1500" b="1" dirty="0">
                <a:solidFill>
                  <a:srgbClr val="1F8F94"/>
                </a:solidFill>
                <a:latin typeface="Calibri" pitchFamily="34" charset="0"/>
                <a:ea typeface="Calibri" pitchFamily="34" charset="-122"/>
                <a:cs typeface="Calibri" pitchFamily="34" charset="-120"/>
              </a:rPr>
              <a:t>Kaggle (GPU T4)</a:t>
            </a:r>
            <a:endParaRPr lang="en-US" sz="1500" dirty="0"/>
          </a:p>
        </p:txBody>
      </p:sp>
      <p:sp>
        <p:nvSpPr>
          <p:cNvPr id="22" name="Text 17"/>
          <p:cNvSpPr/>
          <p:nvPr/>
        </p:nvSpPr>
        <p:spPr>
          <a:xfrm>
            <a:off x="5961888" y="2807208"/>
            <a:ext cx="2148840" cy="274320"/>
          </a:xfrm>
          <a:prstGeom prst="rect">
            <a:avLst/>
          </a:prstGeom>
          <a:noFill/>
          <a:ln/>
        </p:spPr>
        <p:txBody>
          <a:bodyPr wrap="square" lIns="0" tIns="0" rIns="0" bIns="0" rtlCol="0" anchor="t"/>
          <a:lstStyle/>
          <a:p>
            <a:pPr indent="0" marL="0">
              <a:buNone/>
            </a:pPr>
            <a:r>
              <a:rPr lang="en-US" sz="1150" dirty="0">
                <a:solidFill>
                  <a:srgbClr val="8C87AD"/>
                </a:solidFill>
                <a:latin typeface="Calibri" pitchFamily="34" charset="0"/>
                <a:ea typeface="Calibri" pitchFamily="34" charset="-122"/>
                <a:cs typeface="Calibri" pitchFamily="34" charset="-120"/>
              </a:rPr>
              <a:t>Training &amp; eksperimen</a:t>
            </a:r>
            <a:endParaRPr lang="en-US" sz="1150" dirty="0"/>
          </a:p>
        </p:txBody>
      </p:sp>
      <p:sp>
        <p:nvSpPr>
          <p:cNvPr id="23" name="Text 18"/>
          <p:cNvSpPr/>
          <p:nvPr/>
        </p:nvSpPr>
        <p:spPr>
          <a:xfrm>
            <a:off x="5961888" y="3200400"/>
            <a:ext cx="2148840" cy="21945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E1A3C"/>
                </a:solidFill>
                <a:latin typeface="Calibri" pitchFamily="34" charset="0"/>
                <a:ea typeface="Calibri" pitchFamily="34" charset="-122"/>
                <a:cs typeface="Calibri" pitchFamily="34" charset="-120"/>
              </a:rPr>
              <a:t>NB00 setup &amp; inventaris data</a:t>
            </a:r>
            <a:endParaRPr lang="en-US" sz="1150" dirty="0"/>
          </a:p>
          <a:p>
            <a:pPr marL="342900" indent="-342900">
              <a:spcAft>
                <a:spcPts val="400"/>
              </a:spcAft>
              <a:buSzPct val="100000"/>
              <a:buChar char="•"/>
            </a:pPr>
            <a:r>
              <a:rPr lang="en-US" sz="1150" dirty="0">
                <a:solidFill>
                  <a:srgbClr val="1E1A3C"/>
                </a:solidFill>
                <a:latin typeface="Calibri" pitchFamily="34" charset="0"/>
                <a:ea typeface="Calibri" pitchFamily="34" charset="-122"/>
                <a:cs typeface="Calibri" pitchFamily="34" charset="-120"/>
              </a:rPr>
              <a:t>NB01 PER + RTF, NB02 scratch CNN</a:t>
            </a:r>
            <a:endParaRPr lang="en-US" sz="1150" dirty="0"/>
          </a:p>
          <a:p>
            <a:pPr marL="342900" indent="-342900">
              <a:spcAft>
                <a:spcPts val="400"/>
              </a:spcAft>
              <a:buSzPct val="100000"/>
              <a:buChar char="•"/>
            </a:pPr>
            <a:r>
              <a:rPr lang="en-US" sz="1150" dirty="0">
                <a:solidFill>
                  <a:srgbClr val="1E1A3C"/>
                </a:solidFill>
                <a:latin typeface="Calibri" pitchFamily="34" charset="0"/>
                <a:ea typeface="Calibri" pitchFamily="34" charset="-122"/>
                <a:cs typeface="Calibri" pitchFamily="34" charset="-120"/>
              </a:rPr>
              <a:t>NB03 WER streaming, NB04 noise</a:t>
            </a:r>
            <a:endParaRPr lang="en-US" sz="1150" dirty="0"/>
          </a:p>
          <a:p>
            <a:pPr marL="342900" indent="-342900">
              <a:spcAft>
                <a:spcPts val="400"/>
              </a:spcAft>
              <a:buSzPct val="100000"/>
              <a:buChar char="•"/>
            </a:pPr>
            <a:r>
              <a:rPr lang="en-US" sz="1150" dirty="0">
                <a:solidFill>
                  <a:srgbClr val="1E1A3C"/>
                </a:solidFill>
                <a:latin typeface="Calibri" pitchFamily="34" charset="0"/>
                <a:ea typeface="Calibri" pitchFamily="34" charset="-122"/>
                <a:cs typeface="Calibri" pitchFamily="34" charset="-120"/>
              </a:rPr>
              <a:t>NB06 rekap results/*.json ke tabel</a:t>
            </a:r>
            <a:endParaRPr lang="en-US" sz="1150" dirty="0"/>
          </a:p>
        </p:txBody>
      </p:sp>
      <p:sp>
        <p:nvSpPr>
          <p:cNvPr id="24" name="Shape 19"/>
          <p:cNvSpPr/>
          <p:nvPr/>
        </p:nvSpPr>
        <p:spPr>
          <a:xfrm>
            <a:off x="8458200" y="1645920"/>
            <a:ext cx="3200400" cy="3840480"/>
          </a:xfrm>
          <a:prstGeom prst="roundRect">
            <a:avLst>
              <a:gd name="adj" fmla="val 4000"/>
            </a:avLst>
          </a:prstGeom>
          <a:solidFill>
            <a:srgbClr val="171233"/>
          </a:solidFill>
          <a:ln w="12700">
            <a:solidFill>
              <a:srgbClr val="171233"/>
            </a:solidFill>
            <a:prstDash val="solid"/>
          </a:ln>
          <a:effectLst>
            <a:outerShdw sx="100000" sy="100000" kx="0" ky="0" algn="bl" rotWithShape="0" blurRad="127000" dist="38100" dir="5400000">
              <a:srgbClr val="2A2050">
                <a:alpha val="14000"/>
              </a:srgbClr>
            </a:outerShdw>
          </a:effectLst>
        </p:spPr>
      </p:sp>
      <p:sp>
        <p:nvSpPr>
          <p:cNvPr id="25" name="Text 20"/>
          <p:cNvSpPr/>
          <p:nvPr/>
        </p:nvSpPr>
        <p:spPr>
          <a:xfrm>
            <a:off x="8686800" y="1810512"/>
            <a:ext cx="2743200" cy="320040"/>
          </a:xfrm>
          <a:prstGeom prst="rect">
            <a:avLst/>
          </a:prstGeom>
          <a:noFill/>
          <a:ln/>
        </p:spPr>
        <p:txBody>
          <a:bodyPr wrap="square" lIns="0" tIns="0" rIns="0" bIns="0" rtlCol="0" anchor="t"/>
          <a:lstStyle/>
          <a:p>
            <a:pPr indent="0" marL="0">
              <a:buNone/>
            </a:pPr>
            <a:r>
              <a:rPr lang="en-US" sz="1400" b="1" dirty="0">
                <a:solidFill>
                  <a:srgbClr val="FFD34D"/>
                </a:solidFill>
                <a:latin typeface="Calibri" pitchFamily="34" charset="0"/>
                <a:ea typeface="Calibri" pitchFamily="34" charset="-122"/>
                <a:cs typeface="Calibri" pitchFamily="34" charset="-120"/>
              </a:rPr>
              <a:t>Protokol JSON</a:t>
            </a:r>
            <a:endParaRPr lang="en-US" sz="1400" dirty="0"/>
          </a:p>
        </p:txBody>
      </p:sp>
      <p:sp>
        <p:nvSpPr>
          <p:cNvPr id="26" name="Text 21"/>
          <p:cNvSpPr/>
          <p:nvPr/>
        </p:nvSpPr>
        <p:spPr>
          <a:xfrm>
            <a:off x="8686800" y="2240280"/>
            <a:ext cx="2834640" cy="2011680"/>
          </a:xfrm>
          <a:prstGeom prst="rect">
            <a:avLst/>
          </a:prstGeom>
          <a:noFill/>
          <a:ln/>
        </p:spPr>
        <p:txBody>
          <a:bodyPr wrap="square" lIns="0" tIns="0" rIns="0" bIns="0" rtlCol="0" anchor="t"/>
          <a:lstStyle/>
          <a:p>
            <a:pPr indent="0" marL="0">
              <a:spcAft>
                <a:spcPts val="400"/>
              </a:spcAft>
              <a:buNone/>
            </a:pPr>
            <a:r>
              <a:rPr lang="en-US" sz="1150" dirty="0">
                <a:solidFill>
                  <a:srgbClr val="8C87AD"/>
                </a:solidFill>
                <a:latin typeface="Consolas" pitchFamily="34" charset="0"/>
                <a:ea typeface="Consolas" pitchFamily="34" charset="-122"/>
                <a:cs typeface="Consolas" pitchFamily="34" charset="-120"/>
              </a:rPr>
              <a:t>→ </a:t>
            </a:r>
            <a:pPr indent="0" marL="0">
              <a:spcAft>
                <a:spcPts val="400"/>
              </a:spcAft>
              <a:buNone/>
            </a:pPr>
            <a:r>
              <a:rPr lang="en-US" sz="1150" b="1" dirty="0">
                <a:solidFill>
                  <a:srgbClr val="7EF0C8"/>
                </a:solidFill>
                <a:latin typeface="Consolas" pitchFamily="34" charset="0"/>
                <a:ea typeface="Consolas" pitchFamily="34" charset="-122"/>
                <a:cs typeface="Consolas" pitchFamily="34" charset="-120"/>
              </a:rPr>
              <a:t>start</a:t>
            </a:r>
            <a:pPr indent="0" marL="0">
              <a:spcAft>
                <a:spcPts val="400"/>
              </a:spcAft>
              <a:buNone/>
            </a:pPr>
            <a:r>
              <a:rPr lang="en-US" sz="1150" dirty="0">
                <a:solidFill>
                  <a:srgbClr val="E9E4FF"/>
                </a:solidFill>
                <a:latin typeface="Consolas" pitchFamily="34" charset="0"/>
                <a:ea typeface="Consolas" pitchFamily="34" charset="-122"/>
                <a:cs typeface="Consolas" pitchFamily="34" charset="-120"/>
              </a:rPr>
              <a:t> {word}</a:t>
            </a:r>
            <a:endParaRPr lang="en-US" sz="1150" dirty="0"/>
          </a:p>
          <a:p>
            <a:pPr indent="0" marL="0">
              <a:spcAft>
                <a:spcPts val="400"/>
              </a:spcAft>
              <a:buNone/>
            </a:pPr>
            <a:r>
              <a:rPr lang="en-US" sz="1150" dirty="0">
                <a:solidFill>
                  <a:srgbClr val="8C87AD"/>
                </a:solidFill>
                <a:latin typeface="Consolas" pitchFamily="34" charset="0"/>
                <a:ea typeface="Consolas" pitchFamily="34" charset="-122"/>
                <a:cs typeface="Consolas" pitchFamily="34" charset="-120"/>
              </a:rPr>
              <a:t>← </a:t>
            </a:r>
            <a:pPr indent="0" marL="0">
              <a:spcAft>
                <a:spcPts val="400"/>
              </a:spcAft>
              <a:buNone/>
            </a:pPr>
            <a:r>
              <a:rPr lang="en-US" sz="1150" b="1" dirty="0">
                <a:solidFill>
                  <a:srgbClr val="7EF0C8"/>
                </a:solidFill>
                <a:latin typeface="Consolas" pitchFamily="34" charset="0"/>
                <a:ea typeface="Consolas" pitchFamily="34" charset="-122"/>
                <a:cs typeface="Consolas" pitchFamily="34" charset="-120"/>
              </a:rPr>
              <a:t>ready</a:t>
            </a:r>
            <a:pPr indent="0" marL="0">
              <a:spcAft>
                <a:spcPts val="400"/>
              </a:spcAft>
              <a:buNone/>
            </a:pPr>
            <a:r>
              <a:rPr lang="en-US" sz="1150" dirty="0">
                <a:solidFill>
                  <a:srgbClr val="E9E4FF"/>
                </a:solidFill>
                <a:latin typeface="Consolas" pitchFamily="34" charset="0"/>
                <a:ea typeface="Consolas" pitchFamily="34" charset="-122"/>
                <a:cs typeface="Consolas" pitchFamily="34" charset="-120"/>
              </a:rPr>
              <a:t> {target_ipa}</a:t>
            </a:r>
            <a:endParaRPr lang="en-US" sz="1150" dirty="0"/>
          </a:p>
          <a:p>
            <a:pPr indent="0" marL="0">
              <a:spcAft>
                <a:spcPts val="400"/>
              </a:spcAft>
              <a:buNone/>
            </a:pPr>
            <a:r>
              <a:rPr lang="en-US" sz="1150" dirty="0">
                <a:solidFill>
                  <a:srgbClr val="8C87AD"/>
                </a:solidFill>
                <a:latin typeface="Consolas" pitchFamily="34" charset="0"/>
                <a:ea typeface="Consolas" pitchFamily="34" charset="-122"/>
                <a:cs typeface="Consolas" pitchFamily="34" charset="-120"/>
              </a:rPr>
              <a:t>← </a:t>
            </a:r>
            <a:pPr indent="0" marL="0">
              <a:spcAft>
                <a:spcPts val="400"/>
              </a:spcAft>
              <a:buNone/>
            </a:pPr>
            <a:r>
              <a:rPr lang="en-US" sz="1150" b="1" dirty="0">
                <a:solidFill>
                  <a:srgbClr val="7EF0C8"/>
                </a:solidFill>
                <a:latin typeface="Consolas" pitchFamily="34" charset="0"/>
                <a:ea typeface="Consolas" pitchFamily="34" charset="-122"/>
                <a:cs typeface="Consolas" pitchFamily="34" charset="-120"/>
              </a:rPr>
              <a:t>partial</a:t>
            </a:r>
            <a:pPr indent="0" marL="0">
              <a:spcAft>
                <a:spcPts val="400"/>
              </a:spcAft>
              <a:buNone/>
            </a:pPr>
            <a:r>
              <a:rPr lang="en-US" sz="1150" dirty="0">
                <a:solidFill>
                  <a:srgbClr val="E9E4FF"/>
                </a:solidFill>
                <a:latin typeface="Consolas" pitchFamily="34" charset="0"/>
                <a:ea typeface="Consolas" pitchFamily="34" charset="-122"/>
                <a:cs typeface="Consolas" pitchFamily="34" charset="-120"/>
              </a:rPr>
              <a:t> {text} …</a:t>
            </a:r>
            <a:endParaRPr lang="en-US" sz="1150" dirty="0"/>
          </a:p>
          <a:p>
            <a:pPr indent="0" marL="0">
              <a:spcAft>
                <a:spcPts val="400"/>
              </a:spcAft>
              <a:buNone/>
            </a:pPr>
            <a:r>
              <a:rPr lang="en-US" sz="1150" dirty="0">
                <a:solidFill>
                  <a:srgbClr val="8C87AD"/>
                </a:solidFill>
                <a:latin typeface="Consolas" pitchFamily="34" charset="0"/>
                <a:ea typeface="Consolas" pitchFamily="34" charset="-122"/>
                <a:cs typeface="Consolas" pitchFamily="34" charset="-120"/>
              </a:rPr>
              <a:t>← </a:t>
            </a:r>
            <a:pPr indent="0" marL="0">
              <a:spcAft>
                <a:spcPts val="400"/>
              </a:spcAft>
              <a:buNone/>
            </a:pPr>
            <a:r>
              <a:rPr lang="en-US" sz="1150" b="1" dirty="0">
                <a:solidFill>
                  <a:srgbClr val="7EF0C8"/>
                </a:solidFill>
                <a:latin typeface="Consolas" pitchFamily="34" charset="0"/>
                <a:ea typeface="Consolas" pitchFamily="34" charset="-122"/>
                <a:cs typeface="Consolas" pitchFamily="34" charset="-120"/>
              </a:rPr>
              <a:t>endpoint</a:t>
            </a:r>
            <a:pPr indent="0" marL="0">
              <a:spcAft>
                <a:spcPts val="400"/>
              </a:spcAft>
              <a:buNone/>
            </a:pPr>
            <a:endParaRPr lang="en-US" sz="1150" dirty="0"/>
          </a:p>
          <a:p>
            <a:pPr indent="0" marL="0">
              <a:spcAft>
                <a:spcPts val="400"/>
              </a:spcAft>
              <a:buNone/>
            </a:pPr>
            <a:r>
              <a:rPr lang="en-US" sz="1150" dirty="0">
                <a:solidFill>
                  <a:srgbClr val="8C87AD"/>
                </a:solidFill>
                <a:latin typeface="Consolas" pitchFamily="34" charset="0"/>
                <a:ea typeface="Consolas" pitchFamily="34" charset="-122"/>
                <a:cs typeface="Consolas" pitchFamily="34" charset="-120"/>
              </a:rPr>
              <a:t>← </a:t>
            </a:r>
            <a:pPr indent="0" marL="0">
              <a:spcAft>
                <a:spcPts val="400"/>
              </a:spcAft>
              <a:buNone/>
            </a:pPr>
            <a:r>
              <a:rPr lang="en-US" sz="1150" b="1" dirty="0">
                <a:solidFill>
                  <a:srgbClr val="7EF0C8"/>
                </a:solidFill>
                <a:latin typeface="Consolas" pitchFamily="34" charset="0"/>
                <a:ea typeface="Consolas" pitchFamily="34" charset="-122"/>
                <a:cs typeface="Consolas" pitchFamily="34" charset="-120"/>
              </a:rPr>
              <a:t>score</a:t>
            </a:r>
            <a:pPr indent="0" marL="0">
              <a:spcAft>
                <a:spcPts val="400"/>
              </a:spcAft>
              <a:buNone/>
            </a:pPr>
            <a:r>
              <a:rPr lang="en-US" sz="1150" dirty="0">
                <a:solidFill>
                  <a:srgbClr val="E9E4FF"/>
                </a:solidFill>
                <a:latin typeface="Consolas" pitchFamily="34" charset="0"/>
                <a:ea typeface="Consolas" pitchFamily="34" charset="-122"/>
                <a:cs typeface="Consolas" pitchFamily="34" charset="-120"/>
              </a:rPr>
              <a:t> {per,S,D,I,N,</a:t>
            </a:r>
            <a:endParaRPr lang="en-US" sz="1150" dirty="0"/>
          </a:p>
          <a:p>
            <a:pPr indent="0" marL="0">
              <a:spcAft>
                <a:spcPts val="400"/>
              </a:spcAft>
              <a:buNone/>
            </a:pPr>
            <a:r>
              <a:rPr lang="en-US" sz="1150" dirty="0">
                <a:solidFill>
                  <a:srgbClr val="8C87AD"/>
                </a:solidFill>
                <a:latin typeface="Consolas" pitchFamily="34" charset="0"/>
                <a:ea typeface="Consolas" pitchFamily="34" charset="-122"/>
                <a:cs typeface="Consolas" pitchFamily="34" charset="-120"/>
              </a:rPr>
              <a:t>   </a:t>
            </a:r>
            <a:pPr indent="0" marL="0">
              <a:spcAft>
                <a:spcPts val="400"/>
              </a:spcAft>
              <a:buNone/>
            </a:pPr>
            <a:pPr indent="0" marL="0">
              <a:spcAft>
                <a:spcPts val="400"/>
              </a:spcAft>
              <a:buNone/>
            </a:pPr>
            <a:r>
              <a:rPr lang="en-US" sz="1150" dirty="0">
                <a:solidFill>
                  <a:srgbClr val="E9E4FF"/>
                </a:solidFill>
                <a:latin typeface="Consolas" pitchFamily="34" charset="0"/>
                <a:ea typeface="Consolas" pitchFamily="34" charset="-122"/>
                <a:cs typeface="Consolas" pitchFamily="34" charset="-120"/>
              </a:rPr>
              <a:t>  heard_ipa, errors}</a:t>
            </a:r>
            <a:endParaRPr lang="en-US" sz="1150" dirty="0"/>
          </a:p>
        </p:txBody>
      </p:sp>
      <p:sp>
        <p:nvSpPr>
          <p:cNvPr id="27" name="Text 22"/>
          <p:cNvSpPr/>
          <p:nvPr/>
        </p:nvSpPr>
        <p:spPr>
          <a:xfrm>
            <a:off x="8686800" y="4160520"/>
            <a:ext cx="2788920" cy="1188720"/>
          </a:xfrm>
          <a:prstGeom prst="rect">
            <a:avLst/>
          </a:prstGeom>
          <a:noFill/>
          <a:ln/>
        </p:spPr>
        <p:txBody>
          <a:bodyPr wrap="square" lIns="0" tIns="0" rIns="0" bIns="0" rtlCol="0" anchor="t"/>
          <a:lstStyle/>
          <a:p>
            <a:pPr indent="0" marL="0">
              <a:buNone/>
            </a:pPr>
            <a:r>
              <a:rPr lang="en-US" sz="1150" b="1" dirty="0">
                <a:solidFill>
                  <a:srgbClr val="FFD34D"/>
                </a:solidFill>
                <a:latin typeface="Calibri" pitchFamily="34" charset="0"/>
                <a:ea typeface="Calibri" pitchFamily="34" charset="-122"/>
                <a:cs typeface="Calibri" pitchFamily="34" charset="-120"/>
              </a:rPr>
              <a:t>Mode sekarang: mock. </a:t>
            </a:r>
            <a:pPr indent="0" marL="0">
              <a:buNone/>
            </a:pPr>
            <a:r>
              <a:rPr lang="en-US" sz="1150" dirty="0">
                <a:solidFill>
                  <a:srgbClr val="E9E4FF"/>
                </a:solidFill>
                <a:latin typeface="Calibri" pitchFamily="34" charset="0"/>
                <a:ea typeface="Calibri" pitchFamily="34" charset="-122"/>
                <a:cs typeface="Calibri" pitchFamily="34" charset="-120"/>
              </a:rPr>
              <a:t>Semua pesan dari mock server bawa "mock": true, jadi nggak pernah dihitung sebagai hasil.</a:t>
            </a:r>
            <a:endParaRPr lang="en-US" sz="1150" dirty="0"/>
          </a:p>
        </p:txBody>
      </p:sp>
      <p:sp>
        <p:nvSpPr>
          <p:cNvPr id="28" name="Shape 23"/>
          <p:cNvSpPr/>
          <p:nvPr/>
        </p:nvSpPr>
        <p:spPr>
          <a:xfrm>
            <a:off x="548640" y="5669280"/>
            <a:ext cx="11109960" cy="548640"/>
          </a:xfrm>
          <a:prstGeom prst="roundRect">
            <a:avLst>
              <a:gd name="adj" fmla="val 23333"/>
            </a:avLst>
          </a:prstGeom>
          <a:solidFill>
            <a:srgbClr val="EEE9FF"/>
          </a:solidFill>
          <a:ln w="12700">
            <a:solidFill>
              <a:srgbClr val="EEE9FF"/>
            </a:solidFill>
            <a:prstDash val="solid"/>
          </a:ln>
        </p:spPr>
      </p:sp>
      <p:sp>
        <p:nvSpPr>
          <p:cNvPr id="29" name="Text 24"/>
          <p:cNvSpPr/>
          <p:nvPr/>
        </p:nvSpPr>
        <p:spPr>
          <a:xfrm>
            <a:off x="731520" y="5715000"/>
            <a:ext cx="10789920" cy="457200"/>
          </a:xfrm>
          <a:prstGeom prst="rect">
            <a:avLst/>
          </a:prstGeom>
          <a:noFill/>
          <a:ln/>
        </p:spPr>
        <p:txBody>
          <a:bodyPr wrap="square" lIns="0" tIns="0" rIns="0" bIns="0" rtlCol="0" anchor="ctr"/>
          <a:lstStyle/>
          <a:p>
            <a:pPr indent="0" marL="0">
              <a:buNone/>
            </a:pPr>
            <a:r>
              <a:rPr lang="en-US" sz="1250" b="1" dirty="0">
                <a:solidFill>
                  <a:srgbClr val="4C3FB8"/>
                </a:solidFill>
                <a:latin typeface="Calibri" pitchFamily="34" charset="0"/>
                <a:ea typeface="Calibri" pitchFamily="34" charset="-122"/>
                <a:cs typeface="Calibri" pitchFamily="34" charset="-120"/>
              </a:rPr>
              <a:t>Prinsip: </a:t>
            </a:r>
            <a:pPr indent="0" marL="0">
              <a:buNone/>
            </a:pPr>
            <a:r>
              <a:rPr lang="en-US" sz="1250" dirty="0">
                <a:solidFill>
                  <a:srgbClr val="1E1A3C"/>
                </a:solidFill>
                <a:latin typeface="Calibri" pitchFamily="34" charset="0"/>
                <a:ea typeface="Calibri" pitchFamily="34" charset="-122"/>
                <a:cs typeface="Calibri" pitchFamily="34" charset="-120"/>
              </a:rPr>
              <a:t>100% inferensi lokal  ·  mic di Python, bukan di Godot  ·  model load sekali  ·  nggak ada API speech/LLM eksternal</a:t>
            </a:r>
            <a:endParaRPr lang="en-US" sz="12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965960" cy="292608"/>
          </a:xfrm>
          <a:prstGeom prst="roundRect">
            <a:avLst>
              <a:gd name="adj" fmla="val 50000"/>
            </a:avLst>
          </a:prstGeom>
          <a:solidFill>
            <a:srgbClr val="1F8F94"/>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III · PROGRESS</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1E1A3C"/>
                </a:solidFill>
                <a:latin typeface="Georgia" pitchFamily="34" charset="0"/>
                <a:ea typeface="Georgia" pitchFamily="34" charset="-122"/>
                <a:cs typeface="Georgia" pitchFamily="34" charset="-120"/>
              </a:rPr>
              <a:t>Progress sejauh ini</a:t>
            </a:r>
            <a:endParaRPr lang="en-US" sz="30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548640" y="1645920"/>
            <a:ext cx="1005840" cy="384048"/>
          </a:xfrm>
          <a:prstGeom prst="roundRect">
            <a:avLst>
              <a:gd name="adj" fmla="val 23810"/>
            </a:avLst>
          </a:prstGeom>
          <a:solidFill>
            <a:srgbClr val="E9A92B"/>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P0</a:t>
            </a:r>
            <a:endParaRPr lang="en-US" sz="1300" dirty="0"/>
          </a:p>
        </p:txBody>
      </p:sp>
      <p:sp>
        <p:nvSpPr>
          <p:cNvPr id="7" name="Text 5"/>
          <p:cNvSpPr/>
          <p:nvPr/>
        </p:nvSpPr>
        <p:spPr>
          <a:xfrm>
            <a:off x="548640" y="2075688"/>
            <a:ext cx="1005840" cy="274320"/>
          </a:xfrm>
          <a:prstGeom prst="rect">
            <a:avLst/>
          </a:prstGeom>
          <a:noFill/>
          <a:ln/>
        </p:spPr>
        <p:txBody>
          <a:bodyPr wrap="square" lIns="0" tIns="0" rIns="0" bIns="0" rtlCol="0" anchor="t"/>
          <a:lstStyle/>
          <a:p>
            <a:pPr algn="ctr" indent="0" marL="0">
              <a:buNone/>
            </a:pPr>
            <a:r>
              <a:rPr lang="en-US" sz="1050" dirty="0">
                <a:solidFill>
                  <a:srgbClr val="5E5A7E"/>
                </a:solidFill>
                <a:latin typeface="Calibri" pitchFamily="34" charset="0"/>
                <a:ea typeface="Calibri" pitchFamily="34" charset="-122"/>
                <a:cs typeface="Calibri" pitchFamily="34" charset="-120"/>
              </a:rPr>
              <a:t>Setup</a:t>
            </a:r>
            <a:endParaRPr lang="en-US" sz="1050" dirty="0"/>
          </a:p>
        </p:txBody>
      </p:sp>
      <p:sp>
        <p:nvSpPr>
          <p:cNvPr id="8" name="Text 6"/>
          <p:cNvSpPr/>
          <p:nvPr/>
        </p:nvSpPr>
        <p:spPr>
          <a:xfrm>
            <a:off x="1662379" y="1645920"/>
            <a:ext cx="1005840" cy="384048"/>
          </a:xfrm>
          <a:prstGeom prst="roundRect">
            <a:avLst>
              <a:gd name="adj" fmla="val 23810"/>
            </a:avLst>
          </a:prstGeom>
          <a:solidFill>
            <a:srgbClr val="E9A92B"/>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P1</a:t>
            </a:r>
            <a:endParaRPr lang="en-US" sz="1300" dirty="0"/>
          </a:p>
        </p:txBody>
      </p:sp>
      <p:sp>
        <p:nvSpPr>
          <p:cNvPr id="9" name="Text 7"/>
          <p:cNvSpPr/>
          <p:nvPr/>
        </p:nvSpPr>
        <p:spPr>
          <a:xfrm>
            <a:off x="1662379" y="2075688"/>
            <a:ext cx="1005840" cy="274320"/>
          </a:xfrm>
          <a:prstGeom prst="rect">
            <a:avLst/>
          </a:prstGeom>
          <a:noFill/>
          <a:ln/>
        </p:spPr>
        <p:txBody>
          <a:bodyPr wrap="square" lIns="0" tIns="0" rIns="0" bIns="0" rtlCol="0" anchor="t"/>
          <a:lstStyle/>
          <a:p>
            <a:pPr algn="ctr" indent="0" marL="0">
              <a:buNone/>
            </a:pPr>
            <a:r>
              <a:rPr lang="en-US" sz="1050" dirty="0">
                <a:solidFill>
                  <a:srgbClr val="5E5A7E"/>
                </a:solidFill>
                <a:latin typeface="Calibri" pitchFamily="34" charset="0"/>
                <a:ea typeface="Calibri" pitchFamily="34" charset="-122"/>
                <a:cs typeface="Calibri" pitchFamily="34" charset="-120"/>
              </a:rPr>
              <a:t>Gate RTF</a:t>
            </a:r>
            <a:endParaRPr lang="en-US" sz="1050" dirty="0"/>
          </a:p>
        </p:txBody>
      </p:sp>
      <p:sp>
        <p:nvSpPr>
          <p:cNvPr id="10" name="Text 8"/>
          <p:cNvSpPr/>
          <p:nvPr/>
        </p:nvSpPr>
        <p:spPr>
          <a:xfrm>
            <a:off x="2776118" y="1645920"/>
            <a:ext cx="1005840" cy="384048"/>
          </a:xfrm>
          <a:prstGeom prst="roundRect">
            <a:avLst>
              <a:gd name="adj" fmla="val 23810"/>
            </a:avLst>
          </a:prstGeom>
          <a:solidFill>
            <a:srgbClr val="E9A92B"/>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P2</a:t>
            </a:r>
            <a:endParaRPr lang="en-US" sz="1300" dirty="0"/>
          </a:p>
        </p:txBody>
      </p:sp>
      <p:sp>
        <p:nvSpPr>
          <p:cNvPr id="11" name="Text 9"/>
          <p:cNvSpPr/>
          <p:nvPr/>
        </p:nvSpPr>
        <p:spPr>
          <a:xfrm>
            <a:off x="2776118" y="2075688"/>
            <a:ext cx="1005840" cy="274320"/>
          </a:xfrm>
          <a:prstGeom prst="rect">
            <a:avLst/>
          </a:prstGeom>
          <a:noFill/>
          <a:ln/>
        </p:spPr>
        <p:txBody>
          <a:bodyPr wrap="square" lIns="0" tIns="0" rIns="0" bIns="0" rtlCol="0" anchor="t"/>
          <a:lstStyle/>
          <a:p>
            <a:pPr algn="ctr" indent="0" marL="0">
              <a:buNone/>
            </a:pPr>
            <a:r>
              <a:rPr lang="en-US" sz="1050" dirty="0">
                <a:solidFill>
                  <a:srgbClr val="5E5A7E"/>
                </a:solidFill>
                <a:latin typeface="Calibri" pitchFamily="34" charset="0"/>
                <a:ea typeface="Calibri" pitchFamily="34" charset="-122"/>
                <a:cs typeface="Calibri" pitchFamily="34" charset="-120"/>
              </a:rPr>
              <a:t>Data v1</a:t>
            </a:r>
            <a:endParaRPr lang="en-US" sz="1050" dirty="0"/>
          </a:p>
        </p:txBody>
      </p:sp>
      <p:sp>
        <p:nvSpPr>
          <p:cNvPr id="12" name="Text 10"/>
          <p:cNvSpPr/>
          <p:nvPr/>
        </p:nvSpPr>
        <p:spPr>
          <a:xfrm>
            <a:off x="3889858" y="1645920"/>
            <a:ext cx="1005840" cy="384048"/>
          </a:xfrm>
          <a:prstGeom prst="roundRect">
            <a:avLst>
              <a:gd name="adj" fmla="val 23810"/>
            </a:avLst>
          </a:prstGeom>
          <a:solidFill>
            <a:srgbClr val="C9C3E3"/>
          </a:solid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P3</a:t>
            </a:r>
            <a:endParaRPr lang="en-US" sz="1300" dirty="0"/>
          </a:p>
        </p:txBody>
      </p:sp>
      <p:sp>
        <p:nvSpPr>
          <p:cNvPr id="13" name="Text 11"/>
          <p:cNvSpPr/>
          <p:nvPr/>
        </p:nvSpPr>
        <p:spPr>
          <a:xfrm>
            <a:off x="3889858" y="2075688"/>
            <a:ext cx="1005840" cy="274320"/>
          </a:xfrm>
          <a:prstGeom prst="rect">
            <a:avLst/>
          </a:prstGeom>
          <a:noFill/>
          <a:ln/>
        </p:spPr>
        <p:txBody>
          <a:bodyPr wrap="square" lIns="0" tIns="0" rIns="0" bIns="0" rtlCol="0" anchor="t"/>
          <a:lstStyle/>
          <a:p>
            <a:pPr algn="ctr" indent="0" marL="0">
              <a:buNone/>
            </a:pPr>
            <a:r>
              <a:rPr lang="en-US" sz="1050" dirty="0">
                <a:solidFill>
                  <a:srgbClr val="5E5A7E"/>
                </a:solidFill>
                <a:latin typeface="Calibri" pitchFamily="34" charset="0"/>
                <a:ea typeface="Calibri" pitchFamily="34" charset="-122"/>
                <a:cs typeface="Calibri" pitchFamily="34" charset="-120"/>
              </a:rPr>
              <a:t>Jalur B</a:t>
            </a:r>
            <a:endParaRPr lang="en-US" sz="1050" dirty="0"/>
          </a:p>
        </p:txBody>
      </p:sp>
      <p:sp>
        <p:nvSpPr>
          <p:cNvPr id="14" name="Text 12"/>
          <p:cNvSpPr/>
          <p:nvPr/>
        </p:nvSpPr>
        <p:spPr>
          <a:xfrm>
            <a:off x="5003597" y="1645920"/>
            <a:ext cx="1005840" cy="384048"/>
          </a:xfrm>
          <a:prstGeom prst="roundRect">
            <a:avLst>
              <a:gd name="adj" fmla="val 23810"/>
            </a:avLst>
          </a:prstGeom>
          <a:solidFill>
            <a:srgbClr val="C9C3E3"/>
          </a:solid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P4</a:t>
            </a:r>
            <a:endParaRPr lang="en-US" sz="1300" dirty="0"/>
          </a:p>
        </p:txBody>
      </p:sp>
      <p:sp>
        <p:nvSpPr>
          <p:cNvPr id="15" name="Text 13"/>
          <p:cNvSpPr/>
          <p:nvPr/>
        </p:nvSpPr>
        <p:spPr>
          <a:xfrm>
            <a:off x="5003597" y="2075688"/>
            <a:ext cx="1005840" cy="274320"/>
          </a:xfrm>
          <a:prstGeom prst="rect">
            <a:avLst/>
          </a:prstGeom>
          <a:noFill/>
          <a:ln/>
        </p:spPr>
        <p:txBody>
          <a:bodyPr wrap="square" lIns="0" tIns="0" rIns="0" bIns="0" rtlCol="0" anchor="t"/>
          <a:lstStyle/>
          <a:p>
            <a:pPr algn="ctr" indent="0" marL="0">
              <a:buNone/>
            </a:pPr>
            <a:r>
              <a:rPr lang="en-US" sz="1050" dirty="0">
                <a:solidFill>
                  <a:srgbClr val="5E5A7E"/>
                </a:solidFill>
                <a:latin typeface="Calibri" pitchFamily="34" charset="0"/>
                <a:ea typeface="Calibri" pitchFamily="34" charset="-122"/>
                <a:cs typeface="Calibri" pitchFamily="34" charset="-120"/>
              </a:rPr>
              <a:t>Jalur A</a:t>
            </a:r>
            <a:endParaRPr lang="en-US" sz="1050" dirty="0"/>
          </a:p>
        </p:txBody>
      </p:sp>
      <p:sp>
        <p:nvSpPr>
          <p:cNvPr id="16" name="Text 14"/>
          <p:cNvSpPr/>
          <p:nvPr/>
        </p:nvSpPr>
        <p:spPr>
          <a:xfrm>
            <a:off x="6117336" y="1645920"/>
            <a:ext cx="1005840" cy="384048"/>
          </a:xfrm>
          <a:prstGeom prst="roundRect">
            <a:avLst>
              <a:gd name="adj" fmla="val 23810"/>
            </a:avLst>
          </a:prstGeom>
          <a:solidFill>
            <a:srgbClr val="C9C3E3"/>
          </a:solid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P5</a:t>
            </a:r>
            <a:endParaRPr lang="en-US" sz="1300" dirty="0"/>
          </a:p>
        </p:txBody>
      </p:sp>
      <p:sp>
        <p:nvSpPr>
          <p:cNvPr id="17" name="Text 15"/>
          <p:cNvSpPr/>
          <p:nvPr/>
        </p:nvSpPr>
        <p:spPr>
          <a:xfrm>
            <a:off x="6117336" y="2075688"/>
            <a:ext cx="1005840" cy="274320"/>
          </a:xfrm>
          <a:prstGeom prst="rect">
            <a:avLst/>
          </a:prstGeom>
          <a:noFill/>
          <a:ln/>
        </p:spPr>
        <p:txBody>
          <a:bodyPr wrap="square" lIns="0" tIns="0" rIns="0" bIns="0" rtlCol="0" anchor="t"/>
          <a:lstStyle/>
          <a:p>
            <a:pPr algn="ctr" indent="0" marL="0">
              <a:buNone/>
            </a:pPr>
            <a:r>
              <a:rPr lang="en-US" sz="1050" dirty="0">
                <a:solidFill>
                  <a:srgbClr val="5E5A7E"/>
                </a:solidFill>
                <a:latin typeface="Calibri" pitchFamily="34" charset="0"/>
                <a:ea typeface="Calibri" pitchFamily="34" charset="-122"/>
                <a:cs typeface="Calibri" pitchFamily="34" charset="-120"/>
              </a:rPr>
              <a:t>VAD</a:t>
            </a:r>
            <a:endParaRPr lang="en-US" sz="1050" dirty="0"/>
          </a:p>
        </p:txBody>
      </p:sp>
      <p:sp>
        <p:nvSpPr>
          <p:cNvPr id="18" name="Text 16"/>
          <p:cNvSpPr/>
          <p:nvPr/>
        </p:nvSpPr>
        <p:spPr>
          <a:xfrm>
            <a:off x="7231075" y="1645920"/>
            <a:ext cx="1005840" cy="384048"/>
          </a:xfrm>
          <a:prstGeom prst="roundRect">
            <a:avLst>
              <a:gd name="adj" fmla="val 23810"/>
            </a:avLst>
          </a:prstGeom>
          <a:solidFill>
            <a:srgbClr val="C9C3E3"/>
          </a:solid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P6</a:t>
            </a:r>
            <a:endParaRPr lang="en-US" sz="1300" dirty="0"/>
          </a:p>
        </p:txBody>
      </p:sp>
      <p:sp>
        <p:nvSpPr>
          <p:cNvPr id="19" name="Text 17"/>
          <p:cNvSpPr/>
          <p:nvPr/>
        </p:nvSpPr>
        <p:spPr>
          <a:xfrm>
            <a:off x="7231075" y="2075688"/>
            <a:ext cx="1005840" cy="274320"/>
          </a:xfrm>
          <a:prstGeom prst="rect">
            <a:avLst/>
          </a:prstGeom>
          <a:noFill/>
          <a:ln/>
        </p:spPr>
        <p:txBody>
          <a:bodyPr wrap="square" lIns="0" tIns="0" rIns="0" bIns="0" rtlCol="0" anchor="t"/>
          <a:lstStyle/>
          <a:p>
            <a:pPr algn="ctr" indent="0" marL="0">
              <a:buNone/>
            </a:pPr>
            <a:r>
              <a:rPr lang="en-US" sz="1050" dirty="0">
                <a:solidFill>
                  <a:srgbClr val="5E5A7E"/>
                </a:solidFill>
                <a:latin typeface="Calibri" pitchFamily="34" charset="0"/>
                <a:ea typeface="Calibri" pitchFamily="34" charset="-122"/>
                <a:cs typeface="Calibri" pitchFamily="34" charset="-120"/>
              </a:rPr>
              <a:t>Game loop</a:t>
            </a:r>
            <a:endParaRPr lang="en-US" sz="1050" dirty="0"/>
          </a:p>
        </p:txBody>
      </p:sp>
      <p:sp>
        <p:nvSpPr>
          <p:cNvPr id="20" name="Text 18"/>
          <p:cNvSpPr/>
          <p:nvPr/>
        </p:nvSpPr>
        <p:spPr>
          <a:xfrm>
            <a:off x="8344814" y="1645920"/>
            <a:ext cx="1005840" cy="384048"/>
          </a:xfrm>
          <a:prstGeom prst="roundRect">
            <a:avLst>
              <a:gd name="adj" fmla="val 23810"/>
            </a:avLst>
          </a:prstGeom>
          <a:solidFill>
            <a:srgbClr val="C9C3E3"/>
          </a:solid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P7</a:t>
            </a:r>
            <a:endParaRPr lang="en-US" sz="1300" dirty="0"/>
          </a:p>
        </p:txBody>
      </p:sp>
      <p:sp>
        <p:nvSpPr>
          <p:cNvPr id="21" name="Text 19"/>
          <p:cNvSpPr/>
          <p:nvPr/>
        </p:nvSpPr>
        <p:spPr>
          <a:xfrm>
            <a:off x="8344814" y="2075688"/>
            <a:ext cx="1005840" cy="274320"/>
          </a:xfrm>
          <a:prstGeom prst="rect">
            <a:avLst/>
          </a:prstGeom>
          <a:noFill/>
          <a:ln/>
        </p:spPr>
        <p:txBody>
          <a:bodyPr wrap="square" lIns="0" tIns="0" rIns="0" bIns="0" rtlCol="0" anchor="t"/>
          <a:lstStyle/>
          <a:p>
            <a:pPr algn="ctr" indent="0" marL="0">
              <a:buNone/>
            </a:pPr>
            <a:r>
              <a:rPr lang="en-US" sz="1050" dirty="0">
                <a:solidFill>
                  <a:srgbClr val="5E5A7E"/>
                </a:solidFill>
                <a:latin typeface="Calibri" pitchFamily="34" charset="0"/>
                <a:ea typeface="Calibri" pitchFamily="34" charset="-122"/>
                <a:cs typeface="Calibri" pitchFamily="34" charset="-120"/>
              </a:rPr>
              <a:t>Eksperimen</a:t>
            </a:r>
            <a:endParaRPr lang="en-US" sz="1050" dirty="0"/>
          </a:p>
        </p:txBody>
      </p:sp>
      <p:sp>
        <p:nvSpPr>
          <p:cNvPr id="22" name="Text 20"/>
          <p:cNvSpPr/>
          <p:nvPr/>
        </p:nvSpPr>
        <p:spPr>
          <a:xfrm>
            <a:off x="9458554" y="1645920"/>
            <a:ext cx="1005840" cy="384048"/>
          </a:xfrm>
          <a:prstGeom prst="roundRect">
            <a:avLst>
              <a:gd name="adj" fmla="val 23810"/>
            </a:avLst>
          </a:prstGeom>
          <a:solidFill>
            <a:srgbClr val="C9C3E3"/>
          </a:solid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P8</a:t>
            </a:r>
            <a:endParaRPr lang="en-US" sz="1300" dirty="0"/>
          </a:p>
        </p:txBody>
      </p:sp>
      <p:sp>
        <p:nvSpPr>
          <p:cNvPr id="23" name="Text 21"/>
          <p:cNvSpPr/>
          <p:nvPr/>
        </p:nvSpPr>
        <p:spPr>
          <a:xfrm>
            <a:off x="9458554" y="2075688"/>
            <a:ext cx="1005840" cy="274320"/>
          </a:xfrm>
          <a:prstGeom prst="rect">
            <a:avLst/>
          </a:prstGeom>
          <a:noFill/>
          <a:ln/>
        </p:spPr>
        <p:txBody>
          <a:bodyPr wrap="square" lIns="0" tIns="0" rIns="0" bIns="0" rtlCol="0" anchor="t"/>
          <a:lstStyle/>
          <a:p>
            <a:pPr algn="ctr" indent="0" marL="0">
              <a:buNone/>
            </a:pPr>
            <a:r>
              <a:rPr lang="en-US" sz="1050" dirty="0">
                <a:solidFill>
                  <a:srgbClr val="5E5A7E"/>
                </a:solidFill>
                <a:latin typeface="Calibri" pitchFamily="34" charset="0"/>
                <a:ea typeface="Calibri" pitchFamily="34" charset="-122"/>
                <a:cs typeface="Calibri" pitchFamily="34" charset="-120"/>
              </a:rPr>
              <a:t>User test</a:t>
            </a:r>
            <a:endParaRPr lang="en-US" sz="1050" dirty="0"/>
          </a:p>
        </p:txBody>
      </p:sp>
      <p:sp>
        <p:nvSpPr>
          <p:cNvPr id="24" name="Text 22"/>
          <p:cNvSpPr/>
          <p:nvPr/>
        </p:nvSpPr>
        <p:spPr>
          <a:xfrm>
            <a:off x="10572293" y="1645920"/>
            <a:ext cx="1005840" cy="384048"/>
          </a:xfrm>
          <a:prstGeom prst="roundRect">
            <a:avLst>
              <a:gd name="adj" fmla="val 23810"/>
            </a:avLst>
          </a:prstGeom>
          <a:solidFill>
            <a:srgbClr val="C9C3E3"/>
          </a:solidFill>
          <a:ln/>
        </p:spPr>
        <p:txBody>
          <a:bodyPr wrap="square" lIns="0" tIns="0" rIns="0" bIns="0" rtlCol="0" anchor="ctr"/>
          <a:lstStyle/>
          <a:p>
            <a:pPr algn="ctr" indent="0" marL="0">
              <a:buNone/>
            </a:pPr>
            <a:r>
              <a:rPr lang="en-US" sz="1300" b="1" dirty="0">
                <a:solidFill>
                  <a:srgbClr val="1E1A3C"/>
                </a:solidFill>
                <a:latin typeface="Calibri" pitchFamily="34" charset="0"/>
                <a:ea typeface="Calibri" pitchFamily="34" charset="-122"/>
                <a:cs typeface="Calibri" pitchFamily="34" charset="-120"/>
              </a:rPr>
              <a:t>P9</a:t>
            </a:r>
            <a:endParaRPr lang="en-US" sz="1300" dirty="0"/>
          </a:p>
        </p:txBody>
      </p:sp>
      <p:sp>
        <p:nvSpPr>
          <p:cNvPr id="25" name="Text 23"/>
          <p:cNvSpPr/>
          <p:nvPr/>
        </p:nvSpPr>
        <p:spPr>
          <a:xfrm>
            <a:off x="10572293" y="2075688"/>
            <a:ext cx="1005840" cy="274320"/>
          </a:xfrm>
          <a:prstGeom prst="rect">
            <a:avLst/>
          </a:prstGeom>
          <a:noFill/>
          <a:ln/>
        </p:spPr>
        <p:txBody>
          <a:bodyPr wrap="square" lIns="0" tIns="0" rIns="0" bIns="0" rtlCol="0" anchor="t"/>
          <a:lstStyle/>
          <a:p>
            <a:pPr algn="ctr" indent="0" marL="0">
              <a:buNone/>
            </a:pPr>
            <a:r>
              <a:rPr lang="en-US" sz="1050" dirty="0">
                <a:solidFill>
                  <a:srgbClr val="5E5A7E"/>
                </a:solidFill>
                <a:latin typeface="Calibri" pitchFamily="34" charset="0"/>
                <a:ea typeface="Calibri" pitchFamily="34" charset="-122"/>
                <a:cs typeface="Calibri" pitchFamily="34" charset="-120"/>
              </a:rPr>
              <a:t>Report</a:t>
            </a:r>
            <a:endParaRPr lang="en-US" sz="1050" dirty="0"/>
          </a:p>
        </p:txBody>
      </p:sp>
      <p:sp>
        <p:nvSpPr>
          <p:cNvPr id="26" name="Text 24"/>
          <p:cNvSpPr/>
          <p:nvPr/>
        </p:nvSpPr>
        <p:spPr>
          <a:xfrm>
            <a:off x="8595360" y="2377440"/>
            <a:ext cx="3063240" cy="228600"/>
          </a:xfrm>
          <a:prstGeom prst="rect">
            <a:avLst/>
          </a:prstGeom>
          <a:noFill/>
          <a:ln/>
        </p:spPr>
        <p:txBody>
          <a:bodyPr wrap="square" lIns="0" tIns="0" rIns="0" bIns="0" rtlCol="0" anchor="ctr"/>
          <a:lstStyle/>
          <a:p>
            <a:pPr algn="r" indent="0" marL="0">
              <a:buNone/>
            </a:pPr>
            <a:r>
              <a:rPr lang="en-US" sz="950" dirty="0">
                <a:solidFill>
                  <a:srgbClr val="8C87AD"/>
                </a:solidFill>
                <a:latin typeface="Calibri" pitchFamily="34" charset="0"/>
                <a:ea typeface="Calibri" pitchFamily="34" charset="-122"/>
                <a:cs typeface="Calibri" pitchFamily="34" charset="-120"/>
              </a:rPr>
              <a:t>■ jalan sebagian   ■ belum mulai</a:t>
            </a:r>
            <a:endParaRPr lang="en-US" sz="950" dirty="0"/>
          </a:p>
        </p:txBody>
      </p:sp>
      <p:sp>
        <p:nvSpPr>
          <p:cNvPr id="27" name="Shape 25"/>
          <p:cNvSpPr/>
          <p:nvPr/>
        </p:nvSpPr>
        <p:spPr>
          <a:xfrm>
            <a:off x="548640" y="2788920"/>
            <a:ext cx="3566160" cy="3383280"/>
          </a:xfrm>
          <a:prstGeom prst="roundRect">
            <a:avLst>
              <a:gd name="adj" fmla="val 3784"/>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28" name="Shape 26"/>
          <p:cNvSpPr/>
          <p:nvPr/>
        </p:nvSpPr>
        <p:spPr>
          <a:xfrm>
            <a:off x="749808" y="2971800"/>
            <a:ext cx="457200" cy="457200"/>
          </a:xfrm>
          <a:prstGeom prst="ellipse">
            <a:avLst/>
          </a:prstGeom>
          <a:solidFill>
            <a:srgbClr val="2E9E62"/>
          </a:solidFill>
          <a:ln w="12700">
            <a:solidFill>
              <a:srgbClr val="2E9E62"/>
            </a:solidFill>
            <a:prstDash val="solid"/>
          </a:ln>
        </p:spPr>
      </p:sp>
      <p:pic>
        <p:nvPicPr>
          <p:cNvPr id="29" name="Image 0" descr="preencoded.png">    </p:cNvPr>
          <p:cNvPicPr>
            <a:picLocks noChangeAspect="1"/>
          </p:cNvPicPr>
          <p:nvPr/>
        </p:nvPicPr>
        <p:blipFill>
          <a:blip r:embed="rId2"/>
          <a:stretch>
            <a:fillRect/>
          </a:stretch>
        </p:blipFill>
        <p:spPr>
          <a:xfrm>
            <a:off x="859536" y="3081528"/>
            <a:ext cx="237744" cy="237744"/>
          </a:xfrm>
          <a:prstGeom prst="rect">
            <a:avLst/>
          </a:prstGeom>
        </p:spPr>
      </p:pic>
      <p:sp>
        <p:nvSpPr>
          <p:cNvPr id="30" name="Text 27"/>
          <p:cNvSpPr/>
          <p:nvPr/>
        </p:nvSpPr>
        <p:spPr>
          <a:xfrm>
            <a:off x="1325880" y="3017520"/>
            <a:ext cx="2651760" cy="365760"/>
          </a:xfrm>
          <a:prstGeom prst="rect">
            <a:avLst/>
          </a:prstGeom>
          <a:noFill/>
          <a:ln/>
        </p:spPr>
        <p:txBody>
          <a:bodyPr wrap="square" lIns="0" tIns="0" rIns="0" bIns="0" rtlCol="0" anchor="ctr"/>
          <a:lstStyle/>
          <a:p>
            <a:pPr indent="0" marL="0">
              <a:buNone/>
            </a:pPr>
            <a:r>
              <a:rPr lang="en-US" sz="1600" b="1" dirty="0">
                <a:solidFill>
                  <a:srgbClr val="2E9E62"/>
                </a:solidFill>
                <a:latin typeface="Calibri" pitchFamily="34" charset="0"/>
                <a:ea typeface="Calibri" pitchFamily="34" charset="-122"/>
                <a:cs typeface="Calibri" pitchFamily="34" charset="-120"/>
              </a:rPr>
              <a:t>Sudah jalan</a:t>
            </a:r>
            <a:endParaRPr lang="en-US" sz="1600" dirty="0"/>
          </a:p>
        </p:txBody>
      </p:sp>
      <p:sp>
        <p:nvSpPr>
          <p:cNvPr id="31" name="Text 28"/>
          <p:cNvSpPr/>
          <p:nvPr/>
        </p:nvSpPr>
        <p:spPr>
          <a:xfrm>
            <a:off x="777240" y="3611880"/>
            <a:ext cx="3154680" cy="24688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per.py (alignment + PER), selftest OK</a:t>
            </a:r>
            <a:endParaRPr lang="en-US" sz="1300" dirty="0"/>
          </a:p>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Mock backend WebSocket, semua pesan ditandai mock</a:t>
            </a:r>
            <a:endParaRPr lang="en-US" sz="1300" dirty="0"/>
          </a:p>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UI Godot dasar, terhubung ke backend</a:t>
            </a:r>
            <a:endParaRPr lang="en-US" sz="1300" dirty="0"/>
          </a:p>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Notebook NB00–NB04 &amp; NB06 udah ditulis (dicek statis)</a:t>
            </a:r>
            <a:endParaRPr lang="en-US" sz="1300" dirty="0"/>
          </a:p>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record_clips.py + 65 clip dari 1 speaker</a:t>
            </a:r>
            <a:endParaRPr lang="en-US" sz="1300" dirty="0"/>
          </a:p>
        </p:txBody>
      </p:sp>
      <p:sp>
        <p:nvSpPr>
          <p:cNvPr id="32" name="Shape 29"/>
          <p:cNvSpPr/>
          <p:nvPr/>
        </p:nvSpPr>
        <p:spPr>
          <a:xfrm>
            <a:off x="4297680" y="2788920"/>
            <a:ext cx="3566160" cy="3383280"/>
          </a:xfrm>
          <a:prstGeom prst="roundRect">
            <a:avLst>
              <a:gd name="adj" fmla="val 3784"/>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33" name="Shape 30"/>
          <p:cNvSpPr/>
          <p:nvPr/>
        </p:nvSpPr>
        <p:spPr>
          <a:xfrm>
            <a:off x="4498848" y="2971800"/>
            <a:ext cx="457200" cy="457200"/>
          </a:xfrm>
          <a:prstGeom prst="ellipse">
            <a:avLst/>
          </a:prstGeom>
          <a:solidFill>
            <a:srgbClr val="E9A92B"/>
          </a:solidFill>
          <a:ln w="12700">
            <a:solidFill>
              <a:srgbClr val="E9A92B"/>
            </a:solidFill>
            <a:prstDash val="solid"/>
          </a:ln>
        </p:spPr>
      </p:sp>
      <p:pic>
        <p:nvPicPr>
          <p:cNvPr id="34" name="Image 1" descr="preencoded.png">    </p:cNvPr>
          <p:cNvPicPr>
            <a:picLocks noChangeAspect="1"/>
          </p:cNvPicPr>
          <p:nvPr/>
        </p:nvPicPr>
        <p:blipFill>
          <a:blip r:embed="rId3"/>
          <a:stretch>
            <a:fillRect/>
          </a:stretch>
        </p:blipFill>
        <p:spPr>
          <a:xfrm>
            <a:off x="4608576" y="3081528"/>
            <a:ext cx="237744" cy="237744"/>
          </a:xfrm>
          <a:prstGeom prst="rect">
            <a:avLst/>
          </a:prstGeom>
        </p:spPr>
      </p:pic>
      <p:sp>
        <p:nvSpPr>
          <p:cNvPr id="35" name="Text 31"/>
          <p:cNvSpPr/>
          <p:nvPr/>
        </p:nvSpPr>
        <p:spPr>
          <a:xfrm>
            <a:off x="5074920" y="3017520"/>
            <a:ext cx="2651760" cy="365760"/>
          </a:xfrm>
          <a:prstGeom prst="rect">
            <a:avLst/>
          </a:prstGeom>
          <a:noFill/>
          <a:ln/>
        </p:spPr>
        <p:txBody>
          <a:bodyPr wrap="square" lIns="0" tIns="0" rIns="0" bIns="0" rtlCol="0" anchor="ctr"/>
          <a:lstStyle/>
          <a:p>
            <a:pPr indent="0" marL="0">
              <a:buNone/>
            </a:pPr>
            <a:r>
              <a:rPr lang="en-US" sz="1600" b="1" dirty="0">
                <a:solidFill>
                  <a:srgbClr val="E9A92B"/>
                </a:solidFill>
                <a:latin typeface="Calibri" pitchFamily="34" charset="0"/>
                <a:ea typeface="Calibri" pitchFamily="34" charset="-122"/>
                <a:cs typeface="Calibri" pitchFamily="34" charset="-120"/>
              </a:rPr>
              <a:t>Lagi dikerjakan</a:t>
            </a:r>
            <a:endParaRPr lang="en-US" sz="1600" dirty="0"/>
          </a:p>
        </p:txBody>
      </p:sp>
      <p:sp>
        <p:nvSpPr>
          <p:cNvPr id="36" name="Text 32"/>
          <p:cNvSpPr/>
          <p:nvPr/>
        </p:nvSpPr>
        <p:spPr>
          <a:xfrm>
            <a:off x="4526280" y="3611880"/>
            <a:ext cx="3154680" cy="24688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Gate RTF: bench_rtf.py di laptop paling lemah</a:t>
            </a:r>
            <a:endParaRPr lang="en-US" sz="1300" dirty="0"/>
          </a:p>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Rekam speaker ke-2 sampai ke-5+ (pakai consent)</a:t>
            </a:r>
            <a:endParaRPr lang="en-US" sz="1300" dirty="0"/>
          </a:p>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Run notebook di Kaggle, simpan results/*.json</a:t>
            </a:r>
            <a:endParaRPr lang="en-US" sz="1300" dirty="0"/>
          </a:p>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Art game sesuai moodboard</a:t>
            </a:r>
            <a:endParaRPr lang="en-US" sz="1300" dirty="0"/>
          </a:p>
        </p:txBody>
      </p:sp>
      <p:sp>
        <p:nvSpPr>
          <p:cNvPr id="37" name="Shape 33"/>
          <p:cNvSpPr/>
          <p:nvPr/>
        </p:nvSpPr>
        <p:spPr>
          <a:xfrm>
            <a:off x="8046720" y="2788920"/>
            <a:ext cx="3566160" cy="3383280"/>
          </a:xfrm>
          <a:prstGeom prst="roundRect">
            <a:avLst>
              <a:gd name="adj" fmla="val 3784"/>
            </a:avLst>
          </a:prstGeom>
          <a:solidFill>
            <a:srgbClr val="FFFFFF"/>
          </a:solidFill>
          <a:ln w="12700">
            <a:solidFill>
              <a:srgbClr val="FFFFFF"/>
            </a:solidFill>
            <a:prstDash val="solid"/>
          </a:ln>
          <a:effectLst>
            <a:outerShdw sx="100000" sy="100000" kx="0" ky="0" algn="bl" rotWithShape="0" blurRad="127000" dist="38100" dir="5400000">
              <a:srgbClr val="2A2050">
                <a:alpha val="14000"/>
              </a:srgbClr>
            </a:outerShdw>
          </a:effectLst>
        </p:spPr>
      </p:sp>
      <p:sp>
        <p:nvSpPr>
          <p:cNvPr id="38" name="Shape 34"/>
          <p:cNvSpPr/>
          <p:nvPr/>
        </p:nvSpPr>
        <p:spPr>
          <a:xfrm>
            <a:off x="8247888" y="2971800"/>
            <a:ext cx="457200" cy="457200"/>
          </a:xfrm>
          <a:prstGeom prst="ellipse">
            <a:avLst/>
          </a:prstGeom>
          <a:solidFill>
            <a:srgbClr val="4C3FB8"/>
          </a:solidFill>
          <a:ln w="12700">
            <a:solidFill>
              <a:srgbClr val="4C3FB8"/>
            </a:solidFill>
            <a:prstDash val="solid"/>
          </a:ln>
        </p:spPr>
      </p:sp>
      <p:pic>
        <p:nvPicPr>
          <p:cNvPr id="39" name="Image 2" descr="preencoded.png">    </p:cNvPr>
          <p:cNvPicPr>
            <a:picLocks noChangeAspect="1"/>
          </p:cNvPicPr>
          <p:nvPr/>
        </p:nvPicPr>
        <p:blipFill>
          <a:blip r:embed="rId4"/>
          <a:stretch>
            <a:fillRect/>
          </a:stretch>
        </p:blipFill>
        <p:spPr>
          <a:xfrm>
            <a:off x="8357616" y="3081528"/>
            <a:ext cx="237744" cy="237744"/>
          </a:xfrm>
          <a:prstGeom prst="rect">
            <a:avLst/>
          </a:prstGeom>
        </p:spPr>
      </p:pic>
      <p:sp>
        <p:nvSpPr>
          <p:cNvPr id="40" name="Text 35"/>
          <p:cNvSpPr/>
          <p:nvPr/>
        </p:nvSpPr>
        <p:spPr>
          <a:xfrm>
            <a:off x="8823960" y="3017520"/>
            <a:ext cx="2651760" cy="365760"/>
          </a:xfrm>
          <a:prstGeom prst="rect">
            <a:avLst/>
          </a:prstGeom>
          <a:noFill/>
          <a:ln/>
        </p:spPr>
        <p:txBody>
          <a:bodyPr wrap="square" lIns="0" tIns="0" rIns="0" bIns="0" rtlCol="0" anchor="ctr"/>
          <a:lstStyle/>
          <a:p>
            <a:pPr indent="0" marL="0">
              <a:buNone/>
            </a:pPr>
            <a:r>
              <a:rPr lang="en-US" sz="1600" b="1" dirty="0">
                <a:solidFill>
                  <a:srgbClr val="4C3FB8"/>
                </a:solidFill>
                <a:latin typeface="Calibri" pitchFamily="34" charset="0"/>
                <a:ea typeface="Calibri" pitchFamily="34" charset="-122"/>
                <a:cs typeface="Calibri" pitchFamily="34" charset="-120"/>
              </a:rPr>
              <a:t>Next</a:t>
            </a:r>
            <a:endParaRPr lang="en-US" sz="1600" dirty="0"/>
          </a:p>
        </p:txBody>
      </p:sp>
      <p:sp>
        <p:nvSpPr>
          <p:cNvPr id="41" name="Text 36"/>
          <p:cNvSpPr/>
          <p:nvPr/>
        </p:nvSpPr>
        <p:spPr>
          <a:xfrm>
            <a:off x="8275320" y="3611880"/>
            <a:ext cx="3154680" cy="24688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Jalur B asli di server (proses terpisah)</a:t>
            </a:r>
            <a:endParaRPr lang="en-US" sz="1300" dirty="0"/>
          </a:p>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Jalur A streaming dari mic</a:t>
            </a:r>
            <a:endParaRPr lang="en-US" sz="1300" dirty="0"/>
          </a:p>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Silero VAD endpoint</a:t>
            </a:r>
            <a:endParaRPr lang="en-US" sz="1300" dirty="0"/>
          </a:p>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Game loop 3 stage + boss</a:t>
            </a:r>
            <a:endParaRPr lang="en-US" sz="1300" dirty="0"/>
          </a:p>
          <a:p>
            <a:pPr marL="342900" indent="-342900">
              <a:spcAft>
                <a:spcPts val="700"/>
              </a:spcAft>
              <a:buSzPct val="100000"/>
              <a:buChar char="•"/>
            </a:pPr>
            <a:r>
              <a:rPr lang="en-US" sz="1300" dirty="0">
                <a:solidFill>
                  <a:srgbClr val="1E1A3C"/>
                </a:solidFill>
                <a:latin typeface="Calibri" pitchFamily="34" charset="0"/>
                <a:ea typeface="Calibri" pitchFamily="34" charset="-122"/>
                <a:cs typeface="Calibri" pitchFamily="34" charset="-120"/>
              </a:rPr>
              <a:t>User testing ≥5 orang</a:t>
            </a:r>
            <a:endParaRPr lang="en-US" sz="13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888236" cy="292608"/>
          </a:xfrm>
          <a:prstGeom prst="roundRect">
            <a:avLst>
              <a:gd name="adj" fmla="val 50000"/>
            </a:avLst>
          </a:prstGeom>
          <a:solidFill>
            <a:srgbClr val="1F8F94"/>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STAGE III · RESULTS</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1E1A3C"/>
                </a:solidFill>
                <a:latin typeface="Georgia" pitchFamily="34" charset="0"/>
                <a:ea typeface="Georgia" pitchFamily="34" charset="-122"/>
                <a:cs typeface="Georgia" pitchFamily="34" charset="-120"/>
              </a:rPr>
              <a:t>Results: belum ada angka, dan itu disengaja</a:t>
            </a:r>
            <a:endParaRPr lang="en-US" sz="30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548640" y="1572768"/>
            <a:ext cx="8229600" cy="685800"/>
          </a:xfrm>
          <a:prstGeom prst="rect">
            <a:avLst/>
          </a:prstGeom>
          <a:noFill/>
          <a:ln/>
        </p:spPr>
        <p:txBody>
          <a:bodyPr wrap="square" lIns="0" tIns="0" rIns="0" bIns="0" rtlCol="0" anchor="t"/>
          <a:lstStyle/>
          <a:p>
            <a:pPr indent="0" marL="0">
              <a:buNone/>
            </a:pPr>
            <a:r>
              <a:rPr lang="en-US" sz="1400" dirty="0">
                <a:solidFill>
                  <a:srgbClr val="5E5A7E"/>
                </a:solidFill>
                <a:latin typeface="Calibri" pitchFamily="34" charset="0"/>
                <a:ea typeface="Calibri" pitchFamily="34" charset="-122"/>
                <a:cs typeface="Calibri" pitchFamily="34" charset="-120"/>
              </a:rPr>
              <a:t>Tiap angka di laporan harus keluar dari script yang bisa di-run ulang dan disimpan di results/*.json. Folder itu masih kosong, jadi kami belum klaim angka apa pun.</a:t>
            </a:r>
            <a:endParaRPr lang="en-US" sz="1400" dirty="0"/>
          </a:p>
        </p:txBody>
      </p:sp>
      <p:sp>
        <p:nvSpPr>
          <p:cNvPr id="7" name="Shape 5"/>
          <p:cNvSpPr/>
          <p:nvPr/>
        </p:nvSpPr>
        <p:spPr>
          <a:xfrm>
            <a:off x="548640" y="2468880"/>
            <a:ext cx="2606040" cy="1691640"/>
          </a:xfrm>
          <a:prstGeom prst="roundRect">
            <a:avLst>
              <a:gd name="adj" fmla="val 6486"/>
            </a:avLst>
          </a:prstGeom>
          <a:solidFill>
            <a:srgbClr val="FBFAFF"/>
          </a:solidFill>
          <a:ln w="19050">
            <a:solidFill>
              <a:srgbClr val="B9B0E3"/>
            </a:solidFill>
            <a:prstDash val="dash"/>
          </a:ln>
        </p:spPr>
      </p:sp>
      <p:sp>
        <p:nvSpPr>
          <p:cNvPr id="8" name="Text 6"/>
          <p:cNvSpPr/>
          <p:nvPr/>
        </p:nvSpPr>
        <p:spPr>
          <a:xfrm>
            <a:off x="731520" y="2606040"/>
            <a:ext cx="548640" cy="548640"/>
          </a:xfrm>
          <a:prstGeom prst="rect">
            <a:avLst/>
          </a:prstGeom>
          <a:noFill/>
          <a:ln/>
        </p:spPr>
        <p:txBody>
          <a:bodyPr wrap="square" lIns="0" tIns="0" rIns="0" bIns="0" rtlCol="0" anchor="ctr"/>
          <a:lstStyle/>
          <a:p>
            <a:pPr indent="0" marL="0">
              <a:buNone/>
            </a:pPr>
            <a:r>
              <a:rPr lang="en-US" sz="3000" b="1" dirty="0">
                <a:solidFill>
                  <a:srgbClr val="C9C3E3"/>
                </a:solidFill>
                <a:latin typeface="Georgia" pitchFamily="34" charset="0"/>
                <a:ea typeface="Georgia" pitchFamily="34" charset="-122"/>
                <a:cs typeface="Georgia" pitchFamily="34" charset="-120"/>
              </a:rPr>
              <a:t>?</a:t>
            </a:r>
            <a:endParaRPr lang="en-US" sz="3000" dirty="0"/>
          </a:p>
        </p:txBody>
      </p:sp>
      <p:sp>
        <p:nvSpPr>
          <p:cNvPr id="9" name="Text 7"/>
          <p:cNvSpPr/>
          <p:nvPr/>
        </p:nvSpPr>
        <p:spPr>
          <a:xfrm>
            <a:off x="731520" y="3200400"/>
            <a:ext cx="2286000" cy="457200"/>
          </a:xfrm>
          <a:prstGeom prst="rect">
            <a:avLst/>
          </a:prstGeom>
          <a:noFill/>
          <a:ln/>
        </p:spPr>
        <p:txBody>
          <a:bodyPr wrap="square" lIns="0" tIns="0" rIns="0" bIns="0" rtlCol="0" anchor="t"/>
          <a:lstStyle/>
          <a:p>
            <a:pPr indent="0" marL="0">
              <a:buNone/>
            </a:pPr>
            <a:r>
              <a:rPr lang="en-US" sz="1300" b="1" dirty="0">
                <a:solidFill>
                  <a:srgbClr val="1E1A3C"/>
                </a:solidFill>
                <a:latin typeface="Calibri" pitchFamily="34" charset="0"/>
                <a:ea typeface="Calibri" pitchFamily="34" charset="-122"/>
                <a:cs typeface="Calibri" pitchFamily="34" charset="-120"/>
              </a:rPr>
              <a:t>PER per kata &amp; per bunyi</a:t>
            </a:r>
            <a:endParaRPr lang="en-US" sz="1300" dirty="0"/>
          </a:p>
        </p:txBody>
      </p:sp>
      <p:sp>
        <p:nvSpPr>
          <p:cNvPr id="10" name="Text 8"/>
          <p:cNvSpPr/>
          <p:nvPr/>
        </p:nvSpPr>
        <p:spPr>
          <a:xfrm>
            <a:off x="731520" y="3657600"/>
            <a:ext cx="2286000" cy="411480"/>
          </a:xfrm>
          <a:prstGeom prst="rect">
            <a:avLst/>
          </a:prstGeom>
          <a:noFill/>
          <a:ln/>
        </p:spPr>
        <p:txBody>
          <a:bodyPr wrap="square" lIns="0" tIns="0" rIns="0" bIns="0" rtlCol="0" anchor="t"/>
          <a:lstStyle/>
          <a:p>
            <a:pPr indent="0" marL="0">
              <a:buNone/>
            </a:pPr>
            <a:r>
              <a:rPr lang="en-US" sz="1050" dirty="0">
                <a:solidFill>
                  <a:srgbClr val="5E5A7E"/>
                </a:solidFill>
                <a:latin typeface="Calibri" pitchFamily="34" charset="0"/>
                <a:ea typeface="Calibri" pitchFamily="34" charset="-122"/>
                <a:cs typeface="Calibri" pitchFamily="34" charset="-120"/>
              </a:rPr>
              <a:t>NB01 · wav2vec2 zero-shot</a:t>
            </a:r>
            <a:endParaRPr lang="en-US" sz="1050" dirty="0"/>
          </a:p>
        </p:txBody>
      </p:sp>
      <p:sp>
        <p:nvSpPr>
          <p:cNvPr id="11" name="Shape 9"/>
          <p:cNvSpPr/>
          <p:nvPr/>
        </p:nvSpPr>
        <p:spPr>
          <a:xfrm>
            <a:off x="3337560" y="2468880"/>
            <a:ext cx="2606040" cy="1691640"/>
          </a:xfrm>
          <a:prstGeom prst="roundRect">
            <a:avLst>
              <a:gd name="adj" fmla="val 6486"/>
            </a:avLst>
          </a:prstGeom>
          <a:solidFill>
            <a:srgbClr val="FBFAFF"/>
          </a:solidFill>
          <a:ln w="19050">
            <a:solidFill>
              <a:srgbClr val="B9B0E3"/>
            </a:solidFill>
            <a:prstDash val="dash"/>
          </a:ln>
        </p:spPr>
      </p:sp>
      <p:sp>
        <p:nvSpPr>
          <p:cNvPr id="12" name="Text 10"/>
          <p:cNvSpPr/>
          <p:nvPr/>
        </p:nvSpPr>
        <p:spPr>
          <a:xfrm>
            <a:off x="3520440" y="2606040"/>
            <a:ext cx="548640" cy="548640"/>
          </a:xfrm>
          <a:prstGeom prst="rect">
            <a:avLst/>
          </a:prstGeom>
          <a:noFill/>
          <a:ln/>
        </p:spPr>
        <p:txBody>
          <a:bodyPr wrap="square" lIns="0" tIns="0" rIns="0" bIns="0" rtlCol="0" anchor="ctr"/>
          <a:lstStyle/>
          <a:p>
            <a:pPr indent="0" marL="0">
              <a:buNone/>
            </a:pPr>
            <a:r>
              <a:rPr lang="en-US" sz="3000" b="1" dirty="0">
                <a:solidFill>
                  <a:srgbClr val="C9C3E3"/>
                </a:solidFill>
                <a:latin typeface="Georgia" pitchFamily="34" charset="0"/>
                <a:ea typeface="Georgia" pitchFamily="34" charset="-122"/>
                <a:cs typeface="Georgia" pitchFamily="34" charset="-120"/>
              </a:rPr>
              <a:t>?</a:t>
            </a:r>
            <a:endParaRPr lang="en-US" sz="3000" dirty="0"/>
          </a:p>
        </p:txBody>
      </p:sp>
      <p:sp>
        <p:nvSpPr>
          <p:cNvPr id="13" name="Text 11"/>
          <p:cNvSpPr/>
          <p:nvPr/>
        </p:nvSpPr>
        <p:spPr>
          <a:xfrm>
            <a:off x="3520440" y="3200400"/>
            <a:ext cx="2286000" cy="457200"/>
          </a:xfrm>
          <a:prstGeom prst="rect">
            <a:avLst/>
          </a:prstGeom>
          <a:noFill/>
          <a:ln/>
        </p:spPr>
        <p:txBody>
          <a:bodyPr wrap="square" lIns="0" tIns="0" rIns="0" bIns="0" rtlCol="0" anchor="t"/>
          <a:lstStyle/>
          <a:p>
            <a:pPr indent="0" marL="0">
              <a:buNone/>
            </a:pPr>
            <a:r>
              <a:rPr lang="en-US" sz="1300" b="1" dirty="0">
                <a:solidFill>
                  <a:srgbClr val="1E1A3C"/>
                </a:solidFill>
                <a:latin typeface="Calibri" pitchFamily="34" charset="0"/>
                <a:ea typeface="Calibri" pitchFamily="34" charset="-122"/>
                <a:cs typeface="Calibri" pitchFamily="34" charset="-120"/>
              </a:rPr>
              <a:t>WER Zipformer vs Vosk</a:t>
            </a:r>
            <a:endParaRPr lang="en-US" sz="1300" dirty="0"/>
          </a:p>
        </p:txBody>
      </p:sp>
      <p:sp>
        <p:nvSpPr>
          <p:cNvPr id="14" name="Text 12"/>
          <p:cNvSpPr/>
          <p:nvPr/>
        </p:nvSpPr>
        <p:spPr>
          <a:xfrm>
            <a:off x="3520440" y="3657600"/>
            <a:ext cx="2286000" cy="411480"/>
          </a:xfrm>
          <a:prstGeom prst="rect">
            <a:avLst/>
          </a:prstGeom>
          <a:noFill/>
          <a:ln/>
        </p:spPr>
        <p:txBody>
          <a:bodyPr wrap="square" lIns="0" tIns="0" rIns="0" bIns="0" rtlCol="0" anchor="t"/>
          <a:lstStyle/>
          <a:p>
            <a:pPr indent="0" marL="0">
              <a:buNone/>
            </a:pPr>
            <a:r>
              <a:rPr lang="en-US" sz="1050" dirty="0">
                <a:solidFill>
                  <a:srgbClr val="5E5A7E"/>
                </a:solidFill>
                <a:latin typeface="Calibri" pitchFamily="34" charset="0"/>
                <a:ea typeface="Calibri" pitchFamily="34" charset="-122"/>
                <a:cs typeface="Calibri" pitchFamily="34" charset="-120"/>
              </a:rPr>
              <a:t>NB03 · rekaman sendiri + EdAcc</a:t>
            </a:r>
            <a:endParaRPr lang="en-US" sz="1050" dirty="0"/>
          </a:p>
        </p:txBody>
      </p:sp>
      <p:sp>
        <p:nvSpPr>
          <p:cNvPr id="15" name="Shape 13"/>
          <p:cNvSpPr/>
          <p:nvPr/>
        </p:nvSpPr>
        <p:spPr>
          <a:xfrm>
            <a:off x="6126480" y="2468880"/>
            <a:ext cx="2606040" cy="1691640"/>
          </a:xfrm>
          <a:prstGeom prst="roundRect">
            <a:avLst>
              <a:gd name="adj" fmla="val 6486"/>
            </a:avLst>
          </a:prstGeom>
          <a:solidFill>
            <a:srgbClr val="FBFAFF"/>
          </a:solidFill>
          <a:ln w="19050">
            <a:solidFill>
              <a:srgbClr val="B9B0E3"/>
            </a:solidFill>
            <a:prstDash val="dash"/>
          </a:ln>
        </p:spPr>
      </p:sp>
      <p:sp>
        <p:nvSpPr>
          <p:cNvPr id="16" name="Text 14"/>
          <p:cNvSpPr/>
          <p:nvPr/>
        </p:nvSpPr>
        <p:spPr>
          <a:xfrm>
            <a:off x="6309360" y="2606040"/>
            <a:ext cx="548640" cy="548640"/>
          </a:xfrm>
          <a:prstGeom prst="rect">
            <a:avLst/>
          </a:prstGeom>
          <a:noFill/>
          <a:ln/>
        </p:spPr>
        <p:txBody>
          <a:bodyPr wrap="square" lIns="0" tIns="0" rIns="0" bIns="0" rtlCol="0" anchor="ctr"/>
          <a:lstStyle/>
          <a:p>
            <a:pPr indent="0" marL="0">
              <a:buNone/>
            </a:pPr>
            <a:r>
              <a:rPr lang="en-US" sz="3000" b="1" dirty="0">
                <a:solidFill>
                  <a:srgbClr val="C9C3E3"/>
                </a:solidFill>
                <a:latin typeface="Georgia" pitchFamily="34" charset="0"/>
                <a:ea typeface="Georgia" pitchFamily="34" charset="-122"/>
                <a:cs typeface="Georgia" pitchFamily="34" charset="-120"/>
              </a:rPr>
              <a:t>?</a:t>
            </a:r>
            <a:endParaRPr lang="en-US" sz="3000" dirty="0"/>
          </a:p>
        </p:txBody>
      </p:sp>
      <p:sp>
        <p:nvSpPr>
          <p:cNvPr id="17" name="Text 15"/>
          <p:cNvSpPr/>
          <p:nvPr/>
        </p:nvSpPr>
        <p:spPr>
          <a:xfrm>
            <a:off x="6309360" y="3200400"/>
            <a:ext cx="2286000" cy="457200"/>
          </a:xfrm>
          <a:prstGeom prst="rect">
            <a:avLst/>
          </a:prstGeom>
          <a:noFill/>
          <a:ln/>
        </p:spPr>
        <p:txBody>
          <a:bodyPr wrap="square" lIns="0" tIns="0" rIns="0" bIns="0" rtlCol="0" anchor="t"/>
          <a:lstStyle/>
          <a:p>
            <a:pPr indent="0" marL="0">
              <a:buNone/>
            </a:pPr>
            <a:r>
              <a:rPr lang="en-US" sz="1300" b="1" dirty="0">
                <a:solidFill>
                  <a:srgbClr val="1E1A3C"/>
                </a:solidFill>
                <a:latin typeface="Calibri" pitchFamily="34" charset="0"/>
                <a:ea typeface="Calibri" pitchFamily="34" charset="-122"/>
                <a:cs typeface="Calibri" pitchFamily="34" charset="-120"/>
              </a:rPr>
              <a:t>Latency p50/p95 &amp; RTF CPU</a:t>
            </a:r>
            <a:endParaRPr lang="en-US" sz="1300" dirty="0"/>
          </a:p>
        </p:txBody>
      </p:sp>
      <p:sp>
        <p:nvSpPr>
          <p:cNvPr id="18" name="Text 16"/>
          <p:cNvSpPr/>
          <p:nvPr/>
        </p:nvSpPr>
        <p:spPr>
          <a:xfrm>
            <a:off x="6309360" y="3657600"/>
            <a:ext cx="2286000" cy="411480"/>
          </a:xfrm>
          <a:prstGeom prst="rect">
            <a:avLst/>
          </a:prstGeom>
          <a:noFill/>
          <a:ln/>
        </p:spPr>
        <p:txBody>
          <a:bodyPr wrap="square" lIns="0" tIns="0" rIns="0" bIns="0" rtlCol="0" anchor="t"/>
          <a:lstStyle/>
          <a:p>
            <a:pPr indent="0" marL="0">
              <a:buNone/>
            </a:pPr>
            <a:r>
              <a:rPr lang="en-US" sz="1050" dirty="0">
                <a:solidFill>
                  <a:srgbClr val="5E5A7E"/>
                </a:solidFill>
                <a:latin typeface="Calibri" pitchFamily="34" charset="0"/>
                <a:ea typeface="Calibri" pitchFamily="34" charset="-122"/>
                <a:cs typeface="Calibri" pitchFamily="34" charset="-120"/>
              </a:rPr>
              <a:t>bench_rtf.py · laptop terlemah</a:t>
            </a:r>
            <a:endParaRPr lang="en-US" sz="1050" dirty="0"/>
          </a:p>
        </p:txBody>
      </p:sp>
      <p:sp>
        <p:nvSpPr>
          <p:cNvPr id="19" name="Shape 17"/>
          <p:cNvSpPr/>
          <p:nvPr/>
        </p:nvSpPr>
        <p:spPr>
          <a:xfrm>
            <a:off x="548640" y="4343400"/>
            <a:ext cx="2606040" cy="1691640"/>
          </a:xfrm>
          <a:prstGeom prst="roundRect">
            <a:avLst>
              <a:gd name="adj" fmla="val 6486"/>
            </a:avLst>
          </a:prstGeom>
          <a:solidFill>
            <a:srgbClr val="FBFAFF"/>
          </a:solidFill>
          <a:ln w="19050">
            <a:solidFill>
              <a:srgbClr val="B9B0E3"/>
            </a:solidFill>
            <a:prstDash val="dash"/>
          </a:ln>
        </p:spPr>
      </p:sp>
      <p:sp>
        <p:nvSpPr>
          <p:cNvPr id="20" name="Text 18"/>
          <p:cNvSpPr/>
          <p:nvPr/>
        </p:nvSpPr>
        <p:spPr>
          <a:xfrm>
            <a:off x="731520" y="4480560"/>
            <a:ext cx="548640" cy="548640"/>
          </a:xfrm>
          <a:prstGeom prst="rect">
            <a:avLst/>
          </a:prstGeom>
          <a:noFill/>
          <a:ln/>
        </p:spPr>
        <p:txBody>
          <a:bodyPr wrap="square" lIns="0" tIns="0" rIns="0" bIns="0" rtlCol="0" anchor="ctr"/>
          <a:lstStyle/>
          <a:p>
            <a:pPr indent="0" marL="0">
              <a:buNone/>
            </a:pPr>
            <a:r>
              <a:rPr lang="en-US" sz="3000" b="1" dirty="0">
                <a:solidFill>
                  <a:srgbClr val="C9C3E3"/>
                </a:solidFill>
                <a:latin typeface="Georgia" pitchFamily="34" charset="0"/>
                <a:ea typeface="Georgia" pitchFamily="34" charset="-122"/>
                <a:cs typeface="Georgia" pitchFamily="34" charset="-120"/>
              </a:rPr>
              <a:t>?</a:t>
            </a:r>
            <a:endParaRPr lang="en-US" sz="3000" dirty="0"/>
          </a:p>
        </p:txBody>
      </p:sp>
      <p:sp>
        <p:nvSpPr>
          <p:cNvPr id="21" name="Text 19"/>
          <p:cNvSpPr/>
          <p:nvPr/>
        </p:nvSpPr>
        <p:spPr>
          <a:xfrm>
            <a:off x="731520" y="5074920"/>
            <a:ext cx="2286000" cy="457200"/>
          </a:xfrm>
          <a:prstGeom prst="rect">
            <a:avLst/>
          </a:prstGeom>
          <a:noFill/>
          <a:ln/>
        </p:spPr>
        <p:txBody>
          <a:bodyPr wrap="square" lIns="0" tIns="0" rIns="0" bIns="0" rtlCol="0" anchor="t"/>
          <a:lstStyle/>
          <a:p>
            <a:pPr indent="0" marL="0">
              <a:buNone/>
            </a:pPr>
            <a:r>
              <a:rPr lang="en-US" sz="1300" b="1" dirty="0">
                <a:solidFill>
                  <a:srgbClr val="1E1A3C"/>
                </a:solidFill>
                <a:latin typeface="Calibri" pitchFamily="34" charset="0"/>
                <a:ea typeface="Calibri" pitchFamily="34" charset="-122"/>
                <a:cs typeface="Calibri" pitchFamily="34" charset="-120"/>
              </a:rPr>
              <a:t>PER/WER vs noise 20/10/5 dB</a:t>
            </a:r>
            <a:endParaRPr lang="en-US" sz="1300" dirty="0"/>
          </a:p>
        </p:txBody>
      </p:sp>
      <p:sp>
        <p:nvSpPr>
          <p:cNvPr id="22" name="Text 20"/>
          <p:cNvSpPr/>
          <p:nvPr/>
        </p:nvSpPr>
        <p:spPr>
          <a:xfrm>
            <a:off x="731520" y="5532120"/>
            <a:ext cx="2286000" cy="411480"/>
          </a:xfrm>
          <a:prstGeom prst="rect">
            <a:avLst/>
          </a:prstGeom>
          <a:noFill/>
          <a:ln/>
        </p:spPr>
        <p:txBody>
          <a:bodyPr wrap="square" lIns="0" tIns="0" rIns="0" bIns="0" rtlCol="0" anchor="t"/>
          <a:lstStyle/>
          <a:p>
            <a:pPr indent="0" marL="0">
              <a:buNone/>
            </a:pPr>
            <a:r>
              <a:rPr lang="en-US" sz="1050" dirty="0">
                <a:solidFill>
                  <a:srgbClr val="5E5A7E"/>
                </a:solidFill>
                <a:latin typeface="Calibri" pitchFamily="34" charset="0"/>
                <a:ea typeface="Calibri" pitchFamily="34" charset="-122"/>
                <a:cs typeface="Calibri" pitchFamily="34" charset="-120"/>
              </a:rPr>
              <a:t>NB04 · MUSAN/DEMAND</a:t>
            </a:r>
            <a:endParaRPr lang="en-US" sz="1050" dirty="0"/>
          </a:p>
        </p:txBody>
      </p:sp>
      <p:sp>
        <p:nvSpPr>
          <p:cNvPr id="23" name="Shape 21"/>
          <p:cNvSpPr/>
          <p:nvPr/>
        </p:nvSpPr>
        <p:spPr>
          <a:xfrm>
            <a:off x="3337560" y="4343400"/>
            <a:ext cx="2606040" cy="1691640"/>
          </a:xfrm>
          <a:prstGeom prst="roundRect">
            <a:avLst>
              <a:gd name="adj" fmla="val 6486"/>
            </a:avLst>
          </a:prstGeom>
          <a:solidFill>
            <a:srgbClr val="FBFAFF"/>
          </a:solidFill>
          <a:ln w="19050">
            <a:solidFill>
              <a:srgbClr val="B9B0E3"/>
            </a:solidFill>
            <a:prstDash val="dash"/>
          </a:ln>
        </p:spPr>
      </p:sp>
      <p:sp>
        <p:nvSpPr>
          <p:cNvPr id="24" name="Text 22"/>
          <p:cNvSpPr/>
          <p:nvPr/>
        </p:nvSpPr>
        <p:spPr>
          <a:xfrm>
            <a:off x="3520440" y="4480560"/>
            <a:ext cx="548640" cy="548640"/>
          </a:xfrm>
          <a:prstGeom prst="rect">
            <a:avLst/>
          </a:prstGeom>
          <a:noFill/>
          <a:ln/>
        </p:spPr>
        <p:txBody>
          <a:bodyPr wrap="square" lIns="0" tIns="0" rIns="0" bIns="0" rtlCol="0" anchor="ctr"/>
          <a:lstStyle/>
          <a:p>
            <a:pPr indent="0" marL="0">
              <a:buNone/>
            </a:pPr>
            <a:r>
              <a:rPr lang="en-US" sz="3000" b="1" dirty="0">
                <a:solidFill>
                  <a:srgbClr val="C9C3E3"/>
                </a:solidFill>
                <a:latin typeface="Georgia" pitchFamily="34" charset="0"/>
                <a:ea typeface="Georgia" pitchFamily="34" charset="-122"/>
                <a:cs typeface="Georgia" pitchFamily="34" charset="-120"/>
              </a:rPr>
              <a:t>?</a:t>
            </a:r>
            <a:endParaRPr lang="en-US" sz="3000" dirty="0"/>
          </a:p>
        </p:txBody>
      </p:sp>
      <p:sp>
        <p:nvSpPr>
          <p:cNvPr id="25" name="Text 23"/>
          <p:cNvSpPr/>
          <p:nvPr/>
        </p:nvSpPr>
        <p:spPr>
          <a:xfrm>
            <a:off x="3520440" y="5074920"/>
            <a:ext cx="2286000" cy="457200"/>
          </a:xfrm>
          <a:prstGeom prst="rect">
            <a:avLst/>
          </a:prstGeom>
          <a:noFill/>
          <a:ln/>
        </p:spPr>
        <p:txBody>
          <a:bodyPr wrap="square" lIns="0" tIns="0" rIns="0" bIns="0" rtlCol="0" anchor="t"/>
          <a:lstStyle/>
          <a:p>
            <a:pPr indent="0" marL="0">
              <a:buNone/>
            </a:pPr>
            <a:r>
              <a:rPr lang="en-US" sz="1300" b="1" dirty="0">
                <a:solidFill>
                  <a:srgbClr val="1E1A3C"/>
                </a:solidFill>
                <a:latin typeface="Calibri" pitchFamily="34" charset="0"/>
                <a:ea typeface="Calibri" pitchFamily="34" charset="-122"/>
                <a:cs typeface="Calibri" pitchFamily="34" charset="-120"/>
              </a:rPr>
              <a:t>Akurasi baseline scratch CNN</a:t>
            </a:r>
            <a:endParaRPr lang="en-US" sz="1300" dirty="0"/>
          </a:p>
        </p:txBody>
      </p:sp>
      <p:sp>
        <p:nvSpPr>
          <p:cNvPr id="26" name="Text 24"/>
          <p:cNvSpPr/>
          <p:nvPr/>
        </p:nvSpPr>
        <p:spPr>
          <a:xfrm>
            <a:off x="3520440" y="5532120"/>
            <a:ext cx="2286000" cy="411480"/>
          </a:xfrm>
          <a:prstGeom prst="rect">
            <a:avLst/>
          </a:prstGeom>
          <a:noFill/>
          <a:ln/>
        </p:spPr>
        <p:txBody>
          <a:bodyPr wrap="square" lIns="0" tIns="0" rIns="0" bIns="0" rtlCol="0" anchor="t"/>
          <a:lstStyle/>
          <a:p>
            <a:pPr indent="0" marL="0">
              <a:buNone/>
            </a:pPr>
            <a:r>
              <a:rPr lang="en-US" sz="1050" dirty="0">
                <a:solidFill>
                  <a:srgbClr val="5E5A7E"/>
                </a:solidFill>
                <a:latin typeface="Calibri" pitchFamily="34" charset="0"/>
                <a:ea typeface="Calibri" pitchFamily="34" charset="-122"/>
                <a:cs typeface="Calibri" pitchFamily="34" charset="-120"/>
              </a:rPr>
              <a:t>NB02 · Speech Commands</a:t>
            </a:r>
            <a:endParaRPr lang="en-US" sz="1050" dirty="0"/>
          </a:p>
        </p:txBody>
      </p:sp>
      <p:sp>
        <p:nvSpPr>
          <p:cNvPr id="27" name="Shape 25"/>
          <p:cNvSpPr/>
          <p:nvPr/>
        </p:nvSpPr>
        <p:spPr>
          <a:xfrm>
            <a:off x="6126480" y="4343400"/>
            <a:ext cx="2606040" cy="1691640"/>
          </a:xfrm>
          <a:prstGeom prst="roundRect">
            <a:avLst>
              <a:gd name="adj" fmla="val 6486"/>
            </a:avLst>
          </a:prstGeom>
          <a:solidFill>
            <a:srgbClr val="FBFAFF"/>
          </a:solidFill>
          <a:ln w="19050">
            <a:solidFill>
              <a:srgbClr val="B9B0E3"/>
            </a:solidFill>
            <a:prstDash val="dash"/>
          </a:ln>
        </p:spPr>
      </p:sp>
      <p:sp>
        <p:nvSpPr>
          <p:cNvPr id="28" name="Text 26"/>
          <p:cNvSpPr/>
          <p:nvPr/>
        </p:nvSpPr>
        <p:spPr>
          <a:xfrm>
            <a:off x="6309360" y="4480560"/>
            <a:ext cx="548640" cy="548640"/>
          </a:xfrm>
          <a:prstGeom prst="rect">
            <a:avLst/>
          </a:prstGeom>
          <a:noFill/>
          <a:ln/>
        </p:spPr>
        <p:txBody>
          <a:bodyPr wrap="square" lIns="0" tIns="0" rIns="0" bIns="0" rtlCol="0" anchor="ctr"/>
          <a:lstStyle/>
          <a:p>
            <a:pPr indent="0" marL="0">
              <a:buNone/>
            </a:pPr>
            <a:r>
              <a:rPr lang="en-US" sz="3000" b="1" dirty="0">
                <a:solidFill>
                  <a:srgbClr val="C9C3E3"/>
                </a:solidFill>
                <a:latin typeface="Georgia" pitchFamily="34" charset="0"/>
                <a:ea typeface="Georgia" pitchFamily="34" charset="-122"/>
                <a:cs typeface="Georgia" pitchFamily="34" charset="-120"/>
              </a:rPr>
              <a:t>?</a:t>
            </a:r>
            <a:endParaRPr lang="en-US" sz="3000" dirty="0"/>
          </a:p>
        </p:txBody>
      </p:sp>
      <p:sp>
        <p:nvSpPr>
          <p:cNvPr id="29" name="Text 27"/>
          <p:cNvSpPr/>
          <p:nvPr/>
        </p:nvSpPr>
        <p:spPr>
          <a:xfrm>
            <a:off x="6309360" y="5074920"/>
            <a:ext cx="2286000" cy="457200"/>
          </a:xfrm>
          <a:prstGeom prst="rect">
            <a:avLst/>
          </a:prstGeom>
          <a:noFill/>
          <a:ln/>
        </p:spPr>
        <p:txBody>
          <a:bodyPr wrap="square" lIns="0" tIns="0" rIns="0" bIns="0" rtlCol="0" anchor="t"/>
          <a:lstStyle/>
          <a:p>
            <a:pPr indent="0" marL="0">
              <a:buNone/>
            </a:pPr>
            <a:r>
              <a:rPr lang="en-US" sz="1300" b="1" dirty="0">
                <a:solidFill>
                  <a:srgbClr val="1E1A3C"/>
                </a:solidFill>
                <a:latin typeface="Calibri" pitchFamily="34" charset="0"/>
                <a:ea typeface="Calibri" pitchFamily="34" charset="-122"/>
                <a:cs typeface="Calibri" pitchFamily="34" charset="-120"/>
              </a:rPr>
              <a:t>SUS &amp; feedback user</a:t>
            </a:r>
            <a:endParaRPr lang="en-US" sz="1300" dirty="0"/>
          </a:p>
        </p:txBody>
      </p:sp>
      <p:sp>
        <p:nvSpPr>
          <p:cNvPr id="30" name="Text 28"/>
          <p:cNvSpPr/>
          <p:nvPr/>
        </p:nvSpPr>
        <p:spPr>
          <a:xfrm>
            <a:off x="6309360" y="5532120"/>
            <a:ext cx="2286000" cy="411480"/>
          </a:xfrm>
          <a:prstGeom prst="rect">
            <a:avLst/>
          </a:prstGeom>
          <a:noFill/>
          <a:ln/>
        </p:spPr>
        <p:txBody>
          <a:bodyPr wrap="square" lIns="0" tIns="0" rIns="0" bIns="0" rtlCol="0" anchor="t"/>
          <a:lstStyle/>
          <a:p>
            <a:pPr indent="0" marL="0">
              <a:buNone/>
            </a:pPr>
            <a:r>
              <a:rPr lang="en-US" sz="1050" dirty="0">
                <a:solidFill>
                  <a:srgbClr val="5E5A7E"/>
                </a:solidFill>
                <a:latin typeface="Calibri" pitchFamily="34" charset="0"/>
                <a:ea typeface="Calibri" pitchFamily="34" charset="-122"/>
                <a:cs typeface="Calibri" pitchFamily="34" charset="-120"/>
              </a:rPr>
              <a:t>P8 · ≥5 target user</a:t>
            </a:r>
            <a:endParaRPr lang="en-US" sz="1050" dirty="0"/>
          </a:p>
        </p:txBody>
      </p:sp>
      <p:pic>
        <p:nvPicPr>
          <p:cNvPr id="31" name="Image 0" descr="C:\Users\dianr\AppData\Local\Temp\claude\c--SEM-5-SpellSpeak\eda6ec89-068e-4069-9b28-72e31b9a7f93\scratchpad\deck\art\cat_idle.png">    </p:cNvPr>
          <p:cNvPicPr>
            <a:picLocks noChangeAspect="1"/>
          </p:cNvPicPr>
          <p:nvPr/>
        </p:nvPicPr>
        <p:blipFill>
          <a:blip r:embed="rId2"/>
          <a:stretch>
            <a:fillRect/>
          </a:stretch>
        </p:blipFill>
        <p:spPr>
          <a:xfrm>
            <a:off x="9144000" y="2606040"/>
            <a:ext cx="2194560" cy="2194560"/>
          </a:xfrm>
          <a:prstGeom prst="rect">
            <a:avLst/>
          </a:prstGeom>
        </p:spPr>
      </p:pic>
      <p:pic>
        <p:nvPicPr>
          <p:cNvPr id="32" name="Image 1" descr="C:\Users\dianr\AppData\Local\Temp\claude\c--SEM-5-SpellSpeak\eda6ec89-068e-4069-9b28-72e31b9a7f93\scratchpad\deck\art\soul_pink.png">    </p:cNvPr>
          <p:cNvPicPr>
            <a:picLocks noChangeAspect="1"/>
          </p:cNvPicPr>
          <p:nvPr/>
        </p:nvPicPr>
        <p:blipFill>
          <a:blip r:embed="rId3"/>
          <a:stretch>
            <a:fillRect/>
          </a:stretch>
        </p:blipFill>
        <p:spPr>
          <a:xfrm>
            <a:off x="8869680" y="2331720"/>
            <a:ext cx="623455" cy="685800"/>
          </a:xfrm>
          <a:prstGeom prst="rect">
            <a:avLst/>
          </a:prstGeom>
        </p:spPr>
      </p:pic>
      <p:sp>
        <p:nvSpPr>
          <p:cNvPr id="33" name="Shape 29"/>
          <p:cNvSpPr/>
          <p:nvPr/>
        </p:nvSpPr>
        <p:spPr>
          <a:xfrm>
            <a:off x="8915400" y="5029200"/>
            <a:ext cx="2743200" cy="1143000"/>
          </a:xfrm>
          <a:prstGeom prst="roundRect">
            <a:avLst>
              <a:gd name="adj" fmla="val 11200"/>
            </a:avLst>
          </a:prstGeom>
          <a:solidFill>
            <a:srgbClr val="EEE9FF"/>
          </a:solidFill>
          <a:ln w="12700">
            <a:solidFill>
              <a:srgbClr val="EEE9FF"/>
            </a:solidFill>
            <a:prstDash val="solid"/>
          </a:ln>
        </p:spPr>
      </p:sp>
      <p:sp>
        <p:nvSpPr>
          <p:cNvPr id="34" name="Text 30"/>
          <p:cNvSpPr/>
          <p:nvPr/>
        </p:nvSpPr>
        <p:spPr>
          <a:xfrm>
            <a:off x="9098280" y="5120640"/>
            <a:ext cx="2423160" cy="960120"/>
          </a:xfrm>
          <a:prstGeom prst="rect">
            <a:avLst/>
          </a:prstGeom>
          <a:noFill/>
          <a:ln/>
        </p:spPr>
        <p:txBody>
          <a:bodyPr wrap="square" lIns="0" tIns="0" rIns="0" bIns="0" rtlCol="0" anchor="ctr"/>
          <a:lstStyle/>
          <a:p>
            <a:pPr indent="0" marL="0">
              <a:buNone/>
            </a:pPr>
            <a:r>
              <a:rPr lang="en-US" sz="1200" dirty="0">
                <a:solidFill>
                  <a:srgbClr val="1E1A3C"/>
                </a:solidFill>
                <a:latin typeface="Calibri" pitchFamily="34" charset="0"/>
                <a:ea typeface="Calibri" pitchFamily="34" charset="-122"/>
                <a:cs typeface="Calibri" pitchFamily="34" charset="-120"/>
              </a:rPr>
              <a:t>Yang bisa didemo sekarang: alur UI dalam mock mode + selftest per.py.</a:t>
            </a:r>
            <a:endParaRPr lang="en-US" sz="12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dianr\AppData\Local\Temp\claude\c--SEM-5-SpellSpeak\eda6ec89-068e-4069-9b28-72e31b9a7f93\scratchpad\deck\art\px_boss.png">    </p:cNvPr>
          <p:cNvPicPr>
            <a:picLocks noChangeAspect="1"/>
          </p:cNvPicPr>
          <p:nvPr/>
        </p:nvPicPr>
        <p:blipFill>
          <a:blip r:embed="rId2"/>
          <a:stretch>
            <a:fillRect/>
          </a:stretch>
        </p:blipFill>
        <p:spPr>
          <a:xfrm>
            <a:off x="548640" y="411480"/>
            <a:ext cx="1019908" cy="457200"/>
          </a:xfrm>
          <a:prstGeom prst="rect">
            <a:avLst/>
          </a:prstGeom>
        </p:spPr>
      </p:pic>
      <p:sp>
        <p:nvSpPr>
          <p:cNvPr id="3" name="Text 0"/>
          <p:cNvSpPr/>
          <p:nvPr/>
        </p:nvSpPr>
        <p:spPr>
          <a:xfrm>
            <a:off x="548640" y="91440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Discussion &amp; limitations</a:t>
            </a:r>
            <a:endParaRPr lang="en-US" sz="3000" dirty="0"/>
          </a:p>
        </p:txBody>
      </p:sp>
      <p:sp>
        <p:nvSpPr>
          <p:cNvPr id="4" name="Text 1"/>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CFC8F5"/>
                </a:solidFill>
                <a:latin typeface="Calibri" pitchFamily="34" charset="0"/>
                <a:ea typeface="Calibri" pitchFamily="34" charset="-122"/>
                <a:cs typeface="Calibri" pitchFamily="34" charset="-120"/>
              </a:rPr>
              <a:t>SpellSpeak · progress update</a:t>
            </a:r>
            <a:endParaRPr lang="en-US" sz="900" dirty="0"/>
          </a:p>
        </p:txBody>
      </p:sp>
      <p:sp>
        <p:nvSpPr>
          <p:cNvPr id="5" name="Text 2"/>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CFC8F5"/>
                </a:solidFill>
                <a:latin typeface="Calibri" pitchFamily="34" charset="0"/>
                <a:ea typeface="Calibri" pitchFamily="34" charset="-122"/>
                <a:cs typeface="Calibri" pitchFamily="34" charset="-120"/>
              </a:rPr>
              <a:t>21</a:t>
            </a:r>
            <a:endParaRPr lang="en-US" sz="900" dirty="0"/>
          </a:p>
        </p:txBody>
      </p:sp>
      <p:sp>
        <p:nvSpPr>
          <p:cNvPr id="6" name="Shape 3"/>
          <p:cNvSpPr/>
          <p:nvPr/>
        </p:nvSpPr>
        <p:spPr>
          <a:xfrm>
            <a:off x="548640" y="1783080"/>
            <a:ext cx="4251960" cy="4389120"/>
          </a:xfrm>
          <a:prstGeom prst="roundRect">
            <a:avLst>
              <a:gd name="adj" fmla="val 3011"/>
            </a:avLst>
          </a:prstGeom>
          <a:solidFill>
            <a:srgbClr val="1A0F2E">
              <a:alpha val="85000"/>
            </a:srgbClr>
          </a:solidFill>
          <a:ln w="15875">
            <a:solidFill>
              <a:srgbClr val="FF9AD5"/>
            </a:solidFill>
            <a:prstDash val="solid"/>
          </a:ln>
        </p:spPr>
      </p:sp>
      <p:sp>
        <p:nvSpPr>
          <p:cNvPr id="7" name="Text 4"/>
          <p:cNvSpPr/>
          <p:nvPr/>
        </p:nvSpPr>
        <p:spPr>
          <a:xfrm>
            <a:off x="822960" y="1965960"/>
            <a:ext cx="3657600" cy="365760"/>
          </a:xfrm>
          <a:prstGeom prst="rect">
            <a:avLst/>
          </a:prstGeom>
          <a:noFill/>
          <a:ln/>
        </p:spPr>
        <p:txBody>
          <a:bodyPr wrap="square" lIns="0" tIns="0" rIns="0" bIns="0" rtlCol="0" anchor="t"/>
          <a:lstStyle/>
          <a:p>
            <a:pPr indent="0" marL="0">
              <a:buNone/>
            </a:pPr>
            <a:r>
              <a:rPr lang="en-US" sz="1600" b="1" dirty="0">
                <a:solidFill>
                  <a:srgbClr val="FF9AD5"/>
                </a:solidFill>
                <a:latin typeface="Calibri" pitchFamily="34" charset="0"/>
                <a:ea typeface="Calibri" pitchFamily="34" charset="-122"/>
                <a:cs typeface="Calibri" pitchFamily="34" charset="-120"/>
              </a:rPr>
              <a:t>Risiko teknis</a:t>
            </a:r>
            <a:endParaRPr lang="en-US" sz="1600" dirty="0"/>
          </a:p>
        </p:txBody>
      </p:sp>
      <p:sp>
        <p:nvSpPr>
          <p:cNvPr id="8" name="Text 5"/>
          <p:cNvSpPr/>
          <p:nvPr/>
        </p:nvSpPr>
        <p:spPr>
          <a:xfrm>
            <a:off x="822960" y="2514600"/>
            <a:ext cx="3703320" cy="3566160"/>
          </a:xfrm>
          <a:prstGeom prst="rect">
            <a:avLst/>
          </a:prstGeom>
          <a:noFill/>
          <a:ln/>
        </p:spPr>
        <p:txBody>
          <a:bodyPr wrap="square" lIns="0" tIns="0" rIns="0" bIns="0" rtlCol="0" anchor="t"/>
          <a:lstStyle/>
          <a:p>
            <a:pPr indent="0" marL="0">
              <a:spcAft>
                <a:spcPts val="1600"/>
              </a:spcAft>
              <a:buNone/>
            </a:pPr>
            <a:r>
              <a:rPr lang="en-US" sz="1450" b="1" dirty="0">
                <a:solidFill>
                  <a:srgbClr val="FFFFFF"/>
                </a:solidFill>
                <a:latin typeface="Calibri" pitchFamily="34" charset="0"/>
                <a:ea typeface="Calibri" pitchFamily="34" charset="-122"/>
                <a:cs typeface="Calibri" pitchFamily="34" charset="-120"/>
              </a:rPr>
              <a:t>CPU only. </a:t>
            </a:r>
            <a:pPr indent="0" marL="0">
              <a:spcAft>
                <a:spcPts val="1600"/>
              </a:spcAft>
              <a:buNone/>
            </a:pPr>
            <a:r>
              <a:rPr lang="en-US" sz="1450" dirty="0">
                <a:solidFill>
                  <a:srgbClr val="DCD6F5"/>
                </a:solidFill>
                <a:latin typeface="Calibri" pitchFamily="34" charset="0"/>
                <a:ea typeface="Calibri" pitchFamily="34" charset="-122"/>
                <a:cs typeface="Calibri" pitchFamily="34" charset="-120"/>
              </a:rPr>
              <a:t>wav2vec2 Large bisa lambat. Gate RTF yang nentuin: tetap, int8, atau ganti model lebih kecil.</a:t>
            </a:r>
            <a:endParaRPr lang="en-US" sz="1450" dirty="0"/>
          </a:p>
          <a:p>
            <a:pPr indent="0" marL="0">
              <a:spcAft>
                <a:spcPts val="1600"/>
              </a:spcAft>
              <a:buNone/>
            </a:pPr>
            <a:r>
              <a:rPr lang="en-US" sz="1450" b="1" dirty="0">
                <a:solidFill>
                  <a:srgbClr val="FFFFFF"/>
                </a:solidFill>
                <a:latin typeface="Calibri" pitchFamily="34" charset="0"/>
                <a:ea typeface="Calibri" pitchFamily="34" charset="-122"/>
                <a:cs typeface="Calibri" pitchFamily="34" charset="-120"/>
              </a:rPr>
              <a:t>Bias aksen. </a:t>
            </a:r>
            <a:pPr indent="0" marL="0">
              <a:spcAft>
                <a:spcPts val="1600"/>
              </a:spcAft>
              <a:buNone/>
            </a:pPr>
            <a:r>
              <a:rPr lang="en-US" sz="1450" dirty="0">
                <a:solidFill>
                  <a:srgbClr val="DCD6F5"/>
                </a:solidFill>
                <a:latin typeface="Calibri" pitchFamily="34" charset="0"/>
                <a:ea typeface="Calibri" pitchFamily="34" charset="-122"/>
                <a:cs typeface="Calibri" pitchFamily="34" charset="-120"/>
              </a:rPr>
              <a:t>Zipformer dilatih LibriSpeech (speaker native). Hipotesis: WER lebih tinggi buat aksen Indonesia, masih harus diukur.</a:t>
            </a:r>
            <a:endParaRPr lang="en-US" sz="1450" dirty="0"/>
          </a:p>
          <a:p>
            <a:pPr indent="0" marL="0">
              <a:spcAft>
                <a:spcPts val="1600"/>
              </a:spcAft>
              <a:buNone/>
            </a:pPr>
            <a:r>
              <a:rPr lang="en-US" sz="1450" b="1" dirty="0">
                <a:solidFill>
                  <a:srgbClr val="FFFFFF"/>
                </a:solidFill>
                <a:latin typeface="Calibri" pitchFamily="34" charset="0"/>
                <a:ea typeface="Calibri" pitchFamily="34" charset="-122"/>
                <a:cs typeface="Calibri" pitchFamily="34" charset="-120"/>
              </a:rPr>
              <a:t>Jalur B nggak streaming. </a:t>
            </a:r>
            <a:pPr indent="0" marL="0">
              <a:spcAft>
                <a:spcPts val="1600"/>
              </a:spcAft>
              <a:buNone/>
            </a:pPr>
            <a:r>
              <a:rPr lang="en-US" sz="1450" dirty="0">
                <a:solidFill>
                  <a:srgbClr val="DCD6F5"/>
                </a:solidFill>
                <a:latin typeface="Calibri" pitchFamily="34" charset="0"/>
                <a:ea typeface="Calibri" pitchFamily="34" charset="-122"/>
                <a:cs typeface="Calibri" pitchFamily="34" charset="-120"/>
              </a:rPr>
              <a:t>Dia butuh audio utuh, jadi latency-nya dilaporkan sebagai endpoint → score.</a:t>
            </a:r>
            <a:endParaRPr lang="en-US" sz="1450" dirty="0"/>
          </a:p>
        </p:txBody>
      </p:sp>
      <p:sp>
        <p:nvSpPr>
          <p:cNvPr id="9" name="Shape 6"/>
          <p:cNvSpPr/>
          <p:nvPr/>
        </p:nvSpPr>
        <p:spPr>
          <a:xfrm>
            <a:off x="4983480" y="1783080"/>
            <a:ext cx="4251960" cy="4389120"/>
          </a:xfrm>
          <a:prstGeom prst="roundRect">
            <a:avLst>
              <a:gd name="adj" fmla="val 3011"/>
            </a:avLst>
          </a:prstGeom>
          <a:solidFill>
            <a:srgbClr val="1A0F2E">
              <a:alpha val="85000"/>
            </a:srgbClr>
          </a:solidFill>
          <a:ln w="15875">
            <a:solidFill>
              <a:srgbClr val="7EF0FF"/>
            </a:solidFill>
            <a:prstDash val="solid"/>
          </a:ln>
        </p:spPr>
      </p:sp>
      <p:sp>
        <p:nvSpPr>
          <p:cNvPr id="10" name="Text 7"/>
          <p:cNvSpPr/>
          <p:nvPr/>
        </p:nvSpPr>
        <p:spPr>
          <a:xfrm>
            <a:off x="5257800" y="1965960"/>
            <a:ext cx="3657600" cy="365760"/>
          </a:xfrm>
          <a:prstGeom prst="rect">
            <a:avLst/>
          </a:prstGeom>
          <a:noFill/>
          <a:ln/>
        </p:spPr>
        <p:txBody>
          <a:bodyPr wrap="square" lIns="0" tIns="0" rIns="0" bIns="0" rtlCol="0" anchor="t"/>
          <a:lstStyle/>
          <a:p>
            <a:pPr indent="0" marL="0">
              <a:buNone/>
            </a:pPr>
            <a:r>
              <a:rPr lang="en-US" sz="1600" b="1" dirty="0">
                <a:solidFill>
                  <a:srgbClr val="7EF0FF"/>
                </a:solidFill>
                <a:latin typeface="Calibri" pitchFamily="34" charset="0"/>
                <a:ea typeface="Calibri" pitchFamily="34" charset="-122"/>
                <a:cs typeface="Calibri" pitchFamily="34" charset="-120"/>
              </a:rPr>
              <a:t>Data &amp; penilaian</a:t>
            </a:r>
            <a:endParaRPr lang="en-US" sz="1600" dirty="0"/>
          </a:p>
        </p:txBody>
      </p:sp>
      <p:sp>
        <p:nvSpPr>
          <p:cNvPr id="11" name="Text 8"/>
          <p:cNvSpPr/>
          <p:nvPr/>
        </p:nvSpPr>
        <p:spPr>
          <a:xfrm>
            <a:off x="5257800" y="2514600"/>
            <a:ext cx="3703320" cy="3566160"/>
          </a:xfrm>
          <a:prstGeom prst="rect">
            <a:avLst/>
          </a:prstGeom>
          <a:noFill/>
          <a:ln/>
        </p:spPr>
        <p:txBody>
          <a:bodyPr wrap="square" lIns="0" tIns="0" rIns="0" bIns="0" rtlCol="0" anchor="t"/>
          <a:lstStyle/>
          <a:p>
            <a:pPr indent="0" marL="0">
              <a:spcAft>
                <a:spcPts val="1600"/>
              </a:spcAft>
              <a:buNone/>
            </a:pPr>
            <a:r>
              <a:rPr lang="en-US" sz="1450" b="1" dirty="0">
                <a:solidFill>
                  <a:srgbClr val="FFFFFF"/>
                </a:solidFill>
                <a:latin typeface="Calibri" pitchFamily="34" charset="0"/>
                <a:ea typeface="Calibri" pitchFamily="34" charset="-122"/>
                <a:cs typeface="Calibri" pitchFamily="34" charset="-120"/>
              </a:rPr>
              <a:t>Data kecil. </a:t>
            </a:r>
            <a:pPr indent="0" marL="0">
              <a:spcAft>
                <a:spcPts val="1600"/>
              </a:spcAft>
              <a:buNone/>
            </a:pPr>
            <a:r>
              <a:rPr lang="en-US" sz="1450" dirty="0">
                <a:solidFill>
                  <a:srgbClr val="DCD6F5"/>
                </a:solidFill>
                <a:latin typeface="Calibri" pitchFamily="34" charset="0"/>
                <a:ea typeface="Calibri" pitchFamily="34" charset="-122"/>
                <a:cs typeface="Calibri" pitchFamily="34" charset="-120"/>
              </a:rPr>
              <a:t>Belum ada korpus English aksen Indonesia berlabel fonem. Sekarang baru 1 speaker.</a:t>
            </a:r>
            <a:endParaRPr lang="en-US" sz="1450" dirty="0"/>
          </a:p>
          <a:p>
            <a:pPr indent="0" marL="0">
              <a:spcAft>
                <a:spcPts val="1600"/>
              </a:spcAft>
              <a:buNone/>
            </a:pPr>
            <a:r>
              <a:rPr lang="en-US" sz="1450" b="1" dirty="0">
                <a:solidFill>
                  <a:srgbClr val="FFFFFF"/>
                </a:solidFill>
                <a:latin typeface="Calibri" pitchFamily="34" charset="0"/>
                <a:ea typeface="Calibri" pitchFamily="34" charset="-122"/>
                <a:cs typeface="Calibri" pitchFamily="34" charset="-120"/>
              </a:rPr>
              <a:t>Satu standar. </a:t>
            </a:r>
            <a:pPr indent="0" marL="0">
              <a:spcAft>
                <a:spcPts val="1600"/>
              </a:spcAft>
              <a:buNone/>
            </a:pPr>
            <a:r>
              <a:rPr lang="en-US" sz="1450" dirty="0">
                <a:solidFill>
                  <a:srgbClr val="DCD6F5"/>
                </a:solidFill>
                <a:latin typeface="Calibri" pitchFamily="34" charset="0"/>
                <a:ea typeface="Calibri" pitchFamily="34" charset="-122"/>
                <a:cs typeface="Calibri" pitchFamily="34" charset="-120"/>
              </a:rPr>
              <a:t>Target fonem dari espeak-ng cuma salah satu aksen “benar”, bukan satu-satunya.</a:t>
            </a:r>
            <a:endParaRPr lang="en-US" sz="1450" dirty="0"/>
          </a:p>
          <a:p>
            <a:pPr indent="0" marL="0">
              <a:spcAft>
                <a:spcPts val="1600"/>
              </a:spcAft>
              <a:buNone/>
            </a:pPr>
            <a:r>
              <a:rPr lang="en-US" sz="1450" b="1" dirty="0">
                <a:solidFill>
                  <a:srgbClr val="FFFFFF"/>
                </a:solidFill>
                <a:latin typeface="Calibri" pitchFamily="34" charset="0"/>
                <a:ea typeface="Calibri" pitchFamily="34" charset="-122"/>
                <a:cs typeface="Calibri" pitchFamily="34" charset="-120"/>
              </a:rPr>
              <a:t>PER itu kasar. </a:t>
            </a:r>
            <a:pPr indent="0" marL="0">
              <a:spcAft>
                <a:spcPts val="1600"/>
              </a:spcAft>
              <a:buNone/>
            </a:pPr>
            <a:r>
              <a:rPr lang="en-US" sz="1450" dirty="0">
                <a:solidFill>
                  <a:srgbClr val="DCD6F5"/>
                </a:solidFill>
                <a:latin typeface="Calibri" pitchFamily="34" charset="0"/>
                <a:ea typeface="Calibri" pitchFamily="34" charset="-122"/>
                <a:cs typeface="Calibri" pitchFamily="34" charset="-120"/>
              </a:rPr>
              <a:t>Semua kesalahan dihitung sama, padahal ada yang lebih kedengaran. Threshold &amp; tips belum dikalibrasi.</a:t>
            </a:r>
            <a:endParaRPr lang="en-US" sz="1450" dirty="0"/>
          </a:p>
        </p:txBody>
      </p:sp>
      <p:pic>
        <p:nvPicPr>
          <p:cNvPr id="12" name="Image 1" descr="C:\Users\dianr\AppData\Local\Temp\claude\c--SEM-5-SpellSpeak\eda6ec89-068e-4069-9b28-72e31b9a7f93\scratchpad\deck\art\boss_panda.png">    </p:cNvPr>
          <p:cNvPicPr>
            <a:picLocks noChangeAspect="1"/>
          </p:cNvPicPr>
          <p:nvPr/>
        </p:nvPicPr>
        <p:blipFill>
          <a:blip r:embed="rId3"/>
          <a:stretch>
            <a:fillRect/>
          </a:stretch>
        </p:blipFill>
        <p:spPr>
          <a:xfrm>
            <a:off x="9555480" y="3017520"/>
            <a:ext cx="2078182" cy="2286000"/>
          </a:xfrm>
          <a:prstGeom prst="rect">
            <a:avLst/>
          </a:prstGeom>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8580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Conclusion &amp; future work</a:t>
            </a:r>
            <a:endParaRPr lang="en-US" sz="3000" dirty="0"/>
          </a:p>
        </p:txBody>
      </p:sp>
      <p:sp>
        <p:nvSpPr>
          <p:cNvPr id="3" name="Text 1"/>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CFC8F5"/>
                </a:solidFill>
                <a:latin typeface="Calibri" pitchFamily="34" charset="0"/>
                <a:ea typeface="Calibri" pitchFamily="34" charset="-122"/>
                <a:cs typeface="Calibri" pitchFamily="34" charset="-120"/>
              </a:rPr>
              <a:t>SpellSpeak · progress update</a:t>
            </a:r>
            <a:endParaRPr lang="en-US" sz="900" dirty="0"/>
          </a:p>
        </p:txBody>
      </p:sp>
      <p:sp>
        <p:nvSpPr>
          <p:cNvPr id="4" name="Text 2"/>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CFC8F5"/>
                </a:solidFill>
                <a:latin typeface="Calibri" pitchFamily="34" charset="0"/>
                <a:ea typeface="Calibri" pitchFamily="34" charset="-122"/>
                <a:cs typeface="Calibri" pitchFamily="34" charset="-120"/>
              </a:rPr>
              <a:t>22</a:t>
            </a:r>
            <a:endParaRPr lang="en-US" sz="900" dirty="0"/>
          </a:p>
        </p:txBody>
      </p:sp>
      <p:sp>
        <p:nvSpPr>
          <p:cNvPr id="5" name="Shape 3"/>
          <p:cNvSpPr/>
          <p:nvPr/>
        </p:nvSpPr>
        <p:spPr>
          <a:xfrm>
            <a:off x="548640" y="1600200"/>
            <a:ext cx="5394960" cy="4572000"/>
          </a:xfrm>
          <a:prstGeom prst="roundRect">
            <a:avLst>
              <a:gd name="adj" fmla="val 2800"/>
            </a:avLst>
          </a:prstGeom>
          <a:solidFill>
            <a:srgbClr val="FFFFFF"/>
          </a:solidFill>
          <a:ln w="12700">
            <a:solidFill>
              <a:srgbClr val="FFFFFF"/>
            </a:solidFill>
            <a:prstDash val="solid"/>
          </a:ln>
          <a:effectLst>
            <a:outerShdw sx="100000" sy="100000" kx="0" ky="0" algn="bl" rotWithShape="0" blurRad="127000" dist="38100" dir="5400000">
              <a:srgbClr val="2A2050">
                <a:alpha val="30000"/>
              </a:srgbClr>
            </a:outerShdw>
          </a:effectLst>
        </p:spPr>
      </p:sp>
      <p:sp>
        <p:nvSpPr>
          <p:cNvPr id="6" name="Text 4"/>
          <p:cNvSpPr/>
          <p:nvPr/>
        </p:nvSpPr>
        <p:spPr>
          <a:xfrm>
            <a:off x="822960" y="1783080"/>
            <a:ext cx="4846320" cy="365760"/>
          </a:xfrm>
          <a:prstGeom prst="rect">
            <a:avLst/>
          </a:prstGeom>
          <a:noFill/>
          <a:ln/>
        </p:spPr>
        <p:txBody>
          <a:bodyPr wrap="square" lIns="0" tIns="0" rIns="0" bIns="0" rtlCol="0" anchor="t"/>
          <a:lstStyle/>
          <a:p>
            <a:pPr indent="0" marL="0">
              <a:buNone/>
            </a:pPr>
            <a:r>
              <a:rPr lang="en-US" sz="1600" b="1" dirty="0">
                <a:solidFill>
                  <a:srgbClr val="4C3FB8"/>
                </a:solidFill>
                <a:latin typeface="Calibri" pitchFamily="34" charset="0"/>
                <a:ea typeface="Calibri" pitchFamily="34" charset="-122"/>
                <a:cs typeface="Calibri" pitchFamily="34" charset="-120"/>
              </a:rPr>
              <a:t>Kesimpulan sejauh ini</a:t>
            </a:r>
            <a:endParaRPr lang="en-US" sz="1600" dirty="0"/>
          </a:p>
        </p:txBody>
      </p:sp>
      <p:sp>
        <p:nvSpPr>
          <p:cNvPr id="7" name="Text 5"/>
          <p:cNvSpPr/>
          <p:nvPr/>
        </p:nvSpPr>
        <p:spPr>
          <a:xfrm>
            <a:off x="822960" y="2286000"/>
            <a:ext cx="4892040" cy="3108960"/>
          </a:xfrm>
          <a:prstGeom prst="rect">
            <a:avLst/>
          </a:prstGeom>
          <a:noFill/>
          <a:ln/>
        </p:spPr>
        <p:txBody>
          <a:bodyPr wrap="square" lIns="0" tIns="0" rIns="0" bIns="0" rtlCol="0" anchor="t"/>
          <a:lstStyle/>
          <a:p>
            <a:pPr indent="0" marL="0">
              <a:spcAft>
                <a:spcPts val="1600"/>
              </a:spcAft>
              <a:buNone/>
            </a:pPr>
            <a:r>
              <a:rPr lang="en-US" sz="1500" b="1" dirty="0">
                <a:solidFill>
                  <a:srgbClr val="1E1A3C"/>
                </a:solidFill>
                <a:latin typeface="Calibri" pitchFamily="34" charset="0"/>
                <a:ea typeface="Calibri" pitchFamily="34" charset="-122"/>
                <a:cs typeface="Calibri" pitchFamily="34" charset="-120"/>
              </a:rPr>
              <a:t>Arsitektur final udah dikunci. </a:t>
            </a:r>
            <a:pPr indent="0" marL="0">
              <a:spcAft>
                <a:spcPts val="1600"/>
              </a:spcAft>
              <a:buNone/>
            </a:pPr>
            <a:r>
              <a:rPr lang="en-US" sz="1500" dirty="0">
                <a:solidFill>
                  <a:srgbClr val="5E5A7E"/>
                </a:solidFill>
                <a:latin typeface="Calibri" pitchFamily="34" charset="0"/>
                <a:ea typeface="Calibri" pitchFamily="34" charset="-122"/>
                <a:cs typeface="Calibri" pitchFamily="34" charset="-120"/>
              </a:rPr>
              <a:t>Dua jalur + VAD, 100% lokal, dan udah sesuai definisi real-time di form (partial transcript selagi ngomong).</a:t>
            </a:r>
            <a:endParaRPr lang="en-US" sz="1500" dirty="0"/>
          </a:p>
          <a:p>
            <a:pPr indent="0" marL="0">
              <a:spcAft>
                <a:spcPts val="1600"/>
              </a:spcAft>
              <a:buNone/>
            </a:pPr>
            <a:r>
              <a:rPr lang="en-US" sz="1500" b="1" dirty="0">
                <a:solidFill>
                  <a:srgbClr val="1E1A3C"/>
                </a:solidFill>
                <a:latin typeface="Calibri" pitchFamily="34" charset="0"/>
                <a:ea typeface="Calibri" pitchFamily="34" charset="-122"/>
                <a:cs typeface="Calibri" pitchFamily="34" charset="-120"/>
              </a:rPr>
              <a:t>Skornya fokus ke bunyi, bukan kata. </a:t>
            </a:r>
            <a:pPr indent="0" marL="0">
              <a:spcAft>
                <a:spcPts val="1600"/>
              </a:spcAft>
              <a:buNone/>
            </a:pPr>
            <a:r>
              <a:rPr lang="en-US" sz="1500" dirty="0">
                <a:solidFill>
                  <a:srgbClr val="5E5A7E"/>
                </a:solidFill>
                <a:latin typeface="Calibri" pitchFamily="34" charset="0"/>
                <a:ea typeface="Calibri" pitchFamily="34" charset="-122"/>
                <a:cs typeface="Calibri" pitchFamily="34" charset="-120"/>
              </a:rPr>
              <a:t>PER per fonem bikin kesalahan kayak /θ/→/t/ kelihatan, yang biasanya ketutup di ASR biasa.</a:t>
            </a:r>
            <a:endParaRPr lang="en-US" sz="1500" dirty="0"/>
          </a:p>
          <a:p>
            <a:pPr indent="0" marL="0">
              <a:spcAft>
                <a:spcPts val="1600"/>
              </a:spcAft>
              <a:buNone/>
            </a:pPr>
            <a:r>
              <a:rPr lang="en-US" sz="1500" b="1" dirty="0">
                <a:solidFill>
                  <a:srgbClr val="1E1A3C"/>
                </a:solidFill>
                <a:latin typeface="Calibri" pitchFamily="34" charset="0"/>
                <a:ea typeface="Calibri" pitchFamily="34" charset="-122"/>
                <a:cs typeface="Calibri" pitchFamily="34" charset="-120"/>
              </a:rPr>
              <a:t>Fondasinya siap. </a:t>
            </a:r>
            <a:pPr indent="0" marL="0">
              <a:spcAft>
                <a:spcPts val="1600"/>
              </a:spcAft>
              <a:buNone/>
            </a:pPr>
            <a:r>
              <a:rPr lang="en-US" sz="1500" dirty="0">
                <a:solidFill>
                  <a:srgbClr val="5E5A7E"/>
                </a:solidFill>
                <a:latin typeface="Calibri" pitchFamily="34" charset="0"/>
                <a:ea typeface="Calibri" pitchFamily="34" charset="-122"/>
                <a:cs typeface="Calibri" pitchFamily="34" charset="-120"/>
              </a:rPr>
              <a:t>Scorer, protokol, notebook, dan alur rekam udah ada. Angka hasil menyusul dari script.</a:t>
            </a:r>
            <a:endParaRPr lang="en-US" sz="1500" dirty="0"/>
          </a:p>
        </p:txBody>
      </p:sp>
      <p:pic>
        <p:nvPicPr>
          <p:cNvPr id="8" name="Image 0" descr="C:\Users\dianr\AppData\Local\Temp\claude\c--SEM-5-SpellSpeak\eda6ec89-068e-4069-9b28-72e31b9a7f93\scratchpad\deck\art\soul_pink.png">    </p:cNvPr>
          <p:cNvPicPr>
            <a:picLocks noChangeAspect="1"/>
          </p:cNvPicPr>
          <p:nvPr/>
        </p:nvPicPr>
        <p:blipFill>
          <a:blip r:embed="rId2"/>
          <a:stretch>
            <a:fillRect/>
          </a:stretch>
        </p:blipFill>
        <p:spPr>
          <a:xfrm>
            <a:off x="4206240" y="5257800"/>
            <a:ext cx="706582" cy="777240"/>
          </a:xfrm>
          <a:prstGeom prst="rect">
            <a:avLst/>
          </a:prstGeom>
        </p:spPr>
      </p:pic>
      <p:pic>
        <p:nvPicPr>
          <p:cNvPr id="9" name="Image 1" descr="C:\Users\dianr\AppData\Local\Temp\claude\c--SEM-5-SpellSpeak\eda6ec89-068e-4069-9b28-72e31b9a7f93\scratchpad\deck\art\soul_gold.png">    </p:cNvPr>
          <p:cNvPicPr>
            <a:picLocks noChangeAspect="1"/>
          </p:cNvPicPr>
          <p:nvPr/>
        </p:nvPicPr>
        <p:blipFill>
          <a:blip r:embed="rId3"/>
          <a:stretch>
            <a:fillRect/>
          </a:stretch>
        </p:blipFill>
        <p:spPr>
          <a:xfrm>
            <a:off x="4983480" y="5257800"/>
            <a:ext cx="706582" cy="777240"/>
          </a:xfrm>
          <a:prstGeom prst="rect">
            <a:avLst/>
          </a:prstGeom>
        </p:spPr>
      </p:pic>
      <p:sp>
        <p:nvSpPr>
          <p:cNvPr id="10" name="Text 6"/>
          <p:cNvSpPr/>
          <p:nvPr/>
        </p:nvSpPr>
        <p:spPr>
          <a:xfrm>
            <a:off x="822960" y="5577840"/>
            <a:ext cx="3291840" cy="320040"/>
          </a:xfrm>
          <a:prstGeom prst="rect">
            <a:avLst/>
          </a:prstGeom>
          <a:noFill/>
          <a:ln/>
        </p:spPr>
        <p:txBody>
          <a:bodyPr wrap="square" lIns="0" tIns="0" rIns="0" bIns="0" rtlCol="0" anchor="t"/>
          <a:lstStyle/>
          <a:p>
            <a:pPr indent="0" marL="0">
              <a:buNone/>
            </a:pPr>
            <a:r>
              <a:rPr lang="en-US" sz="1100" i="1" dirty="0">
                <a:solidFill>
                  <a:srgbClr val="8C87AD"/>
                </a:solidFill>
                <a:latin typeface="Calibri" pitchFamily="34" charset="0"/>
                <a:ea typeface="Calibri" pitchFamily="34" charset="-122"/>
                <a:cs typeface="Calibri" pitchFamily="34" charset="-120"/>
              </a:rPr>
              <a:t>Masih ada 2 soul yang harus dikumpulin…</a:t>
            </a:r>
            <a:endParaRPr lang="en-US" sz="1100" dirty="0"/>
          </a:p>
        </p:txBody>
      </p:sp>
      <p:sp>
        <p:nvSpPr>
          <p:cNvPr id="11" name="Shape 7"/>
          <p:cNvSpPr/>
          <p:nvPr/>
        </p:nvSpPr>
        <p:spPr>
          <a:xfrm>
            <a:off x="6263640" y="1600200"/>
            <a:ext cx="5394960" cy="777240"/>
          </a:xfrm>
          <a:prstGeom prst="roundRect">
            <a:avLst>
              <a:gd name="adj" fmla="val 14118"/>
            </a:avLst>
          </a:prstGeom>
          <a:solidFill>
            <a:srgbClr val="1A0F2E">
              <a:alpha val="85000"/>
            </a:srgbClr>
          </a:solidFill>
          <a:ln w="12700">
            <a:solidFill>
              <a:srgbClr val="B79CFF"/>
            </a:solidFill>
            <a:prstDash val="solid"/>
          </a:ln>
        </p:spPr>
      </p:sp>
      <p:sp>
        <p:nvSpPr>
          <p:cNvPr id="12" name="Text 8"/>
          <p:cNvSpPr/>
          <p:nvPr/>
        </p:nvSpPr>
        <p:spPr>
          <a:xfrm>
            <a:off x="6446520" y="1600200"/>
            <a:ext cx="1234440" cy="777240"/>
          </a:xfrm>
          <a:prstGeom prst="rect">
            <a:avLst/>
          </a:prstGeom>
          <a:noFill/>
          <a:ln/>
        </p:spPr>
        <p:txBody>
          <a:bodyPr wrap="square" lIns="0" tIns="0" rIns="0" bIns="0" rtlCol="0" anchor="ctr"/>
          <a:lstStyle/>
          <a:p>
            <a:pPr indent="0" marL="0">
              <a:buNone/>
            </a:pPr>
            <a:r>
              <a:rPr lang="en-US" sz="1250" b="1" dirty="0">
                <a:solidFill>
                  <a:srgbClr val="FFD34D"/>
                </a:solidFill>
                <a:latin typeface="Calibri" pitchFamily="34" charset="0"/>
                <a:ea typeface="Calibri" pitchFamily="34" charset="-122"/>
                <a:cs typeface="Calibri" pitchFamily="34" charset="-120"/>
              </a:rPr>
              <a:t>Minggu ini</a:t>
            </a:r>
            <a:endParaRPr lang="en-US" sz="1250" dirty="0"/>
          </a:p>
        </p:txBody>
      </p:sp>
      <p:sp>
        <p:nvSpPr>
          <p:cNvPr id="13" name="Text 9"/>
          <p:cNvSpPr/>
          <p:nvPr/>
        </p:nvSpPr>
        <p:spPr>
          <a:xfrm>
            <a:off x="7680960" y="1600200"/>
            <a:ext cx="3840480" cy="7772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Gate RTF + run NB01/NB03, lalu pilih engine Jalur A</a:t>
            </a:r>
            <a:endParaRPr lang="en-US" sz="1250" dirty="0"/>
          </a:p>
        </p:txBody>
      </p:sp>
      <p:sp>
        <p:nvSpPr>
          <p:cNvPr id="14" name="Shape 10"/>
          <p:cNvSpPr/>
          <p:nvPr/>
        </p:nvSpPr>
        <p:spPr>
          <a:xfrm>
            <a:off x="6263640" y="2514600"/>
            <a:ext cx="5394960" cy="777240"/>
          </a:xfrm>
          <a:prstGeom prst="roundRect">
            <a:avLst>
              <a:gd name="adj" fmla="val 14118"/>
            </a:avLst>
          </a:prstGeom>
          <a:solidFill>
            <a:srgbClr val="1A0F2E">
              <a:alpha val="85000"/>
            </a:srgbClr>
          </a:solidFill>
          <a:ln w="12700">
            <a:solidFill>
              <a:srgbClr val="B79CFF"/>
            </a:solidFill>
            <a:prstDash val="solid"/>
          </a:ln>
        </p:spPr>
      </p:sp>
      <p:sp>
        <p:nvSpPr>
          <p:cNvPr id="15" name="Text 11"/>
          <p:cNvSpPr/>
          <p:nvPr/>
        </p:nvSpPr>
        <p:spPr>
          <a:xfrm>
            <a:off x="6446520" y="2514600"/>
            <a:ext cx="1234440" cy="777240"/>
          </a:xfrm>
          <a:prstGeom prst="rect">
            <a:avLst/>
          </a:prstGeom>
          <a:noFill/>
          <a:ln/>
        </p:spPr>
        <p:txBody>
          <a:bodyPr wrap="square" lIns="0" tIns="0" rIns="0" bIns="0" rtlCol="0" anchor="ctr"/>
          <a:lstStyle/>
          <a:p>
            <a:pPr indent="0" marL="0">
              <a:buNone/>
            </a:pPr>
            <a:r>
              <a:rPr lang="en-US" sz="1250" b="1" dirty="0">
                <a:solidFill>
                  <a:srgbClr val="FFD34D"/>
                </a:solidFill>
                <a:latin typeface="Calibri" pitchFamily="34" charset="0"/>
                <a:ea typeface="Calibri" pitchFamily="34" charset="-122"/>
                <a:cs typeface="Calibri" pitchFamily="34" charset="-120"/>
              </a:rPr>
              <a:t>Data</a:t>
            </a:r>
            <a:endParaRPr lang="en-US" sz="1250" dirty="0"/>
          </a:p>
        </p:txBody>
      </p:sp>
      <p:sp>
        <p:nvSpPr>
          <p:cNvPr id="16" name="Text 12"/>
          <p:cNvSpPr/>
          <p:nvPr/>
        </p:nvSpPr>
        <p:spPr>
          <a:xfrm>
            <a:off x="7680960" y="2514600"/>
            <a:ext cx="3840480" cy="7772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≥5 speaker + label fonem manual untuk sebagian clip</a:t>
            </a:r>
            <a:endParaRPr lang="en-US" sz="1250" dirty="0"/>
          </a:p>
        </p:txBody>
      </p:sp>
      <p:sp>
        <p:nvSpPr>
          <p:cNvPr id="17" name="Shape 13"/>
          <p:cNvSpPr/>
          <p:nvPr/>
        </p:nvSpPr>
        <p:spPr>
          <a:xfrm>
            <a:off x="6263640" y="3429000"/>
            <a:ext cx="5394960" cy="777240"/>
          </a:xfrm>
          <a:prstGeom prst="roundRect">
            <a:avLst>
              <a:gd name="adj" fmla="val 14118"/>
            </a:avLst>
          </a:prstGeom>
          <a:solidFill>
            <a:srgbClr val="1A0F2E">
              <a:alpha val="85000"/>
            </a:srgbClr>
          </a:solidFill>
          <a:ln w="12700">
            <a:solidFill>
              <a:srgbClr val="B79CFF"/>
            </a:solidFill>
            <a:prstDash val="solid"/>
          </a:ln>
        </p:spPr>
      </p:sp>
      <p:sp>
        <p:nvSpPr>
          <p:cNvPr id="18" name="Text 14"/>
          <p:cNvSpPr/>
          <p:nvPr/>
        </p:nvSpPr>
        <p:spPr>
          <a:xfrm>
            <a:off x="6446520" y="3429000"/>
            <a:ext cx="1234440" cy="777240"/>
          </a:xfrm>
          <a:prstGeom prst="rect">
            <a:avLst/>
          </a:prstGeom>
          <a:noFill/>
          <a:ln/>
        </p:spPr>
        <p:txBody>
          <a:bodyPr wrap="square" lIns="0" tIns="0" rIns="0" bIns="0" rtlCol="0" anchor="ctr"/>
          <a:lstStyle/>
          <a:p>
            <a:pPr indent="0" marL="0">
              <a:buNone/>
            </a:pPr>
            <a:r>
              <a:rPr lang="en-US" sz="1250" b="1" dirty="0">
                <a:solidFill>
                  <a:srgbClr val="FFD34D"/>
                </a:solidFill>
                <a:latin typeface="Calibri" pitchFamily="34" charset="0"/>
                <a:ea typeface="Calibri" pitchFamily="34" charset="-122"/>
                <a:cs typeface="Calibri" pitchFamily="34" charset="-120"/>
              </a:rPr>
              <a:t>Game</a:t>
            </a:r>
            <a:endParaRPr lang="en-US" sz="1250" dirty="0"/>
          </a:p>
        </p:txBody>
      </p:sp>
      <p:sp>
        <p:nvSpPr>
          <p:cNvPr id="19" name="Text 15"/>
          <p:cNvSpPr/>
          <p:nvPr/>
        </p:nvSpPr>
        <p:spPr>
          <a:xfrm>
            <a:off x="7680960" y="3429000"/>
            <a:ext cx="3840480" cy="7772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3 stage + boss sesuai moodboard, game loop jalan pakai backend asli</a:t>
            </a:r>
            <a:endParaRPr lang="en-US" sz="1250" dirty="0"/>
          </a:p>
        </p:txBody>
      </p:sp>
      <p:sp>
        <p:nvSpPr>
          <p:cNvPr id="20" name="Shape 16"/>
          <p:cNvSpPr/>
          <p:nvPr/>
        </p:nvSpPr>
        <p:spPr>
          <a:xfrm>
            <a:off x="6263640" y="4343400"/>
            <a:ext cx="5394960" cy="777240"/>
          </a:xfrm>
          <a:prstGeom prst="roundRect">
            <a:avLst>
              <a:gd name="adj" fmla="val 14118"/>
            </a:avLst>
          </a:prstGeom>
          <a:solidFill>
            <a:srgbClr val="1A0F2E">
              <a:alpha val="85000"/>
            </a:srgbClr>
          </a:solidFill>
          <a:ln w="12700">
            <a:solidFill>
              <a:srgbClr val="B79CFF"/>
            </a:solidFill>
            <a:prstDash val="solid"/>
          </a:ln>
        </p:spPr>
      </p:sp>
      <p:sp>
        <p:nvSpPr>
          <p:cNvPr id="21" name="Text 17"/>
          <p:cNvSpPr/>
          <p:nvPr/>
        </p:nvSpPr>
        <p:spPr>
          <a:xfrm>
            <a:off x="6446520" y="4343400"/>
            <a:ext cx="1234440" cy="777240"/>
          </a:xfrm>
          <a:prstGeom prst="rect">
            <a:avLst/>
          </a:prstGeom>
          <a:noFill/>
          <a:ln/>
        </p:spPr>
        <p:txBody>
          <a:bodyPr wrap="square" lIns="0" tIns="0" rIns="0" bIns="0" rtlCol="0" anchor="ctr"/>
          <a:lstStyle/>
          <a:p>
            <a:pPr indent="0" marL="0">
              <a:buNone/>
            </a:pPr>
            <a:r>
              <a:rPr lang="en-US" sz="1250" b="1" dirty="0">
                <a:solidFill>
                  <a:srgbClr val="FFD34D"/>
                </a:solidFill>
                <a:latin typeface="Calibri" pitchFamily="34" charset="0"/>
                <a:ea typeface="Calibri" pitchFamily="34" charset="-122"/>
                <a:cs typeface="Calibri" pitchFamily="34" charset="-120"/>
              </a:rPr>
              <a:t>Evaluasi</a:t>
            </a:r>
            <a:endParaRPr lang="en-US" sz="1250" dirty="0"/>
          </a:p>
        </p:txBody>
      </p:sp>
      <p:sp>
        <p:nvSpPr>
          <p:cNvPr id="22" name="Text 18"/>
          <p:cNvSpPr/>
          <p:nvPr/>
        </p:nvSpPr>
        <p:spPr>
          <a:xfrm>
            <a:off x="7680960" y="4343400"/>
            <a:ext cx="3840480" cy="7772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Eksperimen noise &amp; speaker, user testing ≥5 + SUS</a:t>
            </a:r>
            <a:endParaRPr lang="en-US" sz="1250" dirty="0"/>
          </a:p>
        </p:txBody>
      </p:sp>
      <p:sp>
        <p:nvSpPr>
          <p:cNvPr id="23" name="Shape 19"/>
          <p:cNvSpPr/>
          <p:nvPr/>
        </p:nvSpPr>
        <p:spPr>
          <a:xfrm>
            <a:off x="6263640" y="5257800"/>
            <a:ext cx="5394960" cy="777240"/>
          </a:xfrm>
          <a:prstGeom prst="roundRect">
            <a:avLst>
              <a:gd name="adj" fmla="val 14118"/>
            </a:avLst>
          </a:prstGeom>
          <a:solidFill>
            <a:srgbClr val="1A0F2E">
              <a:alpha val="85000"/>
            </a:srgbClr>
          </a:solidFill>
          <a:ln w="12700">
            <a:solidFill>
              <a:srgbClr val="B79CFF"/>
            </a:solidFill>
            <a:prstDash val="solid"/>
          </a:ln>
        </p:spPr>
      </p:sp>
      <p:sp>
        <p:nvSpPr>
          <p:cNvPr id="24" name="Text 20"/>
          <p:cNvSpPr/>
          <p:nvPr/>
        </p:nvSpPr>
        <p:spPr>
          <a:xfrm>
            <a:off x="6446520" y="5257800"/>
            <a:ext cx="1234440" cy="777240"/>
          </a:xfrm>
          <a:prstGeom prst="rect">
            <a:avLst/>
          </a:prstGeom>
          <a:noFill/>
          <a:ln/>
        </p:spPr>
        <p:txBody>
          <a:bodyPr wrap="square" lIns="0" tIns="0" rIns="0" bIns="0" rtlCol="0" anchor="ctr"/>
          <a:lstStyle/>
          <a:p>
            <a:pPr indent="0" marL="0">
              <a:buNone/>
            </a:pPr>
            <a:r>
              <a:rPr lang="en-US" sz="1250" b="1" dirty="0">
                <a:solidFill>
                  <a:srgbClr val="FFD34D"/>
                </a:solidFill>
                <a:latin typeface="Calibri" pitchFamily="34" charset="0"/>
                <a:ea typeface="Calibri" pitchFamily="34" charset="-122"/>
                <a:cs typeface="Calibri" pitchFamily="34" charset="-120"/>
              </a:rPr>
              <a:t>Stretch</a:t>
            </a:r>
            <a:endParaRPr lang="en-US" sz="1250" dirty="0"/>
          </a:p>
        </p:txBody>
      </p:sp>
      <p:sp>
        <p:nvSpPr>
          <p:cNvPr id="25" name="Text 21"/>
          <p:cNvSpPr/>
          <p:nvPr/>
        </p:nvSpPr>
        <p:spPr>
          <a:xfrm>
            <a:off x="7680960" y="5257800"/>
            <a:ext cx="3840480" cy="7772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GOP / forced alignment, fine-tune NB05, int8</a:t>
            </a:r>
            <a:endParaRPr lang="en-US" sz="12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84048"/>
            <a:ext cx="1188720" cy="292608"/>
          </a:xfrm>
          <a:prstGeom prst="roundRect">
            <a:avLst>
              <a:gd name="adj" fmla="val 50000"/>
            </a:avLst>
          </a:prstGeom>
          <a:solidFill>
            <a:srgbClr val="4C3FB8"/>
          </a:solid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REFERENCES</a:t>
            </a:r>
            <a:endParaRPr lang="en-US" sz="1050" dirty="0"/>
          </a:p>
        </p:txBody>
      </p:sp>
      <p:sp>
        <p:nvSpPr>
          <p:cNvPr id="3" name="Text 1"/>
          <p:cNvSpPr/>
          <p:nvPr/>
        </p:nvSpPr>
        <p:spPr>
          <a:xfrm>
            <a:off x="548640" y="749808"/>
            <a:ext cx="11064240" cy="685800"/>
          </a:xfrm>
          <a:prstGeom prst="rect">
            <a:avLst/>
          </a:prstGeom>
          <a:noFill/>
          <a:ln/>
        </p:spPr>
        <p:txBody>
          <a:bodyPr wrap="square" lIns="0" tIns="0" rIns="0" bIns="0" rtlCol="0" anchor="ctr"/>
          <a:lstStyle/>
          <a:p>
            <a:pPr indent="0" marL="0">
              <a:buNone/>
            </a:pPr>
            <a:r>
              <a:rPr lang="en-US" sz="3000" b="1" dirty="0">
                <a:solidFill>
                  <a:srgbClr val="1E1A3C"/>
                </a:solidFill>
                <a:latin typeface="Georgia" pitchFamily="34" charset="0"/>
                <a:ea typeface="Georgia" pitchFamily="34" charset="-122"/>
                <a:cs typeface="Georgia" pitchFamily="34" charset="-120"/>
              </a:rPr>
              <a:t>References</a:t>
            </a:r>
            <a:endParaRPr lang="en-US" sz="3000" dirty="0"/>
          </a:p>
        </p:txBody>
      </p:sp>
      <p:sp>
        <p:nvSpPr>
          <p:cNvPr id="4" name="Text 2"/>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8C87AD"/>
                </a:solidFill>
                <a:latin typeface="Calibri" pitchFamily="34" charset="0"/>
                <a:ea typeface="Calibri" pitchFamily="34" charset="-122"/>
                <a:cs typeface="Calibri" pitchFamily="34" charset="-120"/>
              </a:rPr>
              <a:t>SpellSpeak · progress update</a:t>
            </a:r>
            <a:endParaRPr lang="en-US" sz="900" dirty="0"/>
          </a:p>
        </p:txBody>
      </p:sp>
      <p:sp>
        <p:nvSpPr>
          <p:cNvPr id="5" name="Text 3"/>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8C87AD"/>
                </a:solidFill>
                <a:latin typeface="Calibri" pitchFamily="34" charset="0"/>
                <a:ea typeface="Calibri" pitchFamily="34" charset="-122"/>
                <a:cs typeface="Calibri" pitchFamily="34" charset="-120"/>
              </a:rPr>
              <a:t>23</a:t>
            </a:r>
            <a:endParaRPr lang="en-US" sz="900" dirty="0"/>
          </a:p>
        </p:txBody>
      </p:sp>
      <p:sp>
        <p:nvSpPr>
          <p:cNvPr id="6" name="Text 4"/>
          <p:cNvSpPr/>
          <p:nvPr/>
        </p:nvSpPr>
        <p:spPr>
          <a:xfrm>
            <a:off x="548640" y="1645920"/>
            <a:ext cx="5440680" cy="4480560"/>
          </a:xfrm>
          <a:prstGeom prst="rect">
            <a:avLst/>
          </a:prstGeom>
          <a:noFill/>
          <a:ln/>
        </p:spPr>
        <p:txBody>
          <a:bodyPr wrap="square" lIns="0" tIns="0" rIns="0" bIns="0" rtlCol="0" anchor="t"/>
          <a:lstStyle/>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Baevski, A., Zhou, H., Mohamed, A., &amp; Auli, M. (2020). wav2vec 2.0: A framework for self-supervised learning of speech representations. NeurIPS.</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Xu, Q., Baevski, A., &amp; Auli, M. (2021). Simple and effective zero-shot cross-lingual phoneme recognition. arXiv:2109.11680.</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Graves, A., Fernández, S., Gomez, F., &amp; Schmidhuber, J. (2006). Connectionist temporal classification. ICML.</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Yao, Z., et al. (2024). Zipformer: A faster and better encoder for automatic speech recognition. ICLR.</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Witt, S. M., &amp; Young, S. J. (2000). Phone-level pronunciation scoring and assessment for interactive language learning. Speech Communication, 30(2–3).</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Bernard, M., &amp; Titeux, H. (2021). Phonemizer: Text to phones transcription for multiple languages in Python. JOSS, 6(68), 3958.</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Silero Team (2021). Silero VAD. github.com/snakers4/silero-vad · k2-fsa. sherpa-onnx. github.com/k2-fsa/sherpa-onnx · Alpha Cephei. Vosk.</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Zhao, G., et al. (2018). L2-ARCTIC: A non-native English speech corpus. Interspeech.</a:t>
            </a:r>
            <a:endParaRPr lang="en-US" sz="1050" dirty="0"/>
          </a:p>
        </p:txBody>
      </p:sp>
      <p:sp>
        <p:nvSpPr>
          <p:cNvPr id="7" name="Text 5"/>
          <p:cNvSpPr/>
          <p:nvPr/>
        </p:nvSpPr>
        <p:spPr>
          <a:xfrm>
            <a:off x="6217920" y="1645920"/>
            <a:ext cx="5440680" cy="4480560"/>
          </a:xfrm>
          <a:prstGeom prst="rect">
            <a:avLst/>
          </a:prstGeom>
          <a:noFill/>
          <a:ln/>
        </p:spPr>
        <p:txBody>
          <a:bodyPr wrap="square" lIns="0" tIns="0" rIns="0" bIns="0" rtlCol="0" anchor="t"/>
          <a:lstStyle/>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Zhang, J., et al. (2021). speechocean762: An open-source non-native English speech corpus for pronunciation assessment. Interspeech.</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Sanabria, R., et al. (2023). The Edinburgh International Accents of English Corpus. ICASSP.</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Warden, P. (2018). Speech Commands: A dataset for limited-vocabulary speech recognition. arXiv:1804.03209.</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Snyder, D., Chen, G., &amp; Povey, D. (2015). MUSAN: A music, speech, and noise corpus. arXiv:1510.08484.</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Thiemann, J., Ito, N., &amp; Vincent, E. (2013). DEMAND: Diverse environments multichannel acoustic noise database. Proc. Meetings on Acoustics, 19.</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Panayotov, V., Chen, G., Povey, D., &amp; Khudanpur, S. (2015). LibriSpeech: An ASR corpus based on public domain audio books. ICASSP.</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Weinberger, S. Speech Accent Archive. George Mason University. accent.gmu.edu</a:t>
            </a:r>
            <a:endParaRPr lang="en-US" sz="1050" dirty="0"/>
          </a:p>
          <a:p>
            <a:pPr indent="0" marL="0">
              <a:spcAft>
                <a:spcPts val="700"/>
              </a:spcAft>
              <a:buNone/>
            </a:pPr>
            <a:r>
              <a:rPr lang="en-US" sz="1050" dirty="0">
                <a:solidFill>
                  <a:srgbClr val="1E1A3C"/>
                </a:solidFill>
                <a:latin typeface="Calibri" pitchFamily="34" charset="0"/>
                <a:ea typeface="Calibri" pitchFamily="34" charset="-122"/>
                <a:cs typeface="Calibri" pitchFamily="34" charset="-120"/>
              </a:rPr>
              <a:t>Brooke, J. (1996). SUS: A “quick and dirty” usability scale. In Usability Evaluation in Industry.</a:t>
            </a:r>
            <a:endParaRPr lang="en-US" sz="1050" dirty="0"/>
          </a:p>
        </p:txBody>
      </p:sp>
      <p:pic>
        <p:nvPicPr>
          <p:cNvPr id="8" name="Image 0" descr="preencoded.png">    </p:cNvPr>
          <p:cNvPicPr>
            <a:picLocks noChangeAspect="1"/>
          </p:cNvPicPr>
          <p:nvPr/>
        </p:nvPicPr>
        <p:blipFill>
          <a:blip r:embed="rId2"/>
          <a:stretch>
            <a:fillRect/>
          </a:stretch>
        </p:blipFill>
        <p:spPr>
          <a:xfrm>
            <a:off x="548640" y="5989320"/>
            <a:ext cx="274320" cy="274320"/>
          </a:xfrm>
          <a:prstGeom prst="rect">
            <a:avLst/>
          </a:prstGeom>
        </p:spPr>
      </p:pic>
      <p:sp>
        <p:nvSpPr>
          <p:cNvPr id="9" name="Text 6">
            <a:hlinkClick r:id="rId3" tooltip=""/>
          </p:cNvPr>
          <p:cNvSpPr/>
          <p:nvPr/>
        </p:nvSpPr>
        <p:spPr>
          <a:xfrm>
            <a:off x="914400" y="5989320"/>
            <a:ext cx="5486400" cy="274320"/>
          </a:xfrm>
          <a:prstGeom prst="rect">
            <a:avLst/>
          </a:prstGeom>
          <a:noFill/>
          <a:ln/>
        </p:spPr>
        <p:txBody>
          <a:bodyPr wrap="square" lIns="0" tIns="0" rIns="0" bIns="0" rtlCol="0" anchor="ctr"/>
          <a:lstStyle/>
          <a:p>
            <a:pPr indent="0" marL="0">
              <a:buNone/>
            </a:pPr>
            <a:r>
              <a:rPr lang="en-US" sz="1200" b="1" u="sng" dirty="0">
                <a:solidFill>
                  <a:srgbClr val="4C3FB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Kode &amp; dokumentasi: github.com/ddrlve/SpellSpeak</a:t>
            </a:r>
            <a:endParaRPr lang="en-US" sz="12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377440" y="548640"/>
            <a:ext cx="7452360" cy="2743200"/>
          </a:xfrm>
          <a:prstGeom prst="roundRect">
            <a:avLst>
              <a:gd name="adj" fmla="val 6667"/>
            </a:avLst>
          </a:prstGeom>
          <a:solidFill>
            <a:srgbClr val="FFFFFF">
              <a:alpha val="75000"/>
            </a:srgbClr>
          </a:solidFill>
          <a:ln w="12700">
            <a:solidFill>
              <a:srgbClr val="FFFFFF">
                <a:alpha val="40000"/>
              </a:srgbClr>
            </a:solidFill>
            <a:prstDash val="solid"/>
          </a:ln>
        </p:spPr>
      </p:sp>
      <p:pic>
        <p:nvPicPr>
          <p:cNvPr id="3" name="Image 0" descr="C:\Users\dianr\AppData\Local\Temp\claude\c--SEM-5-SpellSpeak\eda6ec89-068e-4069-9b28-72e31b9a7f93\scratchpad\deck\art\px_questions.png">    </p:cNvPr>
          <p:cNvPicPr>
            <a:picLocks noChangeAspect="1"/>
          </p:cNvPicPr>
          <p:nvPr/>
        </p:nvPicPr>
        <p:blipFill>
          <a:blip r:embed="rId2"/>
          <a:stretch>
            <a:fillRect/>
          </a:stretch>
        </p:blipFill>
        <p:spPr>
          <a:xfrm>
            <a:off x="3246120" y="822960"/>
            <a:ext cx="4800600" cy="960120"/>
          </a:xfrm>
          <a:prstGeom prst="rect">
            <a:avLst/>
          </a:prstGeom>
        </p:spPr>
      </p:pic>
      <p:sp>
        <p:nvSpPr>
          <p:cNvPr id="4" name="Text 1"/>
          <p:cNvSpPr/>
          <p:nvPr/>
        </p:nvSpPr>
        <p:spPr>
          <a:xfrm>
            <a:off x="1371600" y="2011680"/>
            <a:ext cx="9418320" cy="731520"/>
          </a:xfrm>
          <a:prstGeom prst="rect">
            <a:avLst/>
          </a:prstGeom>
          <a:noFill/>
          <a:ln/>
        </p:spPr>
        <p:txBody>
          <a:bodyPr wrap="square" lIns="0" tIns="0" rIns="0" bIns="0" rtlCol="0" anchor="ctr"/>
          <a:lstStyle/>
          <a:p>
            <a:pPr algn="ctr" indent="0" marL="0">
              <a:buNone/>
            </a:pPr>
            <a:r>
              <a:rPr lang="en-US" sz="3600" b="1" dirty="0">
                <a:solidFill>
                  <a:srgbClr val="15402B"/>
                </a:solidFill>
                <a:latin typeface="Georgia" pitchFamily="34" charset="0"/>
                <a:ea typeface="Georgia" pitchFamily="34" charset="-122"/>
                <a:cs typeface="Georgia" pitchFamily="34" charset="-120"/>
              </a:rPr>
              <a:t>Terima kasih!</a:t>
            </a:r>
            <a:endParaRPr lang="en-US" sz="3600" dirty="0"/>
          </a:p>
        </p:txBody>
      </p:sp>
      <p:sp>
        <p:nvSpPr>
          <p:cNvPr id="5" name="Text 2"/>
          <p:cNvSpPr/>
          <p:nvPr/>
        </p:nvSpPr>
        <p:spPr>
          <a:xfrm>
            <a:off x="1371600" y="2697480"/>
            <a:ext cx="9418320" cy="411480"/>
          </a:xfrm>
          <a:prstGeom prst="rect">
            <a:avLst/>
          </a:prstGeom>
          <a:noFill/>
          <a:ln/>
        </p:spPr>
        <p:txBody>
          <a:bodyPr wrap="square" lIns="0" tIns="0" rIns="0" bIns="0" rtlCol="0" anchor="ctr"/>
          <a:lstStyle/>
          <a:p>
            <a:pPr algn="ctr" indent="0" marL="0">
              <a:buNone/>
            </a:pPr>
            <a:r>
              <a:rPr lang="en-US" sz="1600" dirty="0">
                <a:solidFill>
                  <a:srgbClr val="1D5A3E"/>
                </a:solidFill>
                <a:latin typeface="Calibri" pitchFamily="34" charset="0"/>
                <a:ea typeface="Calibri" pitchFamily="34" charset="-122"/>
                <a:cs typeface="Calibri" pitchFamily="34" charset="-120"/>
              </a:rPr>
              <a:t>Ada masukan buat game, data, atau evaluasinya? Kami dengerin.</a:t>
            </a:r>
            <a:endParaRPr lang="en-US" sz="1600" dirty="0"/>
          </a:p>
        </p:txBody>
      </p:sp>
      <p:pic>
        <p:nvPicPr>
          <p:cNvPr id="6" name="Image 1" descr="C:\Users\dianr\AppData\Local\Temp\claude\c--SEM-5-SpellSpeak\eda6ec89-068e-4069-9b28-72e31b9a7f93\scratchpad\deck\art\cat_cast.png">    </p:cNvPr>
          <p:cNvPicPr>
            <a:picLocks noChangeAspect="1"/>
          </p:cNvPicPr>
          <p:nvPr/>
        </p:nvPicPr>
        <p:blipFill>
          <a:blip r:embed="rId3"/>
          <a:stretch>
            <a:fillRect/>
          </a:stretch>
        </p:blipFill>
        <p:spPr>
          <a:xfrm>
            <a:off x="4892040" y="3337560"/>
            <a:ext cx="2468880" cy="2468880"/>
          </a:xfrm>
          <a:prstGeom prst="rect">
            <a:avLst/>
          </a:prstGeom>
        </p:spPr>
      </p:pic>
      <p:pic>
        <p:nvPicPr>
          <p:cNvPr id="7" name="Image 2" descr="C:\Users\dianr\AppData\Local\Temp\claude\c--SEM-5-SpellSpeak\eda6ec89-068e-4069-9b28-72e31b9a7f93\scratchpad\deck\art\soul_pink.png">    </p:cNvPr>
          <p:cNvPicPr>
            <a:picLocks noChangeAspect="1"/>
          </p:cNvPicPr>
          <p:nvPr/>
        </p:nvPicPr>
        <p:blipFill>
          <a:blip r:embed="rId4"/>
          <a:stretch>
            <a:fillRect/>
          </a:stretch>
        </p:blipFill>
        <p:spPr>
          <a:xfrm>
            <a:off x="3840480" y="3840480"/>
            <a:ext cx="914400" cy="1005840"/>
          </a:xfrm>
          <a:prstGeom prst="rect">
            <a:avLst/>
          </a:prstGeom>
        </p:spPr>
      </p:pic>
      <p:pic>
        <p:nvPicPr>
          <p:cNvPr id="8" name="Image 3" descr="C:\Users\dianr\AppData\Local\Temp\claude\c--SEM-5-SpellSpeak\eda6ec89-068e-4069-9b28-72e31b9a7f93\scratchpad\deck\art\soul_gold.png">    </p:cNvPr>
          <p:cNvPicPr>
            <a:picLocks noChangeAspect="1"/>
          </p:cNvPicPr>
          <p:nvPr/>
        </p:nvPicPr>
        <p:blipFill>
          <a:blip r:embed="rId5"/>
          <a:stretch>
            <a:fillRect/>
          </a:stretch>
        </p:blipFill>
        <p:spPr>
          <a:xfrm>
            <a:off x="7452360" y="3840480"/>
            <a:ext cx="914400" cy="1005840"/>
          </a:xfrm>
          <a:prstGeom prst="rect">
            <a:avLst/>
          </a:prstGeom>
        </p:spPr>
      </p:pic>
      <p:sp>
        <p:nvSpPr>
          <p:cNvPr id="9" name="Shape 3"/>
          <p:cNvSpPr/>
          <p:nvPr/>
        </p:nvSpPr>
        <p:spPr>
          <a:xfrm>
            <a:off x="4023360" y="5897880"/>
            <a:ext cx="4160520" cy="411480"/>
          </a:xfrm>
          <a:prstGeom prst="roundRect">
            <a:avLst>
              <a:gd name="adj" fmla="val 48889"/>
            </a:avLst>
          </a:prstGeom>
          <a:solidFill>
            <a:srgbClr val="15402B"/>
          </a:solidFill>
          <a:ln w="12700">
            <a:solidFill>
              <a:srgbClr val="15402B"/>
            </a:solidFill>
            <a:prstDash val="solid"/>
          </a:ln>
        </p:spPr>
      </p:sp>
      <p:pic>
        <p:nvPicPr>
          <p:cNvPr id="10" name="Image 4" descr="preencoded.png">    </p:cNvPr>
          <p:cNvPicPr>
            <a:picLocks noChangeAspect="1"/>
          </p:cNvPicPr>
          <p:nvPr/>
        </p:nvPicPr>
        <p:blipFill>
          <a:blip r:embed="rId6"/>
          <a:stretch>
            <a:fillRect/>
          </a:stretch>
        </p:blipFill>
        <p:spPr>
          <a:xfrm>
            <a:off x="4206240" y="5961888"/>
            <a:ext cx="274320" cy="274320"/>
          </a:xfrm>
          <a:prstGeom prst="rect">
            <a:avLst/>
          </a:prstGeom>
        </p:spPr>
      </p:pic>
      <p:sp>
        <p:nvSpPr>
          <p:cNvPr id="11" name="Text 4">
            <a:hlinkClick r:id="rId7" tooltip=""/>
          </p:cNvPr>
          <p:cNvSpPr/>
          <p:nvPr/>
        </p:nvSpPr>
        <p:spPr>
          <a:xfrm>
            <a:off x="4572000" y="5897880"/>
            <a:ext cx="3520440" cy="411480"/>
          </a:xfrm>
          <a:prstGeom prst="rect">
            <a:avLst/>
          </a:prstGeom>
          <a:noFill/>
          <a:ln/>
        </p:spPr>
        <p:txBody>
          <a:bodyPr wrap="square" lIns="0" tIns="0" rIns="0" bIns="0" rtlCol="0" anchor="ctr"/>
          <a:lstStyle/>
          <a:p>
            <a:pPr indent="0" marL="0">
              <a:buNone/>
            </a:pPr>
            <a:r>
              <a:rPr lang="en-US" sz="1400" b="1" u="sng" dirty="0">
                <a:solidFill>
                  <a:srgbClr val="FFFFFF"/>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github.com/ddrlve/SpellSpeak</a:t>
            </a:r>
            <a:endParaRPr lang="en-US" sz="1400" dirty="0"/>
          </a:p>
        </p:txBody>
      </p:sp>
      <p:sp>
        <p:nvSpPr>
          <p:cNvPr id="12" name="Text 5"/>
          <p:cNvSpPr/>
          <p:nvPr/>
        </p:nvSpPr>
        <p:spPr>
          <a:xfrm>
            <a:off x="548640" y="6419088"/>
            <a:ext cx="3657600" cy="274320"/>
          </a:xfrm>
          <a:prstGeom prst="rect">
            <a:avLst/>
          </a:prstGeom>
          <a:noFill/>
          <a:ln/>
        </p:spPr>
        <p:txBody>
          <a:bodyPr wrap="square" lIns="0" tIns="0" rIns="0" bIns="0" rtlCol="0" anchor="ctr"/>
          <a:lstStyle/>
          <a:p>
            <a:pPr indent="0" marL="0">
              <a:buNone/>
            </a:pPr>
            <a:r>
              <a:rPr lang="en-US" sz="900" dirty="0">
                <a:solidFill>
                  <a:srgbClr val="CFC8F5"/>
                </a:solidFill>
                <a:latin typeface="Calibri" pitchFamily="34" charset="0"/>
                <a:ea typeface="Calibri" pitchFamily="34" charset="-122"/>
                <a:cs typeface="Calibri" pitchFamily="34" charset="-120"/>
              </a:rPr>
              <a:t>SpellSpeak · progress update</a:t>
            </a:r>
            <a:endParaRPr lang="en-US" sz="900" dirty="0"/>
          </a:p>
        </p:txBody>
      </p:sp>
      <p:sp>
        <p:nvSpPr>
          <p:cNvPr id="13" name="Text 6"/>
          <p:cNvSpPr/>
          <p:nvPr/>
        </p:nvSpPr>
        <p:spPr>
          <a:xfrm>
            <a:off x="11185855" y="6419088"/>
            <a:ext cx="457200" cy="274320"/>
          </a:xfrm>
          <a:prstGeom prst="rect">
            <a:avLst/>
          </a:prstGeom>
          <a:noFill/>
          <a:ln/>
        </p:spPr>
        <p:txBody>
          <a:bodyPr wrap="square" lIns="0" tIns="0" rIns="0" bIns="0" rtlCol="0" anchor="ctr"/>
          <a:lstStyle/>
          <a:p>
            <a:pPr algn="r" indent="0" marL="0">
              <a:buNone/>
            </a:pPr>
            <a:r>
              <a:rPr lang="en-US" sz="900" dirty="0">
                <a:solidFill>
                  <a:srgbClr val="CFC8F5"/>
                </a:solidFill>
                <a:latin typeface="Calibri" pitchFamily="34" charset="0"/>
                <a:ea typeface="Calibri" pitchFamily="34" charset="-122"/>
                <a:cs typeface="Calibri" pitchFamily="34" charset="-120"/>
              </a:rPr>
              <a:t>24</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SpellSpeak - Progress Update</dc:title>
  <dc:subject>PptxGenJS Presentation</dc:subject>
  <dc:creator>SpellSpeak team</dc:creator>
  <cp:lastModifiedBy>SpellSpeak team</cp:lastModifiedBy>
  <cp:revision>1</cp:revision>
  <dcterms:created xsi:type="dcterms:W3CDTF">2026-10-12T05:47:23Z</dcterms:created>
  <dcterms:modified xsi:type="dcterms:W3CDTF">2026-10-12T05:47:23Z</dcterms:modified>
</cp:coreProperties>
</file>